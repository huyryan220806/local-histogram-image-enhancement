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Montserrat Bold" charset="1" panose="00000800000000000000"/>
      <p:regular r:id="rId20"/>
    </p:embeddedFont>
    <p:embeddedFont>
      <p:font typeface="Cristik" charset="1" panose="02000503000000000000"/>
      <p:regular r:id="rId21"/>
    </p:embeddedFont>
    <p:embeddedFont>
      <p:font typeface="Montserrat" charset="1" panose="0000050000000000000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18" Target="../media/image17.png" Type="http://schemas.openxmlformats.org/officeDocument/2006/relationships/image"/><Relationship Id="rId19" Target="../media/image18.svg" Type="http://schemas.openxmlformats.org/officeDocument/2006/relationships/image"/><Relationship Id="rId2" Target="../media/image1.png" Type="http://schemas.openxmlformats.org/officeDocument/2006/relationships/image"/><Relationship Id="rId20" Target="../media/image19.png" Type="http://schemas.openxmlformats.org/officeDocument/2006/relationships/image"/><Relationship Id="rId21" Target="../media/image20.png" Type="http://schemas.openxmlformats.org/officeDocument/2006/relationships/image"/><Relationship Id="rId22" Target="../media/image21.png" Type="http://schemas.openxmlformats.org/officeDocument/2006/relationships/image"/><Relationship Id="rId23" Target="../media/image22.sv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.png" Type="http://schemas.openxmlformats.org/officeDocument/2006/relationships/image"/><Relationship Id="rId11" Target="../media/image6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.png" Type="http://schemas.openxmlformats.org/officeDocument/2006/relationships/image"/><Relationship Id="rId15" Target="../media/image2.svg" Type="http://schemas.openxmlformats.org/officeDocument/2006/relationships/image"/><Relationship Id="rId16" Target="../media/image23.jpeg" Type="http://schemas.openxmlformats.org/officeDocument/2006/relationships/image"/><Relationship Id="rId17" Target="../media/image24.jpeg" Type="http://schemas.openxmlformats.org/officeDocument/2006/relationships/image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7.jpeg" Type="http://schemas.openxmlformats.org/officeDocument/2006/relationships/image"/><Relationship Id="rId11" Target="../media/image9.png" Type="http://schemas.openxmlformats.org/officeDocument/2006/relationships/image"/><Relationship Id="rId12" Target="../media/image10.svg" Type="http://schemas.openxmlformats.org/officeDocument/2006/relationships/image"/><Relationship Id="rId13" Target="../media/image5.png" Type="http://schemas.openxmlformats.org/officeDocument/2006/relationships/image"/><Relationship Id="rId14" Target="../media/image6.svg" Type="http://schemas.openxmlformats.org/officeDocument/2006/relationships/image"/><Relationship Id="rId15" Target="../media/image28.png" Type="http://schemas.openxmlformats.org/officeDocument/2006/relationships/image"/><Relationship Id="rId16" Target="../media/image29.svg" Type="http://schemas.openxmlformats.org/officeDocument/2006/relationships/image"/><Relationship Id="rId17" Target="../media/image1.png" Type="http://schemas.openxmlformats.org/officeDocument/2006/relationships/image"/><Relationship Id="rId18" Target="../media/image2.svg" Type="http://schemas.openxmlformats.org/officeDocument/2006/relationships/image"/><Relationship Id="rId19" Target="../media/image17.png" Type="http://schemas.openxmlformats.org/officeDocument/2006/relationships/image"/><Relationship Id="rId2" Target="../media/image3.png" Type="http://schemas.openxmlformats.org/officeDocument/2006/relationships/image"/><Relationship Id="rId20" Target="../media/image18.svg" Type="http://schemas.openxmlformats.org/officeDocument/2006/relationships/image"/><Relationship Id="rId3" Target="../media/image4.svg" Type="http://schemas.openxmlformats.org/officeDocument/2006/relationships/image"/><Relationship Id="rId4" Target="../media/image25.jpeg" Type="http://schemas.openxmlformats.org/officeDocument/2006/relationships/image"/><Relationship Id="rId5" Target="../media/image26.jpe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2.png" Type="http://schemas.openxmlformats.org/officeDocument/2006/relationships/image"/><Relationship Id="rId11" Target="../media/image33.svg" Type="http://schemas.openxmlformats.org/officeDocument/2006/relationships/image"/><Relationship Id="rId12" Target="../media/image34.png" Type="http://schemas.openxmlformats.org/officeDocument/2006/relationships/image"/><Relationship Id="rId13" Target="../media/image35.svg" Type="http://schemas.openxmlformats.org/officeDocument/2006/relationships/image"/><Relationship Id="rId14" Target="../media/image36.png" Type="http://schemas.openxmlformats.org/officeDocument/2006/relationships/image"/><Relationship Id="rId15" Target="../media/image37.svg" Type="http://schemas.openxmlformats.org/officeDocument/2006/relationships/image"/><Relationship Id="rId16" Target="../media/image38.png" Type="http://schemas.openxmlformats.org/officeDocument/2006/relationships/image"/><Relationship Id="rId17" Target="../media/image39.svg" Type="http://schemas.openxmlformats.org/officeDocument/2006/relationships/image"/><Relationship Id="rId18" Target="../media/image11.png" Type="http://schemas.openxmlformats.org/officeDocument/2006/relationships/image"/><Relationship Id="rId19" Target="../media/image12.svg" Type="http://schemas.openxmlformats.org/officeDocument/2006/relationships/image"/><Relationship Id="rId2" Target="../media/image30.png" Type="http://schemas.openxmlformats.org/officeDocument/2006/relationships/image"/><Relationship Id="rId20" Target="../media/image1.png" Type="http://schemas.openxmlformats.org/officeDocument/2006/relationships/image"/><Relationship Id="rId21" Target="../media/image2.svg" Type="http://schemas.openxmlformats.org/officeDocument/2006/relationships/image"/><Relationship Id="rId22" Target="../media/image17.png" Type="http://schemas.openxmlformats.org/officeDocument/2006/relationships/image"/><Relationship Id="rId23" Target="../media/image18.svg" Type="http://schemas.openxmlformats.org/officeDocument/2006/relationships/image"/><Relationship Id="rId24" Target="../media/image40.png" Type="http://schemas.openxmlformats.org/officeDocument/2006/relationships/image"/><Relationship Id="rId3" Target="../media/image31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12" Target="../media/image1.png" Type="http://schemas.openxmlformats.org/officeDocument/2006/relationships/image"/><Relationship Id="rId13" Target="../media/image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7.png" Type="http://schemas.openxmlformats.org/officeDocument/2006/relationships/image"/><Relationship Id="rId17" Target="../media/image18.svg" Type="http://schemas.openxmlformats.org/officeDocument/2006/relationships/image"/><Relationship Id="rId18" Target="../media/image41.png" Type="http://schemas.openxmlformats.org/officeDocument/2006/relationships/image"/><Relationship Id="rId19" Target="../media/image42.png" Type="http://schemas.openxmlformats.org/officeDocument/2006/relationships/image"/><Relationship Id="rId2" Target="../media/image30.png" Type="http://schemas.openxmlformats.org/officeDocument/2006/relationships/image"/><Relationship Id="rId20" Target="../media/image43.png" Type="http://schemas.openxmlformats.org/officeDocument/2006/relationships/image"/><Relationship Id="rId21" Target="../media/image44.png" Type="http://schemas.openxmlformats.org/officeDocument/2006/relationships/image"/><Relationship Id="rId22" Target="../media/image45.png" Type="http://schemas.openxmlformats.org/officeDocument/2006/relationships/image"/><Relationship Id="rId23" Target="../media/image46.png" Type="http://schemas.openxmlformats.org/officeDocument/2006/relationships/image"/><Relationship Id="rId3" Target="../media/image31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12" Target="../media/image1.png" Type="http://schemas.openxmlformats.org/officeDocument/2006/relationships/image"/><Relationship Id="rId13" Target="../media/image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7.png" Type="http://schemas.openxmlformats.org/officeDocument/2006/relationships/image"/><Relationship Id="rId17" Target="../media/image18.svg" Type="http://schemas.openxmlformats.org/officeDocument/2006/relationships/image"/><Relationship Id="rId2" Target="../media/image30.png" Type="http://schemas.openxmlformats.org/officeDocument/2006/relationships/image"/><Relationship Id="rId3" Target="../media/image31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12" Target="../media/image1.png" Type="http://schemas.openxmlformats.org/officeDocument/2006/relationships/image"/><Relationship Id="rId13" Target="../media/image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7.png" Type="http://schemas.openxmlformats.org/officeDocument/2006/relationships/image"/><Relationship Id="rId17" Target="../media/image18.svg" Type="http://schemas.openxmlformats.org/officeDocument/2006/relationships/image"/><Relationship Id="rId2" Target="../media/image30.png" Type="http://schemas.openxmlformats.org/officeDocument/2006/relationships/image"/><Relationship Id="rId3" Target="../media/image31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png" Type="http://schemas.openxmlformats.org/officeDocument/2006/relationships/image"/><Relationship Id="rId11" Target="../media/image8.svg" Type="http://schemas.openxmlformats.org/officeDocument/2006/relationships/image"/><Relationship Id="rId12" Target="../media/image9.png" Type="http://schemas.openxmlformats.org/officeDocument/2006/relationships/image"/><Relationship Id="rId13" Target="../media/image10.svg" Type="http://schemas.openxmlformats.org/officeDocument/2006/relationships/image"/><Relationship Id="rId14" Target="../media/image47.png" Type="http://schemas.openxmlformats.org/officeDocument/2006/relationships/image"/><Relationship Id="rId15" Target="../media/image11.png" Type="http://schemas.openxmlformats.org/officeDocument/2006/relationships/image"/><Relationship Id="rId16" Target="../media/image12.svg" Type="http://schemas.openxmlformats.org/officeDocument/2006/relationships/image"/><Relationship Id="rId17" Target="../media/image17.png" Type="http://schemas.openxmlformats.org/officeDocument/2006/relationships/image"/><Relationship Id="rId18" Target="../media/image18.sv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.png" Type="http://schemas.openxmlformats.org/officeDocument/2006/relationships/image"/><Relationship Id="rId11" Target="../media/image2.svg" Type="http://schemas.openxmlformats.org/officeDocument/2006/relationships/image"/><Relationship Id="rId12" Target="../media/image48.png" Type="http://schemas.openxmlformats.org/officeDocument/2006/relationships/image"/><Relationship Id="rId13" Target="../media/image7.png" Type="http://schemas.openxmlformats.org/officeDocument/2006/relationships/image"/><Relationship Id="rId14" Target="../media/image8.svg" Type="http://schemas.openxmlformats.org/officeDocument/2006/relationships/image"/><Relationship Id="rId15" Target="../media/image17.png" Type="http://schemas.openxmlformats.org/officeDocument/2006/relationships/image"/><Relationship Id="rId16" Target="../media/image18.svg" Type="http://schemas.openxmlformats.org/officeDocument/2006/relationships/image"/><Relationship Id="rId17" Target="../media/image32.png" Type="http://schemas.openxmlformats.org/officeDocument/2006/relationships/image"/><Relationship Id="rId18" Target="../media/image33.svg" Type="http://schemas.openxmlformats.org/officeDocument/2006/relationships/image"/><Relationship Id="rId19" Target="../media/image34.png" Type="http://schemas.openxmlformats.org/officeDocument/2006/relationships/image"/><Relationship Id="rId2" Target="../media/image3.png" Type="http://schemas.openxmlformats.org/officeDocument/2006/relationships/image"/><Relationship Id="rId20" Target="../media/image35.svg" Type="http://schemas.openxmlformats.org/officeDocument/2006/relationships/image"/><Relationship Id="rId21" Target="../media/image36.png" Type="http://schemas.openxmlformats.org/officeDocument/2006/relationships/image"/><Relationship Id="rId22" Target="../media/image37.svg" Type="http://schemas.openxmlformats.org/officeDocument/2006/relationships/image"/><Relationship Id="rId23" Target="../media/image38.png" Type="http://schemas.openxmlformats.org/officeDocument/2006/relationships/image"/><Relationship Id="rId24" Target="../media/image39.svg" Type="http://schemas.openxmlformats.org/officeDocument/2006/relationships/image"/><Relationship Id="rId3" Target="../media/image4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.png" Type="http://schemas.openxmlformats.org/officeDocument/2006/relationships/image"/><Relationship Id="rId11" Target="../media/image2.svg" Type="http://schemas.openxmlformats.org/officeDocument/2006/relationships/image"/><Relationship Id="rId12" Target="../media/image48.png" Type="http://schemas.openxmlformats.org/officeDocument/2006/relationships/image"/><Relationship Id="rId13" Target="../media/image7.png" Type="http://schemas.openxmlformats.org/officeDocument/2006/relationships/image"/><Relationship Id="rId14" Target="../media/image8.svg" Type="http://schemas.openxmlformats.org/officeDocument/2006/relationships/image"/><Relationship Id="rId15" Target="../media/image17.png" Type="http://schemas.openxmlformats.org/officeDocument/2006/relationships/image"/><Relationship Id="rId16" Target="../media/image18.svg" Type="http://schemas.openxmlformats.org/officeDocument/2006/relationships/image"/><Relationship Id="rId17" Target="../media/image49.pn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.png" Type="http://schemas.openxmlformats.org/officeDocument/2006/relationships/image"/><Relationship Id="rId11" Target="../media/image2.svg" Type="http://schemas.openxmlformats.org/officeDocument/2006/relationships/image"/><Relationship Id="rId12" Target="../media/image48.png" Type="http://schemas.openxmlformats.org/officeDocument/2006/relationships/image"/><Relationship Id="rId13" Target="../media/image7.png" Type="http://schemas.openxmlformats.org/officeDocument/2006/relationships/image"/><Relationship Id="rId14" Target="../media/image8.svg" Type="http://schemas.openxmlformats.org/officeDocument/2006/relationships/image"/><Relationship Id="rId15" Target="../media/image17.png" Type="http://schemas.openxmlformats.org/officeDocument/2006/relationships/image"/><Relationship Id="rId16" Target="../media/image18.svg" Type="http://schemas.openxmlformats.org/officeDocument/2006/relationships/image"/><Relationship Id="rId17" Target="../media/image50.pn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12" Target="../media/image1.png" Type="http://schemas.openxmlformats.org/officeDocument/2006/relationships/image"/><Relationship Id="rId13" Target="../media/image2.svg" Type="http://schemas.openxmlformats.org/officeDocument/2006/relationships/image"/><Relationship Id="rId14" Target="../media/image7.png" Type="http://schemas.openxmlformats.org/officeDocument/2006/relationships/image"/><Relationship Id="rId15" Target="../media/image8.sv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51.png" Type="http://schemas.openxmlformats.org/officeDocument/2006/relationships/image"/><Relationship Id="rId9" Target="../media/image52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12" Target="../media/image51.png" Type="http://schemas.openxmlformats.org/officeDocument/2006/relationships/image"/><Relationship Id="rId13" Target="../media/image52.svg" Type="http://schemas.openxmlformats.org/officeDocument/2006/relationships/image"/><Relationship Id="rId14" Target="../media/image1.png" Type="http://schemas.openxmlformats.org/officeDocument/2006/relationships/image"/><Relationship Id="rId15" Target="../media/image2.svg" Type="http://schemas.openxmlformats.org/officeDocument/2006/relationships/image"/><Relationship Id="rId16" Target="../media/image53.pn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6.svg" Type="http://schemas.openxmlformats.org/officeDocument/2006/relationships/image"/><Relationship Id="rId11" Target="../media/image57.png" Type="http://schemas.openxmlformats.org/officeDocument/2006/relationships/image"/><Relationship Id="rId12" Target="../media/image58.svg" Type="http://schemas.openxmlformats.org/officeDocument/2006/relationships/image"/><Relationship Id="rId13" Target="../media/image5.png" Type="http://schemas.openxmlformats.org/officeDocument/2006/relationships/image"/><Relationship Id="rId14" Target="../media/image6.svg" Type="http://schemas.openxmlformats.org/officeDocument/2006/relationships/image"/><Relationship Id="rId15" Target="../media/image11.png" Type="http://schemas.openxmlformats.org/officeDocument/2006/relationships/image"/><Relationship Id="rId16" Target="../media/image12.svg" Type="http://schemas.openxmlformats.org/officeDocument/2006/relationships/image"/><Relationship Id="rId17" Target="../media/image59.png" Type="http://schemas.openxmlformats.org/officeDocument/2006/relationships/image"/><Relationship Id="rId18" Target="../media/image21.png" Type="http://schemas.openxmlformats.org/officeDocument/2006/relationships/image"/><Relationship Id="rId19" Target="../media/image22.svg" Type="http://schemas.openxmlformats.org/officeDocument/2006/relationships/image"/><Relationship Id="rId2" Target="../media/image1.png" Type="http://schemas.openxmlformats.org/officeDocument/2006/relationships/image"/><Relationship Id="rId20" Target="../media/image20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4.pn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Relationship Id="rId9" Target="../media/image5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2388C">
                <a:alpha val="100000"/>
              </a:srgbClr>
            </a:gs>
            <a:gs pos="100000">
              <a:srgbClr val="3893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09814" y="167020"/>
            <a:ext cx="2323166" cy="9952960"/>
            <a:chOff x="0" y="0"/>
            <a:chExt cx="611863" cy="262135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11863" cy="2621356"/>
            </a:xfrm>
            <a:custGeom>
              <a:avLst/>
              <a:gdLst/>
              <a:ahLst/>
              <a:cxnLst/>
              <a:rect r="r" b="b" t="t" l="l"/>
              <a:pathLst>
                <a:path h="2621356" w="611863">
                  <a:moveTo>
                    <a:pt x="166624" y="0"/>
                  </a:moveTo>
                  <a:lnTo>
                    <a:pt x="445238" y="0"/>
                  </a:lnTo>
                  <a:cubicBezTo>
                    <a:pt x="537262" y="0"/>
                    <a:pt x="611863" y="74600"/>
                    <a:pt x="611863" y="166624"/>
                  </a:cubicBezTo>
                  <a:lnTo>
                    <a:pt x="611863" y="2454731"/>
                  </a:lnTo>
                  <a:cubicBezTo>
                    <a:pt x="611863" y="2546755"/>
                    <a:pt x="537262" y="2621356"/>
                    <a:pt x="445238" y="2621356"/>
                  </a:cubicBezTo>
                  <a:lnTo>
                    <a:pt x="166624" y="2621356"/>
                  </a:lnTo>
                  <a:cubicBezTo>
                    <a:pt x="74600" y="2621356"/>
                    <a:pt x="0" y="2546755"/>
                    <a:pt x="0" y="2454731"/>
                  </a:cubicBezTo>
                  <a:lnTo>
                    <a:pt x="0" y="166624"/>
                  </a:lnTo>
                  <a:cubicBezTo>
                    <a:pt x="0" y="74600"/>
                    <a:pt x="74600" y="0"/>
                    <a:pt x="166624" y="0"/>
                  </a:cubicBezTo>
                  <a:close/>
                </a:path>
              </a:pathLst>
            </a:custGeom>
            <a:solidFill>
              <a:srgbClr val="2063C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611863" cy="26594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84820" y="946731"/>
            <a:ext cx="1387838" cy="961005"/>
            <a:chOff x="0" y="0"/>
            <a:chExt cx="365521" cy="25310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65521" cy="253104"/>
            </a:xfrm>
            <a:custGeom>
              <a:avLst/>
              <a:gdLst/>
              <a:ahLst/>
              <a:cxnLst/>
              <a:rect r="r" b="b" t="t" l="l"/>
              <a:pathLst>
                <a:path h="253104" w="365521">
                  <a:moveTo>
                    <a:pt x="126552" y="0"/>
                  </a:moveTo>
                  <a:lnTo>
                    <a:pt x="238969" y="0"/>
                  </a:lnTo>
                  <a:cubicBezTo>
                    <a:pt x="308862" y="0"/>
                    <a:pt x="365521" y="56659"/>
                    <a:pt x="365521" y="126552"/>
                  </a:cubicBezTo>
                  <a:lnTo>
                    <a:pt x="365521" y="126552"/>
                  </a:lnTo>
                  <a:cubicBezTo>
                    <a:pt x="365521" y="196445"/>
                    <a:pt x="308862" y="253104"/>
                    <a:pt x="238969" y="253104"/>
                  </a:cubicBezTo>
                  <a:lnTo>
                    <a:pt x="126552" y="253104"/>
                  </a:lnTo>
                  <a:cubicBezTo>
                    <a:pt x="56659" y="253104"/>
                    <a:pt x="0" y="196445"/>
                    <a:pt x="0" y="126552"/>
                  </a:cubicBezTo>
                  <a:lnTo>
                    <a:pt x="0" y="126552"/>
                  </a:lnTo>
                  <a:cubicBezTo>
                    <a:pt x="0" y="56659"/>
                    <a:pt x="56659" y="0"/>
                    <a:pt x="12655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65521" cy="2912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597652" y="167020"/>
            <a:ext cx="16414232" cy="9952960"/>
            <a:chOff x="0" y="0"/>
            <a:chExt cx="4323090" cy="262135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323090" cy="2621356"/>
            </a:xfrm>
            <a:custGeom>
              <a:avLst/>
              <a:gdLst/>
              <a:ahLst/>
              <a:cxnLst/>
              <a:rect r="r" b="b" t="t" l="l"/>
              <a:pathLst>
                <a:path h="2621356" w="4323090">
                  <a:moveTo>
                    <a:pt x="23583" y="0"/>
                  </a:moveTo>
                  <a:lnTo>
                    <a:pt x="4299507" y="0"/>
                  </a:lnTo>
                  <a:cubicBezTo>
                    <a:pt x="4312532" y="0"/>
                    <a:pt x="4323090" y="10558"/>
                    <a:pt x="4323090" y="23583"/>
                  </a:cubicBezTo>
                  <a:lnTo>
                    <a:pt x="4323090" y="2597773"/>
                  </a:lnTo>
                  <a:cubicBezTo>
                    <a:pt x="4323090" y="2610797"/>
                    <a:pt x="4312532" y="2621356"/>
                    <a:pt x="4299507" y="2621356"/>
                  </a:cubicBezTo>
                  <a:lnTo>
                    <a:pt x="23583" y="2621356"/>
                  </a:lnTo>
                  <a:cubicBezTo>
                    <a:pt x="10558" y="2621356"/>
                    <a:pt x="0" y="2610797"/>
                    <a:pt x="0" y="2597773"/>
                  </a:cubicBezTo>
                  <a:lnTo>
                    <a:pt x="0" y="23583"/>
                  </a:lnTo>
                  <a:cubicBezTo>
                    <a:pt x="0" y="10558"/>
                    <a:pt x="10558" y="0"/>
                    <a:pt x="2358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323090" cy="26594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628726" y="2424196"/>
            <a:ext cx="680025" cy="680025"/>
          </a:xfrm>
          <a:custGeom>
            <a:avLst/>
            <a:gdLst/>
            <a:ahLst/>
            <a:cxnLst/>
            <a:rect r="r" b="b" t="t" l="l"/>
            <a:pathLst>
              <a:path h="680025" w="680025">
                <a:moveTo>
                  <a:pt x="0" y="0"/>
                </a:moveTo>
                <a:lnTo>
                  <a:pt x="680025" y="0"/>
                </a:lnTo>
                <a:lnTo>
                  <a:pt x="680025" y="680024"/>
                </a:lnTo>
                <a:lnTo>
                  <a:pt x="0" y="6800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693732" y="4944284"/>
            <a:ext cx="550013" cy="456288"/>
          </a:xfrm>
          <a:custGeom>
            <a:avLst/>
            <a:gdLst/>
            <a:ahLst/>
            <a:cxnLst/>
            <a:rect r="r" b="b" t="t" l="l"/>
            <a:pathLst>
              <a:path h="456288" w="550013">
                <a:moveTo>
                  <a:pt x="0" y="0"/>
                </a:moveTo>
                <a:lnTo>
                  <a:pt x="550013" y="0"/>
                </a:lnTo>
                <a:lnTo>
                  <a:pt x="550013" y="456288"/>
                </a:lnTo>
                <a:lnTo>
                  <a:pt x="0" y="4562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-20013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642247" y="7339018"/>
            <a:ext cx="652982" cy="625231"/>
          </a:xfrm>
          <a:custGeom>
            <a:avLst/>
            <a:gdLst/>
            <a:ahLst/>
            <a:cxnLst/>
            <a:rect r="r" b="b" t="t" l="l"/>
            <a:pathLst>
              <a:path h="625231" w="652982">
                <a:moveTo>
                  <a:pt x="0" y="0"/>
                </a:moveTo>
                <a:lnTo>
                  <a:pt x="652983" y="0"/>
                </a:lnTo>
                <a:lnTo>
                  <a:pt x="652983" y="625231"/>
                </a:lnTo>
                <a:lnTo>
                  <a:pt x="0" y="62523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11798200" y="8285079"/>
            <a:ext cx="2697188" cy="782208"/>
            <a:chOff x="0" y="0"/>
            <a:chExt cx="1873410" cy="54330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873410" cy="543305"/>
            </a:xfrm>
            <a:custGeom>
              <a:avLst/>
              <a:gdLst/>
              <a:ahLst/>
              <a:cxnLst/>
              <a:rect r="r" b="b" t="t" l="l"/>
              <a:pathLst>
                <a:path h="543305" w="1873410">
                  <a:moveTo>
                    <a:pt x="37315" y="0"/>
                  </a:moveTo>
                  <a:lnTo>
                    <a:pt x="1836095" y="0"/>
                  </a:lnTo>
                  <a:cubicBezTo>
                    <a:pt x="1845992" y="0"/>
                    <a:pt x="1855483" y="3931"/>
                    <a:pt x="1862481" y="10929"/>
                  </a:cubicBezTo>
                  <a:cubicBezTo>
                    <a:pt x="1869479" y="17927"/>
                    <a:pt x="1873410" y="27418"/>
                    <a:pt x="1873410" y="37315"/>
                  </a:cubicBezTo>
                  <a:lnTo>
                    <a:pt x="1873410" y="505990"/>
                  </a:lnTo>
                  <a:cubicBezTo>
                    <a:pt x="1873410" y="515887"/>
                    <a:pt x="1869479" y="525378"/>
                    <a:pt x="1862481" y="532376"/>
                  </a:cubicBezTo>
                  <a:cubicBezTo>
                    <a:pt x="1855483" y="539374"/>
                    <a:pt x="1845992" y="543305"/>
                    <a:pt x="1836095" y="543305"/>
                  </a:cubicBezTo>
                  <a:lnTo>
                    <a:pt x="37315" y="543305"/>
                  </a:lnTo>
                  <a:cubicBezTo>
                    <a:pt x="27418" y="543305"/>
                    <a:pt x="17927" y="539374"/>
                    <a:pt x="10929" y="532376"/>
                  </a:cubicBezTo>
                  <a:cubicBezTo>
                    <a:pt x="3931" y="525378"/>
                    <a:pt x="0" y="515887"/>
                    <a:pt x="0" y="505990"/>
                  </a:cubicBezTo>
                  <a:lnTo>
                    <a:pt x="0" y="37315"/>
                  </a:lnTo>
                  <a:cubicBezTo>
                    <a:pt x="0" y="27418"/>
                    <a:pt x="3931" y="17927"/>
                    <a:pt x="10929" y="10929"/>
                  </a:cubicBezTo>
                  <a:cubicBezTo>
                    <a:pt x="17927" y="3931"/>
                    <a:pt x="27418" y="0"/>
                    <a:pt x="37315" y="0"/>
                  </a:cubicBezTo>
                  <a:close/>
                </a:path>
              </a:pathLst>
            </a:custGeom>
            <a:solidFill>
              <a:srgbClr val="EB574C"/>
            </a:solidFill>
            <a:ln w="9525" cap="sq">
              <a:solidFill>
                <a:srgbClr val="424141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28575"/>
              <a:ext cx="1873410" cy="514730"/>
            </a:xfrm>
            <a:prstGeom prst="rect">
              <a:avLst/>
            </a:prstGeom>
          </p:spPr>
          <p:txBody>
            <a:bodyPr anchor="ctr" rtlCol="false" tIns="39013" lIns="39013" bIns="39013" rIns="39013"/>
            <a:lstStyle/>
            <a:p>
              <a:pPr algn="ctr" marL="0" indent="0" lvl="0">
                <a:lnSpc>
                  <a:spcPts val="1297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4353090" y="8285079"/>
            <a:ext cx="3077748" cy="782208"/>
            <a:chOff x="0" y="0"/>
            <a:chExt cx="2137739" cy="54330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37739" cy="543305"/>
            </a:xfrm>
            <a:custGeom>
              <a:avLst/>
              <a:gdLst/>
              <a:ahLst/>
              <a:cxnLst/>
              <a:rect r="r" b="b" t="t" l="l"/>
              <a:pathLst>
                <a:path h="543305" w="2137739">
                  <a:moveTo>
                    <a:pt x="32701" y="0"/>
                  </a:moveTo>
                  <a:lnTo>
                    <a:pt x="2105038" y="0"/>
                  </a:lnTo>
                  <a:cubicBezTo>
                    <a:pt x="2113711" y="0"/>
                    <a:pt x="2122028" y="3445"/>
                    <a:pt x="2128161" y="9578"/>
                  </a:cubicBezTo>
                  <a:cubicBezTo>
                    <a:pt x="2134294" y="15710"/>
                    <a:pt x="2137739" y="24028"/>
                    <a:pt x="2137739" y="32701"/>
                  </a:cubicBezTo>
                  <a:lnTo>
                    <a:pt x="2137739" y="510604"/>
                  </a:lnTo>
                  <a:cubicBezTo>
                    <a:pt x="2137739" y="528665"/>
                    <a:pt x="2123098" y="543305"/>
                    <a:pt x="2105038" y="543305"/>
                  </a:cubicBezTo>
                  <a:lnTo>
                    <a:pt x="32701" y="543305"/>
                  </a:lnTo>
                  <a:cubicBezTo>
                    <a:pt x="14641" y="543305"/>
                    <a:pt x="0" y="528665"/>
                    <a:pt x="0" y="510604"/>
                  </a:cubicBezTo>
                  <a:lnTo>
                    <a:pt x="0" y="32701"/>
                  </a:lnTo>
                  <a:cubicBezTo>
                    <a:pt x="0" y="14641"/>
                    <a:pt x="14641" y="0"/>
                    <a:pt x="32701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424141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28575"/>
              <a:ext cx="2137739" cy="514730"/>
            </a:xfrm>
            <a:prstGeom prst="rect">
              <a:avLst/>
            </a:prstGeom>
          </p:spPr>
          <p:txBody>
            <a:bodyPr anchor="ctr" rtlCol="false" tIns="39013" lIns="39013" bIns="39013" rIns="39013"/>
            <a:lstStyle/>
            <a:p>
              <a:pPr algn="ctr" marL="0" indent="0" lvl="0">
                <a:lnSpc>
                  <a:spcPts val="1297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2419350" y="3551686"/>
            <a:ext cx="8201025" cy="1202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477"/>
              </a:lnSpc>
              <a:spcBef>
                <a:spcPct val="0"/>
              </a:spcBef>
            </a:pPr>
            <a:r>
              <a:rPr lang="en-US" b="true" sz="8100">
                <a:solidFill>
                  <a:srgbClr val="42414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Ả</a:t>
            </a:r>
            <a:r>
              <a:rPr lang="en-US" b="true" sz="8100">
                <a:solidFill>
                  <a:srgbClr val="42414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NH CỤC BỘ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419350" y="2322517"/>
            <a:ext cx="8201025" cy="1202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477"/>
              </a:lnSpc>
              <a:spcBef>
                <a:spcPct val="0"/>
              </a:spcBef>
            </a:pPr>
            <a:r>
              <a:rPr lang="en-US" b="true" sz="8100">
                <a:solidFill>
                  <a:srgbClr val="42414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TĂNG CƯỜNG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2441979" y="6682205"/>
            <a:ext cx="7172828" cy="921400"/>
            <a:chOff x="0" y="0"/>
            <a:chExt cx="1794412" cy="230505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794412" cy="230505"/>
            </a:xfrm>
            <a:custGeom>
              <a:avLst/>
              <a:gdLst/>
              <a:ahLst/>
              <a:cxnLst/>
              <a:rect r="r" b="b" t="t" l="l"/>
              <a:pathLst>
                <a:path h="230505" w="1794412">
                  <a:moveTo>
                    <a:pt x="67998" y="0"/>
                  </a:moveTo>
                  <a:lnTo>
                    <a:pt x="1726413" y="0"/>
                  </a:lnTo>
                  <a:cubicBezTo>
                    <a:pt x="1744448" y="0"/>
                    <a:pt x="1761743" y="7164"/>
                    <a:pt x="1774496" y="19916"/>
                  </a:cubicBezTo>
                  <a:cubicBezTo>
                    <a:pt x="1787248" y="32668"/>
                    <a:pt x="1794412" y="49964"/>
                    <a:pt x="1794412" y="67998"/>
                  </a:cubicBezTo>
                  <a:lnTo>
                    <a:pt x="1794412" y="162506"/>
                  </a:lnTo>
                  <a:cubicBezTo>
                    <a:pt x="1794412" y="200061"/>
                    <a:pt x="1763968" y="230505"/>
                    <a:pt x="1726413" y="230505"/>
                  </a:cubicBezTo>
                  <a:lnTo>
                    <a:pt x="67998" y="230505"/>
                  </a:lnTo>
                  <a:cubicBezTo>
                    <a:pt x="30444" y="230505"/>
                    <a:pt x="0" y="200061"/>
                    <a:pt x="0" y="162506"/>
                  </a:cubicBezTo>
                  <a:lnTo>
                    <a:pt x="0" y="67998"/>
                  </a:lnTo>
                  <a:cubicBezTo>
                    <a:pt x="0" y="30444"/>
                    <a:pt x="30444" y="0"/>
                    <a:pt x="67998" y="0"/>
                  </a:cubicBezTo>
                  <a:close/>
                </a:path>
              </a:pathLst>
            </a:custGeom>
            <a:solidFill>
              <a:srgbClr val="EB574C"/>
            </a:solidFill>
            <a:ln w="19050" cap="rnd">
              <a:solidFill>
                <a:srgbClr val="424141"/>
              </a:solidFill>
              <a:prstDash val="solid"/>
              <a:round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1794412" cy="2686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AutoShape 25" id="25"/>
          <p:cNvSpPr/>
          <p:nvPr/>
        </p:nvSpPr>
        <p:spPr>
          <a:xfrm>
            <a:off x="628726" y="1279706"/>
            <a:ext cx="550013" cy="0"/>
          </a:xfrm>
          <a:prstGeom prst="line">
            <a:avLst/>
          </a:prstGeom>
          <a:ln cap="flat" w="47625">
            <a:solidFill>
              <a:srgbClr val="2063C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6" id="26"/>
          <p:cNvSpPr/>
          <p:nvPr/>
        </p:nvSpPr>
        <p:spPr>
          <a:xfrm>
            <a:off x="628726" y="1427234"/>
            <a:ext cx="550013" cy="0"/>
          </a:xfrm>
          <a:prstGeom prst="line">
            <a:avLst/>
          </a:prstGeom>
          <a:ln cap="flat" w="47625">
            <a:solidFill>
              <a:srgbClr val="2063C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7" id="27"/>
          <p:cNvSpPr/>
          <p:nvPr/>
        </p:nvSpPr>
        <p:spPr>
          <a:xfrm>
            <a:off x="628726" y="1570109"/>
            <a:ext cx="550013" cy="0"/>
          </a:xfrm>
          <a:prstGeom prst="line">
            <a:avLst/>
          </a:prstGeom>
          <a:ln cap="flat" w="47625">
            <a:solidFill>
              <a:srgbClr val="2063C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8" id="28"/>
          <p:cNvSpPr/>
          <p:nvPr/>
        </p:nvSpPr>
        <p:spPr>
          <a:xfrm flipH="false" flipV="false" rot="0">
            <a:off x="642247" y="6029222"/>
            <a:ext cx="652982" cy="652982"/>
          </a:xfrm>
          <a:custGeom>
            <a:avLst/>
            <a:gdLst/>
            <a:ahLst/>
            <a:cxnLst/>
            <a:rect r="r" b="b" t="t" l="l"/>
            <a:pathLst>
              <a:path h="652982" w="652982">
                <a:moveTo>
                  <a:pt x="0" y="0"/>
                </a:moveTo>
                <a:lnTo>
                  <a:pt x="652983" y="0"/>
                </a:lnTo>
                <a:lnTo>
                  <a:pt x="652983" y="652983"/>
                </a:lnTo>
                <a:lnTo>
                  <a:pt x="0" y="65298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642247" y="8621062"/>
            <a:ext cx="652982" cy="652982"/>
          </a:xfrm>
          <a:custGeom>
            <a:avLst/>
            <a:gdLst/>
            <a:ahLst/>
            <a:cxnLst/>
            <a:rect r="r" b="b" t="t" l="l"/>
            <a:pathLst>
              <a:path h="652982" w="652982">
                <a:moveTo>
                  <a:pt x="0" y="0"/>
                </a:moveTo>
                <a:lnTo>
                  <a:pt x="652983" y="0"/>
                </a:lnTo>
                <a:lnTo>
                  <a:pt x="652983" y="652982"/>
                </a:lnTo>
                <a:lnTo>
                  <a:pt x="0" y="65298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695867" y="3769890"/>
            <a:ext cx="545744" cy="545744"/>
          </a:xfrm>
          <a:custGeom>
            <a:avLst/>
            <a:gdLst/>
            <a:ahLst/>
            <a:cxnLst/>
            <a:rect r="r" b="b" t="t" l="l"/>
            <a:pathLst>
              <a:path h="545744" w="545744">
                <a:moveTo>
                  <a:pt x="0" y="0"/>
                </a:moveTo>
                <a:lnTo>
                  <a:pt x="545743" y="0"/>
                </a:lnTo>
                <a:lnTo>
                  <a:pt x="545743" y="545744"/>
                </a:lnTo>
                <a:lnTo>
                  <a:pt x="0" y="54574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true" flipV="false" rot="0">
            <a:off x="9333961" y="7142904"/>
            <a:ext cx="941613" cy="818027"/>
          </a:xfrm>
          <a:custGeom>
            <a:avLst/>
            <a:gdLst/>
            <a:ahLst/>
            <a:cxnLst/>
            <a:rect r="r" b="b" t="t" l="l"/>
            <a:pathLst>
              <a:path h="818027" w="941613">
                <a:moveTo>
                  <a:pt x="941613" y="0"/>
                </a:moveTo>
                <a:lnTo>
                  <a:pt x="0" y="0"/>
                </a:lnTo>
                <a:lnTo>
                  <a:pt x="0" y="818027"/>
                </a:lnTo>
                <a:lnTo>
                  <a:pt x="941613" y="818027"/>
                </a:lnTo>
                <a:lnTo>
                  <a:pt x="941613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13507247" y="9345037"/>
            <a:ext cx="4769433" cy="941963"/>
          </a:xfrm>
          <a:custGeom>
            <a:avLst/>
            <a:gdLst/>
            <a:ahLst/>
            <a:cxnLst/>
            <a:rect r="r" b="b" t="t" l="l"/>
            <a:pathLst>
              <a:path h="941963" w="4769433">
                <a:moveTo>
                  <a:pt x="0" y="0"/>
                </a:moveTo>
                <a:lnTo>
                  <a:pt x="4769434" y="0"/>
                </a:lnTo>
                <a:lnTo>
                  <a:pt x="4769434" y="941963"/>
                </a:lnTo>
                <a:lnTo>
                  <a:pt x="0" y="941963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9357254" y="1950382"/>
            <a:ext cx="8654629" cy="6444093"/>
          </a:xfrm>
          <a:custGeom>
            <a:avLst/>
            <a:gdLst/>
            <a:ahLst/>
            <a:cxnLst/>
            <a:rect r="r" b="b" t="t" l="l"/>
            <a:pathLst>
              <a:path h="6444093" w="8654629">
                <a:moveTo>
                  <a:pt x="0" y="0"/>
                </a:moveTo>
                <a:lnTo>
                  <a:pt x="8654630" y="0"/>
                </a:lnTo>
                <a:lnTo>
                  <a:pt x="8654630" y="6444092"/>
                </a:lnTo>
                <a:lnTo>
                  <a:pt x="0" y="6444092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alphaModFix amt="10999"/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0">
            <a:off x="2419350" y="4534709"/>
            <a:ext cx="8201025" cy="149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179"/>
              </a:lnSpc>
              <a:spcBef>
                <a:spcPct val="0"/>
              </a:spcBef>
            </a:pPr>
            <a:r>
              <a:rPr lang="en-US" sz="11310">
                <a:gradFill>
                  <a:gsLst>
                    <a:gs pos="0">
                      <a:srgbClr val="0064FF">
                        <a:alpha val="100000"/>
                      </a:srgbClr>
                    </a:gs>
                    <a:gs pos="100000">
                      <a:srgbClr val="3893FF">
                        <a:alpha val="100000"/>
                      </a:srgbClr>
                    </a:gs>
                  </a:gsLst>
                  <a:lin ang="0"/>
                </a:gradFill>
                <a:latin typeface="Cristik"/>
                <a:ea typeface="Cristik"/>
                <a:cs typeface="Cristik"/>
                <a:sym typeface="Cristik"/>
              </a:rPr>
              <a:t>histrogram</a:t>
            </a:r>
          </a:p>
        </p:txBody>
      </p:sp>
      <p:sp>
        <p:nvSpPr>
          <p:cNvPr name="Freeform 35" id="35"/>
          <p:cNvSpPr/>
          <p:nvPr/>
        </p:nvSpPr>
        <p:spPr>
          <a:xfrm flipH="false" flipV="false" rot="0">
            <a:off x="9614807" y="1250659"/>
            <a:ext cx="7281132" cy="6510545"/>
          </a:xfrm>
          <a:custGeom>
            <a:avLst/>
            <a:gdLst/>
            <a:ahLst/>
            <a:cxnLst/>
            <a:rect r="r" b="b" t="t" l="l"/>
            <a:pathLst>
              <a:path h="6510545" w="7281132">
                <a:moveTo>
                  <a:pt x="0" y="0"/>
                </a:moveTo>
                <a:lnTo>
                  <a:pt x="7281131" y="0"/>
                </a:lnTo>
                <a:lnTo>
                  <a:pt x="7281131" y="6510545"/>
                </a:lnTo>
                <a:lnTo>
                  <a:pt x="0" y="6510545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1964480" y="533345"/>
            <a:ext cx="2817070" cy="707789"/>
          </a:xfrm>
          <a:custGeom>
            <a:avLst/>
            <a:gdLst/>
            <a:ahLst/>
            <a:cxnLst/>
            <a:rect r="r" b="b" t="t" l="l"/>
            <a:pathLst>
              <a:path h="707789" w="2817070">
                <a:moveTo>
                  <a:pt x="0" y="0"/>
                </a:moveTo>
                <a:lnTo>
                  <a:pt x="2817070" y="0"/>
                </a:lnTo>
                <a:lnTo>
                  <a:pt x="2817070" y="707789"/>
                </a:lnTo>
                <a:lnTo>
                  <a:pt x="0" y="707789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TextBox 37" id="37"/>
          <p:cNvSpPr txBox="true"/>
          <p:nvPr/>
        </p:nvSpPr>
        <p:spPr>
          <a:xfrm rot="0">
            <a:off x="14392363" y="8410511"/>
            <a:ext cx="3038475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6"/>
              </a:lnSpc>
            </a:pPr>
            <a:r>
              <a:rPr lang="en-US" sz="1880" b="true">
                <a:solidFill>
                  <a:srgbClr val="42414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Nguyễn Đình Huy</a:t>
            </a:r>
          </a:p>
          <a:p>
            <a:pPr algn="ctr" marL="0" indent="0" lvl="0">
              <a:lnSpc>
                <a:spcPts val="2256"/>
              </a:lnSpc>
              <a:spcBef>
                <a:spcPct val="0"/>
              </a:spcBef>
            </a:pPr>
            <a:r>
              <a:rPr lang="en-US" b="true" sz="1880">
                <a:solidFill>
                  <a:srgbClr val="42414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Lê Quyết Tiến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1801475" y="8543925"/>
            <a:ext cx="2562225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160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Sinh viên thực hiện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2495550" y="8194154"/>
            <a:ext cx="4572000" cy="10424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35"/>
              </a:lnSpc>
              <a:spcBef>
                <a:spcPct val="0"/>
              </a:spcBef>
            </a:pPr>
            <a:r>
              <a:rPr lang="en-US" sz="1889" spc="-69">
                <a:solidFill>
                  <a:srgbClr val="424141"/>
                </a:solidFill>
                <a:latin typeface="Montserrat"/>
                <a:ea typeface="Montserrat"/>
                <a:cs typeface="Montserrat"/>
                <a:sym typeface="Montserrat"/>
              </a:rPr>
              <a:t>Ng</a:t>
            </a:r>
            <a:r>
              <a:rPr lang="en-US" sz="1889" spc="-69" strike="noStrike" u="none">
                <a:solidFill>
                  <a:srgbClr val="424141"/>
                </a:solidFill>
                <a:latin typeface="Montserrat"/>
                <a:ea typeface="Montserrat"/>
                <a:cs typeface="Montserrat"/>
                <a:sym typeface="Montserrat"/>
              </a:rPr>
              <a:t>h</a:t>
            </a:r>
            <a:r>
              <a:rPr lang="en-US" sz="1889" spc="-69" strike="noStrike" u="none">
                <a:solidFill>
                  <a:srgbClr val="424141"/>
                </a:solidFill>
                <a:latin typeface="Montserrat"/>
                <a:ea typeface="Montserrat"/>
                <a:cs typeface="Montserrat"/>
                <a:sym typeface="Montserrat"/>
              </a:rPr>
              <a:t>iên</a:t>
            </a:r>
            <a:r>
              <a:rPr lang="en-US" sz="1889" spc="-69" strike="noStrike" u="none">
                <a:solidFill>
                  <a:srgbClr val="42414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889" spc="-69" strike="noStrike" u="none">
                <a:solidFill>
                  <a:srgbClr val="424141"/>
                </a:solidFill>
                <a:latin typeface="Montserrat"/>
                <a:ea typeface="Montserrat"/>
                <a:cs typeface="Montserrat"/>
                <a:sym typeface="Montserrat"/>
              </a:rPr>
              <a:t>cứu, so</a:t>
            </a:r>
            <a:r>
              <a:rPr lang="en-US" sz="1889" spc="-69" strike="noStrike" u="none">
                <a:solidFill>
                  <a:srgbClr val="42414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889" spc="-69" strike="noStrike" u="none">
                <a:solidFill>
                  <a:srgbClr val="424141"/>
                </a:solidFill>
                <a:latin typeface="Montserrat"/>
                <a:ea typeface="Montserrat"/>
                <a:cs typeface="Montserrat"/>
                <a:sym typeface="Montserrat"/>
              </a:rPr>
              <a:t>s</a:t>
            </a:r>
            <a:r>
              <a:rPr lang="en-US" sz="1889" spc="-69" strike="noStrike" u="none">
                <a:solidFill>
                  <a:srgbClr val="424141"/>
                </a:solidFill>
                <a:latin typeface="Montserrat"/>
                <a:ea typeface="Montserrat"/>
                <a:cs typeface="Montserrat"/>
                <a:sym typeface="Montserrat"/>
              </a:rPr>
              <a:t>á</a:t>
            </a:r>
            <a:r>
              <a:rPr lang="en-US" sz="1889" spc="-69" strike="noStrike" u="none">
                <a:solidFill>
                  <a:srgbClr val="424141"/>
                </a:solidFill>
                <a:latin typeface="Montserrat"/>
                <a:ea typeface="Montserrat"/>
                <a:cs typeface="Montserrat"/>
                <a:sym typeface="Montserrat"/>
              </a:rPr>
              <a:t>n</a:t>
            </a:r>
            <a:r>
              <a:rPr lang="en-US" sz="1889" spc="-69" strike="noStrike" u="none">
                <a:solidFill>
                  <a:srgbClr val="424141"/>
                </a:solidFill>
                <a:latin typeface="Montserrat"/>
                <a:ea typeface="Montserrat"/>
                <a:cs typeface="Montserrat"/>
                <a:sym typeface="Montserrat"/>
              </a:rPr>
              <a:t>h t</a:t>
            </a:r>
            <a:r>
              <a:rPr lang="en-US" sz="1889" spc="-69" strike="noStrike" u="none">
                <a:solidFill>
                  <a:srgbClr val="424141"/>
                </a:solidFill>
                <a:latin typeface="Montserrat"/>
                <a:ea typeface="Montserrat"/>
                <a:cs typeface="Montserrat"/>
                <a:sym typeface="Montserrat"/>
              </a:rPr>
              <a:t>huật</a:t>
            </a:r>
            <a:r>
              <a:rPr lang="en-US" sz="1889" spc="-69" strike="noStrike" u="none">
                <a:solidFill>
                  <a:srgbClr val="424141"/>
                </a:solidFill>
                <a:latin typeface="Montserrat"/>
                <a:ea typeface="Montserrat"/>
                <a:cs typeface="Montserrat"/>
                <a:sym typeface="Montserrat"/>
              </a:rPr>
              <a:t> t</a:t>
            </a:r>
            <a:r>
              <a:rPr lang="en-US" sz="1889" spc="-69" strike="noStrike" u="none">
                <a:solidFill>
                  <a:srgbClr val="424141"/>
                </a:solidFill>
                <a:latin typeface="Montserrat"/>
                <a:ea typeface="Montserrat"/>
                <a:cs typeface="Montserrat"/>
                <a:sym typeface="Montserrat"/>
              </a:rPr>
              <a:t>oá</a:t>
            </a:r>
            <a:r>
              <a:rPr lang="en-US" sz="1889" spc="-69" strike="noStrike" u="none">
                <a:solidFill>
                  <a:srgbClr val="424141"/>
                </a:solidFill>
                <a:latin typeface="Montserrat"/>
                <a:ea typeface="Montserrat"/>
                <a:cs typeface="Montserrat"/>
                <a:sym typeface="Montserrat"/>
              </a:rPr>
              <a:t>n </a:t>
            </a:r>
            <a:r>
              <a:rPr lang="en-US" sz="1889" spc="-69" strike="noStrike" u="none">
                <a:solidFill>
                  <a:srgbClr val="424141"/>
                </a:solidFill>
                <a:latin typeface="Montserrat"/>
                <a:ea typeface="Montserrat"/>
                <a:cs typeface="Montserrat"/>
                <a:sym typeface="Montserrat"/>
              </a:rPr>
              <a:t>Gl</a:t>
            </a:r>
            <a:r>
              <a:rPr lang="en-US" sz="1889" spc="-69" strike="noStrike" u="none">
                <a:solidFill>
                  <a:srgbClr val="424141"/>
                </a:solidFill>
                <a:latin typeface="Montserrat"/>
                <a:ea typeface="Montserrat"/>
                <a:cs typeface="Montserrat"/>
                <a:sym typeface="Montserrat"/>
              </a:rPr>
              <a:t>o</a:t>
            </a:r>
            <a:r>
              <a:rPr lang="en-US" sz="1889" spc="-69" strike="noStrike" u="none">
                <a:solidFill>
                  <a:srgbClr val="424141"/>
                </a:solidFill>
                <a:latin typeface="Montserrat"/>
                <a:ea typeface="Montserrat"/>
                <a:cs typeface="Montserrat"/>
                <a:sym typeface="Montserrat"/>
              </a:rPr>
              <a:t>bal</a:t>
            </a:r>
            <a:r>
              <a:rPr lang="en-US" sz="1889" spc="-69" strike="noStrike" u="none">
                <a:solidFill>
                  <a:srgbClr val="42414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889" spc="-69" strike="noStrike" u="none">
                <a:solidFill>
                  <a:srgbClr val="424141"/>
                </a:solidFill>
                <a:latin typeface="Montserrat"/>
                <a:ea typeface="Montserrat"/>
                <a:cs typeface="Montserrat"/>
                <a:sym typeface="Montserrat"/>
              </a:rPr>
              <a:t>HE vs CLAHE &amp; P</a:t>
            </a:r>
            <a:r>
              <a:rPr lang="en-US" sz="1889" spc="-69" strike="noStrike" u="none">
                <a:solidFill>
                  <a:srgbClr val="424141"/>
                </a:solidFill>
                <a:latin typeface="Montserrat"/>
                <a:ea typeface="Montserrat"/>
                <a:cs typeface="Montserrat"/>
                <a:sym typeface="Montserrat"/>
              </a:rPr>
              <a:t>h</a:t>
            </a:r>
            <a:r>
              <a:rPr lang="en-US" sz="1889" spc="-69" strike="noStrike" u="none">
                <a:solidFill>
                  <a:srgbClr val="424141"/>
                </a:solidFill>
                <a:latin typeface="Montserrat"/>
                <a:ea typeface="Montserrat"/>
                <a:cs typeface="Montserrat"/>
                <a:sym typeface="Montserrat"/>
              </a:rPr>
              <a:t>át</a:t>
            </a:r>
            <a:r>
              <a:rPr lang="en-US" sz="1889" spc="-69" strike="noStrike" u="none">
                <a:solidFill>
                  <a:srgbClr val="42414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889" spc="-69" strike="noStrike" u="none">
                <a:solidFill>
                  <a:srgbClr val="424141"/>
                </a:solidFill>
                <a:latin typeface="Montserrat"/>
                <a:ea typeface="Montserrat"/>
                <a:cs typeface="Montserrat"/>
                <a:sym typeface="Montserrat"/>
              </a:rPr>
              <a:t>tr</a:t>
            </a:r>
            <a:r>
              <a:rPr lang="en-US" sz="1889" spc="-69" strike="noStrike" u="none">
                <a:solidFill>
                  <a:srgbClr val="424141"/>
                </a:solidFill>
                <a:latin typeface="Montserrat"/>
                <a:ea typeface="Montserrat"/>
                <a:cs typeface="Montserrat"/>
                <a:sym typeface="Montserrat"/>
              </a:rPr>
              <a:t>i</a:t>
            </a:r>
            <a:r>
              <a:rPr lang="en-US" sz="1889" spc="-69" strike="noStrike" u="none">
                <a:solidFill>
                  <a:srgbClr val="424141"/>
                </a:solidFill>
                <a:latin typeface="Montserrat"/>
                <a:ea typeface="Montserrat"/>
                <a:cs typeface="Montserrat"/>
                <a:sym typeface="Montserrat"/>
              </a:rPr>
              <a:t>ển</a:t>
            </a:r>
            <a:r>
              <a:rPr lang="en-US" sz="1889" spc="-69" strike="noStrike" u="none">
                <a:solidFill>
                  <a:srgbClr val="42414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889" spc="-69" strike="noStrike" u="none">
                <a:solidFill>
                  <a:srgbClr val="424141"/>
                </a:solidFill>
                <a:latin typeface="Montserrat"/>
                <a:ea typeface="Montserrat"/>
                <a:cs typeface="Montserrat"/>
                <a:sym typeface="Montserrat"/>
              </a:rPr>
              <a:t>ứ</a:t>
            </a:r>
            <a:r>
              <a:rPr lang="en-US" sz="1889" spc="-69" strike="noStrike" u="none">
                <a:solidFill>
                  <a:srgbClr val="424141"/>
                </a:solidFill>
                <a:latin typeface="Montserrat"/>
                <a:ea typeface="Montserrat"/>
                <a:cs typeface="Montserrat"/>
                <a:sym typeface="Montserrat"/>
              </a:rPr>
              <a:t>ng </a:t>
            </a:r>
            <a:r>
              <a:rPr lang="en-US" sz="1889" spc="-69" strike="noStrike" u="none">
                <a:solidFill>
                  <a:srgbClr val="424141"/>
                </a:solidFill>
                <a:latin typeface="Montserrat"/>
                <a:ea typeface="Montserrat"/>
                <a:cs typeface="Montserrat"/>
                <a:sym typeface="Montserrat"/>
              </a:rPr>
              <a:t>dụ</a:t>
            </a:r>
            <a:r>
              <a:rPr lang="en-US" sz="1889" spc="-69" strike="noStrike" u="none">
                <a:solidFill>
                  <a:srgbClr val="424141"/>
                </a:solidFill>
                <a:latin typeface="Montserrat"/>
                <a:ea typeface="Montserrat"/>
                <a:cs typeface="Montserrat"/>
                <a:sym typeface="Montserrat"/>
              </a:rPr>
              <a:t>ng </a:t>
            </a:r>
            <a:r>
              <a:rPr lang="en-US" sz="1889" spc="-69" strike="noStrike" u="none">
                <a:solidFill>
                  <a:srgbClr val="424141"/>
                </a:solidFill>
                <a:latin typeface="Montserrat"/>
                <a:ea typeface="Montserrat"/>
                <a:cs typeface="Montserrat"/>
                <a:sym typeface="Montserrat"/>
              </a:rPr>
              <a:t>Web Streaml</a:t>
            </a:r>
            <a:r>
              <a:rPr lang="en-US" sz="1889" spc="-69" strike="noStrike" u="none">
                <a:solidFill>
                  <a:srgbClr val="424141"/>
                </a:solidFill>
                <a:latin typeface="Montserrat"/>
                <a:ea typeface="Montserrat"/>
                <a:cs typeface="Montserrat"/>
                <a:sym typeface="Montserrat"/>
              </a:rPr>
              <a:t>i</a:t>
            </a:r>
            <a:r>
              <a:rPr lang="en-US" sz="1889" spc="-69" strike="noStrike" u="none">
                <a:solidFill>
                  <a:srgbClr val="424141"/>
                </a:solidFill>
                <a:latin typeface="Montserrat"/>
                <a:ea typeface="Montserrat"/>
                <a:cs typeface="Montserrat"/>
                <a:sym typeface="Montserrat"/>
              </a:rPr>
              <a:t>t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2838450" y="6951903"/>
            <a:ext cx="6305550" cy="448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14"/>
              </a:lnSpc>
              <a:spcBef>
                <a:spcPct val="0"/>
              </a:spcBef>
            </a:pPr>
            <a:r>
              <a:rPr lang="en-US" sz="341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NHẬP MÔN XỬ LÝ ẢNH SỐ</a:t>
            </a:r>
          </a:p>
        </p:txBody>
      </p:sp>
      <p:sp>
        <p:nvSpPr>
          <p:cNvPr name="Freeform 41" id="41"/>
          <p:cNvSpPr/>
          <p:nvPr/>
        </p:nvSpPr>
        <p:spPr>
          <a:xfrm flipH="false" flipV="false" rot="0">
            <a:off x="7067550" y="8079879"/>
            <a:ext cx="541182" cy="541182"/>
          </a:xfrm>
          <a:custGeom>
            <a:avLst/>
            <a:gdLst/>
            <a:ahLst/>
            <a:cxnLst/>
            <a:rect r="r" b="b" t="t" l="l"/>
            <a:pathLst>
              <a:path h="541182" w="541182">
                <a:moveTo>
                  <a:pt x="0" y="0"/>
                </a:moveTo>
                <a:lnTo>
                  <a:pt x="541182" y="0"/>
                </a:lnTo>
                <a:lnTo>
                  <a:pt x="541182" y="541183"/>
                </a:lnTo>
                <a:lnTo>
                  <a:pt x="0" y="541183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2" id="42"/>
          <p:cNvSpPr/>
          <p:nvPr/>
        </p:nvSpPr>
        <p:spPr>
          <a:xfrm flipH="false" flipV="false" rot="0">
            <a:off x="7067550" y="8696261"/>
            <a:ext cx="541182" cy="541182"/>
          </a:xfrm>
          <a:custGeom>
            <a:avLst/>
            <a:gdLst/>
            <a:ahLst/>
            <a:cxnLst/>
            <a:rect r="r" b="b" t="t" l="l"/>
            <a:pathLst>
              <a:path h="541182" w="541182">
                <a:moveTo>
                  <a:pt x="0" y="0"/>
                </a:moveTo>
                <a:lnTo>
                  <a:pt x="541182" y="0"/>
                </a:lnTo>
                <a:lnTo>
                  <a:pt x="541182" y="541183"/>
                </a:lnTo>
                <a:lnTo>
                  <a:pt x="0" y="541183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3" id="43"/>
          <p:cNvSpPr txBox="true"/>
          <p:nvPr/>
        </p:nvSpPr>
        <p:spPr>
          <a:xfrm rot="0">
            <a:off x="7816243" y="8303081"/>
            <a:ext cx="3126022" cy="306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18"/>
              </a:lnSpc>
            </a:pPr>
            <a:r>
              <a:rPr lang="en-US" sz="1798" spc="314">
                <a:solidFill>
                  <a:srgbClr val="424141"/>
                </a:solidFill>
                <a:latin typeface="Montserrat"/>
                <a:ea typeface="Montserrat"/>
                <a:cs typeface="Montserrat"/>
                <a:sym typeface="Montserrat"/>
              </a:rPr>
              <a:t>TS. Vũ Thanh Hiền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7816243" y="8038025"/>
            <a:ext cx="1020237" cy="306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18"/>
              </a:lnSpc>
            </a:pPr>
            <a:r>
              <a:rPr lang="en-US" b="true" sz="1798" spc="-39">
                <a:solidFill>
                  <a:srgbClr val="42414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GVHD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7818406" y="8924211"/>
            <a:ext cx="350520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pc="-39">
                <a:solidFill>
                  <a:srgbClr val="424141"/>
                </a:solidFill>
                <a:latin typeface="Montserrat"/>
                <a:ea typeface="Montserrat"/>
                <a:cs typeface="Montserrat"/>
                <a:sym typeface="Montserrat"/>
              </a:rPr>
              <a:t>253_71ITAI40803_01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7818282" y="8661916"/>
            <a:ext cx="3498598" cy="306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18"/>
              </a:lnSpc>
            </a:pPr>
            <a:r>
              <a:rPr lang="en-US" b="true" sz="1798" spc="-39">
                <a:solidFill>
                  <a:srgbClr val="42414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LHP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2388C">
                <a:alpha val="100000"/>
              </a:srgbClr>
            </a:gs>
            <a:gs pos="100000">
              <a:srgbClr val="3893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09814" y="167020"/>
            <a:ext cx="2323166" cy="9952960"/>
            <a:chOff x="0" y="0"/>
            <a:chExt cx="611863" cy="262135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11863" cy="2621356"/>
            </a:xfrm>
            <a:custGeom>
              <a:avLst/>
              <a:gdLst/>
              <a:ahLst/>
              <a:cxnLst/>
              <a:rect r="r" b="b" t="t" l="l"/>
              <a:pathLst>
                <a:path h="2621356" w="611863">
                  <a:moveTo>
                    <a:pt x="166624" y="0"/>
                  </a:moveTo>
                  <a:lnTo>
                    <a:pt x="445238" y="0"/>
                  </a:lnTo>
                  <a:cubicBezTo>
                    <a:pt x="537262" y="0"/>
                    <a:pt x="611863" y="74600"/>
                    <a:pt x="611863" y="166624"/>
                  </a:cubicBezTo>
                  <a:lnTo>
                    <a:pt x="611863" y="2454731"/>
                  </a:lnTo>
                  <a:cubicBezTo>
                    <a:pt x="611863" y="2546755"/>
                    <a:pt x="537262" y="2621356"/>
                    <a:pt x="445238" y="2621356"/>
                  </a:cubicBezTo>
                  <a:lnTo>
                    <a:pt x="166624" y="2621356"/>
                  </a:lnTo>
                  <a:cubicBezTo>
                    <a:pt x="74600" y="2621356"/>
                    <a:pt x="0" y="2546755"/>
                    <a:pt x="0" y="2454731"/>
                  </a:cubicBezTo>
                  <a:lnTo>
                    <a:pt x="0" y="166624"/>
                  </a:lnTo>
                  <a:cubicBezTo>
                    <a:pt x="0" y="74600"/>
                    <a:pt x="74600" y="0"/>
                    <a:pt x="166624" y="0"/>
                  </a:cubicBezTo>
                  <a:close/>
                </a:path>
              </a:pathLst>
            </a:custGeom>
            <a:solidFill>
              <a:srgbClr val="2063C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611863" cy="26594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84820" y="2285280"/>
            <a:ext cx="1387838" cy="961005"/>
            <a:chOff x="0" y="0"/>
            <a:chExt cx="365521" cy="25310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65521" cy="253104"/>
            </a:xfrm>
            <a:custGeom>
              <a:avLst/>
              <a:gdLst/>
              <a:ahLst/>
              <a:cxnLst/>
              <a:rect r="r" b="b" t="t" l="l"/>
              <a:pathLst>
                <a:path h="253104" w="365521">
                  <a:moveTo>
                    <a:pt x="126552" y="0"/>
                  </a:moveTo>
                  <a:lnTo>
                    <a:pt x="238969" y="0"/>
                  </a:lnTo>
                  <a:cubicBezTo>
                    <a:pt x="308862" y="0"/>
                    <a:pt x="365521" y="56659"/>
                    <a:pt x="365521" y="126552"/>
                  </a:cubicBezTo>
                  <a:lnTo>
                    <a:pt x="365521" y="126552"/>
                  </a:lnTo>
                  <a:cubicBezTo>
                    <a:pt x="365521" y="196445"/>
                    <a:pt x="308862" y="253104"/>
                    <a:pt x="238969" y="253104"/>
                  </a:cubicBezTo>
                  <a:lnTo>
                    <a:pt x="126552" y="253104"/>
                  </a:lnTo>
                  <a:cubicBezTo>
                    <a:pt x="56659" y="253104"/>
                    <a:pt x="0" y="196445"/>
                    <a:pt x="0" y="126552"/>
                  </a:cubicBezTo>
                  <a:lnTo>
                    <a:pt x="0" y="126552"/>
                  </a:lnTo>
                  <a:cubicBezTo>
                    <a:pt x="0" y="56659"/>
                    <a:pt x="56659" y="0"/>
                    <a:pt x="12655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65521" cy="2912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597652" y="167020"/>
            <a:ext cx="16414232" cy="9952960"/>
            <a:chOff x="0" y="0"/>
            <a:chExt cx="4323090" cy="262135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323090" cy="2621356"/>
            </a:xfrm>
            <a:custGeom>
              <a:avLst/>
              <a:gdLst/>
              <a:ahLst/>
              <a:cxnLst/>
              <a:rect r="r" b="b" t="t" l="l"/>
              <a:pathLst>
                <a:path h="2621356" w="4323090">
                  <a:moveTo>
                    <a:pt x="23583" y="0"/>
                  </a:moveTo>
                  <a:lnTo>
                    <a:pt x="4299507" y="0"/>
                  </a:lnTo>
                  <a:cubicBezTo>
                    <a:pt x="4312532" y="0"/>
                    <a:pt x="4323090" y="10558"/>
                    <a:pt x="4323090" y="23583"/>
                  </a:cubicBezTo>
                  <a:lnTo>
                    <a:pt x="4323090" y="2597773"/>
                  </a:lnTo>
                  <a:cubicBezTo>
                    <a:pt x="4323090" y="2610797"/>
                    <a:pt x="4312532" y="2621356"/>
                    <a:pt x="4299507" y="2621356"/>
                  </a:cubicBezTo>
                  <a:lnTo>
                    <a:pt x="23583" y="2621356"/>
                  </a:lnTo>
                  <a:cubicBezTo>
                    <a:pt x="10558" y="2621356"/>
                    <a:pt x="0" y="2610797"/>
                    <a:pt x="0" y="2597773"/>
                  </a:cubicBezTo>
                  <a:lnTo>
                    <a:pt x="0" y="23583"/>
                  </a:lnTo>
                  <a:cubicBezTo>
                    <a:pt x="0" y="10558"/>
                    <a:pt x="10558" y="0"/>
                    <a:pt x="2358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323090" cy="26594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2238893" y="7339018"/>
            <a:ext cx="6556339" cy="4881741"/>
          </a:xfrm>
          <a:custGeom>
            <a:avLst/>
            <a:gdLst/>
            <a:ahLst/>
            <a:cxnLst/>
            <a:rect r="r" b="b" t="t" l="l"/>
            <a:pathLst>
              <a:path h="4881741" w="6556339">
                <a:moveTo>
                  <a:pt x="0" y="0"/>
                </a:moveTo>
                <a:lnTo>
                  <a:pt x="6556339" y="0"/>
                </a:lnTo>
                <a:lnTo>
                  <a:pt x="6556339" y="4881741"/>
                </a:lnTo>
                <a:lnTo>
                  <a:pt x="0" y="48817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680211" y="4944284"/>
            <a:ext cx="550013" cy="456288"/>
          </a:xfrm>
          <a:custGeom>
            <a:avLst/>
            <a:gdLst/>
            <a:ahLst/>
            <a:cxnLst/>
            <a:rect r="r" b="b" t="t" l="l"/>
            <a:pathLst>
              <a:path h="456288" w="550013">
                <a:moveTo>
                  <a:pt x="0" y="0"/>
                </a:moveTo>
                <a:lnTo>
                  <a:pt x="550013" y="0"/>
                </a:lnTo>
                <a:lnTo>
                  <a:pt x="550013" y="456288"/>
                </a:lnTo>
                <a:lnTo>
                  <a:pt x="0" y="4562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-20013" b="0"/>
            </a:stretch>
          </a:blipFill>
        </p:spPr>
      </p:sp>
      <p:sp>
        <p:nvSpPr>
          <p:cNvPr name="AutoShape 13" id="13"/>
          <p:cNvSpPr/>
          <p:nvPr/>
        </p:nvSpPr>
        <p:spPr>
          <a:xfrm>
            <a:off x="628726" y="1279706"/>
            <a:ext cx="550013" cy="0"/>
          </a:xfrm>
          <a:prstGeom prst="line">
            <a:avLst/>
          </a:prstGeom>
          <a:ln cap="flat" w="476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>
            <a:off x="628726" y="1427234"/>
            <a:ext cx="550013" cy="0"/>
          </a:xfrm>
          <a:prstGeom prst="line">
            <a:avLst/>
          </a:prstGeom>
          <a:ln cap="flat" w="476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>
            <a:off x="628726" y="1570109"/>
            <a:ext cx="550013" cy="0"/>
          </a:xfrm>
          <a:prstGeom prst="line">
            <a:avLst/>
          </a:prstGeom>
          <a:ln cap="flat" w="476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6" id="16"/>
          <p:cNvSpPr/>
          <p:nvPr/>
        </p:nvSpPr>
        <p:spPr>
          <a:xfrm flipH="false" flipV="false" rot="0">
            <a:off x="628726" y="6029222"/>
            <a:ext cx="652982" cy="652982"/>
          </a:xfrm>
          <a:custGeom>
            <a:avLst/>
            <a:gdLst/>
            <a:ahLst/>
            <a:cxnLst/>
            <a:rect r="r" b="b" t="t" l="l"/>
            <a:pathLst>
              <a:path h="652982" w="652982">
                <a:moveTo>
                  <a:pt x="0" y="0"/>
                </a:moveTo>
                <a:lnTo>
                  <a:pt x="652983" y="0"/>
                </a:lnTo>
                <a:lnTo>
                  <a:pt x="652983" y="652983"/>
                </a:lnTo>
                <a:lnTo>
                  <a:pt x="0" y="65298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628726" y="8621062"/>
            <a:ext cx="652982" cy="652982"/>
          </a:xfrm>
          <a:custGeom>
            <a:avLst/>
            <a:gdLst/>
            <a:ahLst/>
            <a:cxnLst/>
            <a:rect r="r" b="b" t="t" l="l"/>
            <a:pathLst>
              <a:path h="652982" w="652982">
                <a:moveTo>
                  <a:pt x="0" y="0"/>
                </a:moveTo>
                <a:lnTo>
                  <a:pt x="652983" y="0"/>
                </a:lnTo>
                <a:lnTo>
                  <a:pt x="652983" y="652982"/>
                </a:lnTo>
                <a:lnTo>
                  <a:pt x="0" y="65298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3953392" y="9476379"/>
            <a:ext cx="360660" cy="360660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424141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39013" lIns="39013" bIns="39013" rIns="39013"/>
            <a:lstStyle/>
            <a:p>
              <a:pPr algn="ctr" marL="0" indent="0" lvl="0">
                <a:lnSpc>
                  <a:spcPts val="1297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3592697" y="9476379"/>
            <a:ext cx="360660" cy="360660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424141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39013" lIns="39013" bIns="39013" rIns="39013"/>
            <a:lstStyle/>
            <a:p>
              <a:pPr algn="ctr" marL="0" indent="0" lvl="0">
                <a:lnSpc>
                  <a:spcPts val="1297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3232002" y="9476379"/>
            <a:ext cx="360660" cy="360660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E59"/>
            </a:solidFill>
            <a:ln w="19050" cap="sq">
              <a:solidFill>
                <a:srgbClr val="424141"/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39013" lIns="39013" bIns="39013" rIns="39013"/>
            <a:lstStyle/>
            <a:p>
              <a:pPr algn="ctr" marL="0" indent="0" lvl="0">
                <a:lnSpc>
                  <a:spcPts val="1297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2967966" y="1006877"/>
            <a:ext cx="5242478" cy="1122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14"/>
              </a:lnSpc>
            </a:pPr>
            <a:r>
              <a:rPr lang="en-US" b="true" sz="8499" spc="-526">
                <a:solidFill>
                  <a:srgbClr val="42414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MỤC LỤC</a:t>
            </a:r>
          </a:p>
        </p:txBody>
      </p:sp>
      <p:sp>
        <p:nvSpPr>
          <p:cNvPr name="Freeform 28" id="28"/>
          <p:cNvSpPr/>
          <p:nvPr/>
        </p:nvSpPr>
        <p:spPr>
          <a:xfrm flipH="false" flipV="false" rot="0">
            <a:off x="628726" y="7339018"/>
            <a:ext cx="652982" cy="625231"/>
          </a:xfrm>
          <a:custGeom>
            <a:avLst/>
            <a:gdLst/>
            <a:ahLst/>
            <a:cxnLst/>
            <a:rect r="r" b="b" t="t" l="l"/>
            <a:pathLst>
              <a:path h="625231" w="652982">
                <a:moveTo>
                  <a:pt x="0" y="0"/>
                </a:moveTo>
                <a:lnTo>
                  <a:pt x="652983" y="0"/>
                </a:lnTo>
                <a:lnTo>
                  <a:pt x="652983" y="625231"/>
                </a:lnTo>
                <a:lnTo>
                  <a:pt x="0" y="62523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695867" y="3769890"/>
            <a:ext cx="545744" cy="545744"/>
          </a:xfrm>
          <a:custGeom>
            <a:avLst/>
            <a:gdLst/>
            <a:ahLst/>
            <a:cxnLst/>
            <a:rect r="r" b="b" t="t" l="l"/>
            <a:pathLst>
              <a:path h="545744" w="545744">
                <a:moveTo>
                  <a:pt x="0" y="0"/>
                </a:moveTo>
                <a:lnTo>
                  <a:pt x="545743" y="0"/>
                </a:lnTo>
                <a:lnTo>
                  <a:pt x="545743" y="545744"/>
                </a:lnTo>
                <a:lnTo>
                  <a:pt x="0" y="54574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628726" y="2424196"/>
            <a:ext cx="680025" cy="680025"/>
          </a:xfrm>
          <a:custGeom>
            <a:avLst/>
            <a:gdLst/>
            <a:ahLst/>
            <a:cxnLst/>
            <a:rect r="r" b="b" t="t" l="l"/>
            <a:pathLst>
              <a:path h="680025" w="680025">
                <a:moveTo>
                  <a:pt x="0" y="0"/>
                </a:moveTo>
                <a:lnTo>
                  <a:pt x="680025" y="0"/>
                </a:lnTo>
                <a:lnTo>
                  <a:pt x="680025" y="680024"/>
                </a:lnTo>
                <a:lnTo>
                  <a:pt x="0" y="680024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1" id="31"/>
          <p:cNvGrpSpPr/>
          <p:nvPr/>
        </p:nvGrpSpPr>
        <p:grpSpPr>
          <a:xfrm rot="0">
            <a:off x="10787291" y="2563015"/>
            <a:ext cx="6439721" cy="6384539"/>
            <a:chOff x="0" y="0"/>
            <a:chExt cx="3856478" cy="382343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856478" cy="3823431"/>
            </a:xfrm>
            <a:custGeom>
              <a:avLst/>
              <a:gdLst/>
              <a:ahLst/>
              <a:cxnLst/>
              <a:rect r="r" b="b" t="t" l="l"/>
              <a:pathLst>
                <a:path h="3823431" w="3856478">
                  <a:moveTo>
                    <a:pt x="38471" y="0"/>
                  </a:moveTo>
                  <a:lnTo>
                    <a:pt x="3818007" y="0"/>
                  </a:lnTo>
                  <a:cubicBezTo>
                    <a:pt x="3828210" y="0"/>
                    <a:pt x="3837995" y="4053"/>
                    <a:pt x="3845210" y="11268"/>
                  </a:cubicBezTo>
                  <a:cubicBezTo>
                    <a:pt x="3852425" y="18483"/>
                    <a:pt x="3856478" y="28268"/>
                    <a:pt x="3856478" y="38471"/>
                  </a:cubicBezTo>
                  <a:lnTo>
                    <a:pt x="3856478" y="3784960"/>
                  </a:lnTo>
                  <a:cubicBezTo>
                    <a:pt x="3856478" y="3806207"/>
                    <a:pt x="3839254" y="3823431"/>
                    <a:pt x="3818007" y="3823431"/>
                  </a:cubicBezTo>
                  <a:lnTo>
                    <a:pt x="38471" y="3823431"/>
                  </a:lnTo>
                  <a:cubicBezTo>
                    <a:pt x="28268" y="3823431"/>
                    <a:pt x="18483" y="3819378"/>
                    <a:pt x="11268" y="3812163"/>
                  </a:cubicBezTo>
                  <a:cubicBezTo>
                    <a:pt x="4053" y="3804948"/>
                    <a:pt x="0" y="3795163"/>
                    <a:pt x="0" y="3784960"/>
                  </a:cubicBezTo>
                  <a:lnTo>
                    <a:pt x="0" y="38471"/>
                  </a:lnTo>
                  <a:cubicBezTo>
                    <a:pt x="0" y="17224"/>
                    <a:pt x="17224" y="0"/>
                    <a:pt x="38471" y="0"/>
                  </a:cubicBezTo>
                  <a:close/>
                </a:path>
              </a:pathLst>
            </a:custGeom>
            <a:solidFill>
              <a:srgbClr val="2063CD"/>
            </a:solidFill>
            <a:ln w="9525" cap="rnd">
              <a:solidFill>
                <a:srgbClr val="424141"/>
              </a:solidFill>
              <a:prstDash val="solid"/>
              <a:round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3856478" cy="38615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540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1060760" y="2885148"/>
            <a:ext cx="5840770" cy="2497574"/>
            <a:chOff x="0" y="0"/>
            <a:chExt cx="2658793" cy="1136928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658793" cy="1136928"/>
            </a:xfrm>
            <a:custGeom>
              <a:avLst/>
              <a:gdLst/>
              <a:ahLst/>
              <a:cxnLst/>
              <a:rect r="r" b="b" t="t" l="l"/>
              <a:pathLst>
                <a:path h="1136928" w="2658793">
                  <a:moveTo>
                    <a:pt x="22533" y="0"/>
                  </a:moveTo>
                  <a:lnTo>
                    <a:pt x="2636259" y="0"/>
                  </a:lnTo>
                  <a:cubicBezTo>
                    <a:pt x="2642236" y="0"/>
                    <a:pt x="2647967" y="2374"/>
                    <a:pt x="2652193" y="6600"/>
                  </a:cubicBezTo>
                  <a:cubicBezTo>
                    <a:pt x="2656419" y="10826"/>
                    <a:pt x="2658793" y="16557"/>
                    <a:pt x="2658793" y="22533"/>
                  </a:cubicBezTo>
                  <a:lnTo>
                    <a:pt x="2658793" y="1114394"/>
                  </a:lnTo>
                  <a:cubicBezTo>
                    <a:pt x="2658793" y="1126839"/>
                    <a:pt x="2648704" y="1136928"/>
                    <a:pt x="2636259" y="1136928"/>
                  </a:cubicBezTo>
                  <a:lnTo>
                    <a:pt x="22533" y="1136928"/>
                  </a:lnTo>
                  <a:cubicBezTo>
                    <a:pt x="10089" y="1136928"/>
                    <a:pt x="0" y="1126839"/>
                    <a:pt x="0" y="1114394"/>
                  </a:cubicBezTo>
                  <a:lnTo>
                    <a:pt x="0" y="22533"/>
                  </a:lnTo>
                  <a:cubicBezTo>
                    <a:pt x="0" y="10089"/>
                    <a:pt x="10089" y="0"/>
                    <a:pt x="22533" y="0"/>
                  </a:cubicBezTo>
                  <a:close/>
                </a:path>
              </a:pathLst>
            </a:custGeom>
            <a:blipFill>
              <a:blip r:embed="rId16"/>
              <a:stretch>
                <a:fillRect l="0" t="-15772" r="0" b="-15772"/>
              </a:stretch>
            </a:blipFill>
            <a:ln w="9525" cap="sq">
              <a:solidFill>
                <a:srgbClr val="424141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11084385" y="5546650"/>
            <a:ext cx="5793521" cy="3078771"/>
            <a:chOff x="0" y="0"/>
            <a:chExt cx="2637284" cy="1401495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637284" cy="1401495"/>
            </a:xfrm>
            <a:custGeom>
              <a:avLst/>
              <a:gdLst/>
              <a:ahLst/>
              <a:cxnLst/>
              <a:rect r="r" b="b" t="t" l="l"/>
              <a:pathLst>
                <a:path h="1401495" w="2637284">
                  <a:moveTo>
                    <a:pt x="22717" y="0"/>
                  </a:moveTo>
                  <a:lnTo>
                    <a:pt x="2614567" y="0"/>
                  </a:lnTo>
                  <a:cubicBezTo>
                    <a:pt x="2620592" y="0"/>
                    <a:pt x="2626370" y="2393"/>
                    <a:pt x="2630631" y="6654"/>
                  </a:cubicBezTo>
                  <a:cubicBezTo>
                    <a:pt x="2634891" y="10914"/>
                    <a:pt x="2637284" y="16692"/>
                    <a:pt x="2637284" y="22717"/>
                  </a:cubicBezTo>
                  <a:lnTo>
                    <a:pt x="2637284" y="1378778"/>
                  </a:lnTo>
                  <a:cubicBezTo>
                    <a:pt x="2637284" y="1384803"/>
                    <a:pt x="2634891" y="1390581"/>
                    <a:pt x="2630631" y="1394842"/>
                  </a:cubicBezTo>
                  <a:cubicBezTo>
                    <a:pt x="2626370" y="1399102"/>
                    <a:pt x="2620592" y="1401495"/>
                    <a:pt x="2614567" y="1401495"/>
                  </a:cubicBezTo>
                  <a:lnTo>
                    <a:pt x="22717" y="1401495"/>
                  </a:lnTo>
                  <a:cubicBezTo>
                    <a:pt x="16692" y="1401495"/>
                    <a:pt x="10914" y="1399102"/>
                    <a:pt x="6654" y="1394842"/>
                  </a:cubicBezTo>
                  <a:cubicBezTo>
                    <a:pt x="2393" y="1390581"/>
                    <a:pt x="0" y="1384803"/>
                    <a:pt x="0" y="1378778"/>
                  </a:cubicBezTo>
                  <a:lnTo>
                    <a:pt x="0" y="22717"/>
                  </a:lnTo>
                  <a:cubicBezTo>
                    <a:pt x="0" y="16692"/>
                    <a:pt x="2393" y="10914"/>
                    <a:pt x="6654" y="6654"/>
                  </a:cubicBezTo>
                  <a:cubicBezTo>
                    <a:pt x="10914" y="2393"/>
                    <a:pt x="16692" y="0"/>
                    <a:pt x="22717" y="0"/>
                  </a:cubicBezTo>
                  <a:close/>
                </a:path>
              </a:pathLst>
            </a:custGeom>
            <a:blipFill>
              <a:blip r:embed="rId17"/>
              <a:stretch>
                <a:fillRect l="0" t="0" r="0" b="-5927"/>
              </a:stretch>
            </a:blipFill>
            <a:ln w="9525" cap="sq">
              <a:solidFill>
                <a:srgbClr val="424141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16475014" y="2285280"/>
            <a:ext cx="478928" cy="478928"/>
            <a:chOff x="0" y="0"/>
            <a:chExt cx="812800" cy="8128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424141"/>
              </a:solidFill>
              <a:prstDash val="solid"/>
              <a:miter/>
            </a:ln>
          </p:spPr>
        </p:sp>
        <p:sp>
          <p:nvSpPr>
            <p:cNvPr name="TextBox 40" id="40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39013" lIns="39013" bIns="39013" rIns="39013"/>
            <a:lstStyle/>
            <a:p>
              <a:pPr algn="ctr" marL="0" indent="0" lvl="0">
                <a:lnSpc>
                  <a:spcPts val="1297"/>
                </a:lnSpc>
              </a:pP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5996038" y="2285280"/>
            <a:ext cx="478928" cy="478928"/>
            <a:chOff x="0" y="0"/>
            <a:chExt cx="812800" cy="8128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424141"/>
              </a:solidFill>
              <a:prstDash val="solid"/>
              <a:miter/>
            </a:ln>
          </p:spPr>
        </p:sp>
        <p:sp>
          <p:nvSpPr>
            <p:cNvPr name="TextBox 43" id="43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39013" lIns="39013" bIns="39013" rIns="39013"/>
            <a:lstStyle/>
            <a:p>
              <a:pPr algn="ctr" marL="0" indent="0" lvl="0">
                <a:lnSpc>
                  <a:spcPts val="1297"/>
                </a:lnSpc>
              </a:pP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5517062" y="2285280"/>
            <a:ext cx="478928" cy="478928"/>
            <a:chOff x="0" y="0"/>
            <a:chExt cx="812800" cy="8128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E59"/>
            </a:solidFill>
            <a:ln w="19050" cap="sq">
              <a:solidFill>
                <a:srgbClr val="424141"/>
              </a:solidFill>
              <a:prstDash val="solid"/>
              <a:miter/>
            </a:ln>
          </p:spPr>
        </p:sp>
        <p:sp>
          <p:nvSpPr>
            <p:cNvPr name="TextBox 46" id="46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39013" lIns="39013" bIns="39013" rIns="39013"/>
            <a:lstStyle/>
            <a:p>
              <a:pPr algn="ctr" marL="0" indent="0" lvl="0">
                <a:lnSpc>
                  <a:spcPts val="1297"/>
                </a:lnSpc>
              </a:pP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2683293" y="2357521"/>
            <a:ext cx="7627747" cy="6891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64364" indent="-382182" lvl="1">
              <a:lnSpc>
                <a:spcPts val="4956"/>
              </a:lnSpc>
              <a:buFont typeface="Arial"/>
              <a:buChar char="•"/>
            </a:pPr>
            <a:r>
              <a:rPr lang="en-US" sz="3540" spc="-130">
                <a:solidFill>
                  <a:srgbClr val="424141"/>
                </a:solidFill>
                <a:latin typeface="Montserrat"/>
                <a:ea typeface="Montserrat"/>
                <a:cs typeface="Montserrat"/>
                <a:sym typeface="Montserrat"/>
              </a:rPr>
              <a:t>Đ</a:t>
            </a:r>
            <a:r>
              <a:rPr lang="en-US" sz="3540" spc="-130">
                <a:solidFill>
                  <a:srgbClr val="424141"/>
                </a:solidFill>
                <a:latin typeface="Montserrat"/>
                <a:ea typeface="Montserrat"/>
                <a:cs typeface="Montserrat"/>
                <a:sym typeface="Montserrat"/>
              </a:rPr>
              <a:t>ặt vấn đề &amp; Động lực</a:t>
            </a:r>
          </a:p>
          <a:p>
            <a:pPr algn="l" marL="764364" indent="-382182" lvl="1">
              <a:lnSpc>
                <a:spcPts val="4956"/>
              </a:lnSpc>
              <a:buFont typeface="Arial"/>
              <a:buChar char="•"/>
            </a:pPr>
            <a:r>
              <a:rPr lang="en-US" sz="3540" spc="-130">
                <a:solidFill>
                  <a:srgbClr val="424141"/>
                </a:solidFill>
                <a:latin typeface="Montserrat"/>
                <a:ea typeface="Montserrat"/>
                <a:cs typeface="Montserrat"/>
                <a:sym typeface="Montserrat"/>
              </a:rPr>
              <a:t>Mục tiêu nghiên cứu</a:t>
            </a:r>
          </a:p>
          <a:p>
            <a:pPr algn="l" marL="764364" indent="-382182" lvl="1">
              <a:lnSpc>
                <a:spcPts val="4956"/>
              </a:lnSpc>
              <a:buFont typeface="Arial"/>
              <a:buChar char="•"/>
            </a:pPr>
            <a:r>
              <a:rPr lang="en-US" sz="3540" spc="-130">
                <a:solidFill>
                  <a:srgbClr val="424141"/>
                </a:solidFill>
                <a:latin typeface="Montserrat"/>
                <a:ea typeface="Montserrat"/>
                <a:cs typeface="Montserrat"/>
                <a:sym typeface="Montserrat"/>
              </a:rPr>
              <a:t>Thuật toán Global HE</a:t>
            </a:r>
          </a:p>
          <a:p>
            <a:pPr algn="l" marL="764364" indent="-382182" lvl="1">
              <a:lnSpc>
                <a:spcPts val="4956"/>
              </a:lnSpc>
              <a:buFont typeface="Arial"/>
              <a:buChar char="•"/>
            </a:pPr>
            <a:r>
              <a:rPr lang="en-US" sz="3540" spc="-130">
                <a:solidFill>
                  <a:srgbClr val="424141"/>
                </a:solidFill>
                <a:latin typeface="Montserrat"/>
                <a:ea typeface="Montserrat"/>
                <a:cs typeface="Montserrat"/>
                <a:sym typeface="Montserrat"/>
              </a:rPr>
              <a:t>Thuật toán CLAHE</a:t>
            </a:r>
          </a:p>
          <a:p>
            <a:pPr algn="l" marL="764364" indent="-382182" lvl="1">
              <a:lnSpc>
                <a:spcPts val="4956"/>
              </a:lnSpc>
              <a:buFont typeface="Arial"/>
              <a:buChar char="•"/>
            </a:pPr>
            <a:r>
              <a:rPr lang="en-US" sz="3540" spc="-130">
                <a:solidFill>
                  <a:srgbClr val="424141"/>
                </a:solidFill>
                <a:latin typeface="Montserrat"/>
                <a:ea typeface="Montserrat"/>
                <a:cs typeface="Montserrat"/>
                <a:sym typeface="Montserrat"/>
              </a:rPr>
              <a:t>Xử lý ảnh màu YCrCb</a:t>
            </a:r>
          </a:p>
          <a:p>
            <a:pPr algn="l" marL="764364" indent="-382182" lvl="1">
              <a:lnSpc>
                <a:spcPts val="4956"/>
              </a:lnSpc>
              <a:buFont typeface="Arial"/>
              <a:buChar char="•"/>
            </a:pPr>
            <a:r>
              <a:rPr lang="en-US" sz="3540" spc="-130">
                <a:solidFill>
                  <a:srgbClr val="424141"/>
                </a:solidFill>
                <a:latin typeface="Montserrat"/>
                <a:ea typeface="Montserrat"/>
                <a:cs typeface="Montserrat"/>
                <a:sym typeface="Montserrat"/>
              </a:rPr>
              <a:t>Cấu trúc mô-dun mã nguồn</a:t>
            </a:r>
          </a:p>
          <a:p>
            <a:pPr algn="l" marL="764364" indent="-382182" lvl="1">
              <a:lnSpc>
                <a:spcPts val="4956"/>
              </a:lnSpc>
              <a:buFont typeface="Arial"/>
              <a:buChar char="•"/>
            </a:pPr>
            <a:r>
              <a:rPr lang="en-US" sz="3540" spc="-130">
                <a:solidFill>
                  <a:srgbClr val="424141"/>
                </a:solidFill>
                <a:latin typeface="Montserrat"/>
                <a:ea typeface="Montserrat"/>
                <a:cs typeface="Montserrat"/>
                <a:sym typeface="Montserrat"/>
              </a:rPr>
              <a:t>Bộ chỉ số Metrics</a:t>
            </a:r>
          </a:p>
          <a:p>
            <a:pPr algn="l" marL="764364" indent="-382182" lvl="1">
              <a:lnSpc>
                <a:spcPts val="4956"/>
              </a:lnSpc>
              <a:buFont typeface="Arial"/>
              <a:buChar char="•"/>
            </a:pPr>
            <a:r>
              <a:rPr lang="en-US" sz="3540" spc="-130">
                <a:solidFill>
                  <a:srgbClr val="424141"/>
                </a:solidFill>
                <a:latin typeface="Montserrat"/>
                <a:ea typeface="Montserrat"/>
                <a:cs typeface="Montserrat"/>
                <a:sym typeface="Montserrat"/>
              </a:rPr>
              <a:t>Kết quả trực quan</a:t>
            </a:r>
          </a:p>
          <a:p>
            <a:pPr algn="l" marL="764364" indent="-382182" lvl="1">
              <a:lnSpc>
                <a:spcPts val="4956"/>
              </a:lnSpc>
              <a:buFont typeface="Arial"/>
              <a:buChar char="•"/>
            </a:pPr>
            <a:r>
              <a:rPr lang="en-US" sz="3540" spc="-130">
                <a:solidFill>
                  <a:srgbClr val="424141"/>
                </a:solidFill>
                <a:latin typeface="Montserrat"/>
                <a:ea typeface="Montserrat"/>
                <a:cs typeface="Montserrat"/>
                <a:sym typeface="Montserrat"/>
              </a:rPr>
              <a:t>Khảo sát đa tham số CLAHE</a:t>
            </a:r>
          </a:p>
          <a:p>
            <a:pPr algn="l" marL="764364" indent="-382182" lvl="1">
              <a:lnSpc>
                <a:spcPts val="4956"/>
              </a:lnSpc>
              <a:buFont typeface="Arial"/>
              <a:buChar char="•"/>
            </a:pPr>
            <a:r>
              <a:rPr lang="en-US" sz="3540" spc="-130">
                <a:solidFill>
                  <a:srgbClr val="424141"/>
                </a:solidFill>
                <a:latin typeface="Montserrat"/>
                <a:ea typeface="Montserrat"/>
                <a:cs typeface="Montserrat"/>
                <a:sym typeface="Montserrat"/>
              </a:rPr>
              <a:t>So sánh định lượng &amp; Ưu/Nhược</a:t>
            </a:r>
          </a:p>
          <a:p>
            <a:pPr algn="l" marL="764364" indent="-382182" lvl="1">
              <a:lnSpc>
                <a:spcPts val="4956"/>
              </a:lnSpc>
              <a:buFont typeface="Arial"/>
              <a:buChar char="•"/>
            </a:pPr>
            <a:r>
              <a:rPr lang="en-US" sz="3540" spc="-130">
                <a:solidFill>
                  <a:srgbClr val="424141"/>
                </a:solidFill>
                <a:latin typeface="Montserrat"/>
                <a:ea typeface="Montserrat"/>
                <a:cs typeface="Montserrat"/>
                <a:sym typeface="Montserrat"/>
              </a:rPr>
              <a:t>Web Streamlit &amp; Kết luận</a:t>
            </a:r>
          </a:p>
        </p:txBody>
      </p:sp>
      <p:grpSp>
        <p:nvGrpSpPr>
          <p:cNvPr name="Group 48" id="48"/>
          <p:cNvGrpSpPr/>
          <p:nvPr/>
        </p:nvGrpSpPr>
        <p:grpSpPr>
          <a:xfrm rot="0">
            <a:off x="14394969" y="1208043"/>
            <a:ext cx="2864331" cy="662597"/>
            <a:chOff x="0" y="0"/>
            <a:chExt cx="890574" cy="206014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890574" cy="206014"/>
            </a:xfrm>
            <a:custGeom>
              <a:avLst/>
              <a:gdLst/>
              <a:ahLst/>
              <a:cxnLst/>
              <a:rect r="r" b="b" t="t" l="l"/>
              <a:pathLst>
                <a:path h="206014" w="890574">
                  <a:moveTo>
                    <a:pt x="54057" y="0"/>
                  </a:moveTo>
                  <a:lnTo>
                    <a:pt x="836516" y="0"/>
                  </a:lnTo>
                  <a:cubicBezTo>
                    <a:pt x="850853" y="0"/>
                    <a:pt x="864603" y="5695"/>
                    <a:pt x="874741" y="15833"/>
                  </a:cubicBezTo>
                  <a:cubicBezTo>
                    <a:pt x="884878" y="25971"/>
                    <a:pt x="890574" y="39721"/>
                    <a:pt x="890574" y="54057"/>
                  </a:cubicBezTo>
                  <a:lnTo>
                    <a:pt x="890574" y="151956"/>
                  </a:lnTo>
                  <a:cubicBezTo>
                    <a:pt x="890574" y="181811"/>
                    <a:pt x="866371" y="206014"/>
                    <a:pt x="836516" y="206014"/>
                  </a:cubicBezTo>
                  <a:lnTo>
                    <a:pt x="54057" y="206014"/>
                  </a:lnTo>
                  <a:cubicBezTo>
                    <a:pt x="39721" y="206014"/>
                    <a:pt x="25971" y="200318"/>
                    <a:pt x="15833" y="190181"/>
                  </a:cubicBezTo>
                  <a:cubicBezTo>
                    <a:pt x="5695" y="180043"/>
                    <a:pt x="0" y="166293"/>
                    <a:pt x="0" y="151956"/>
                  </a:cubicBezTo>
                  <a:lnTo>
                    <a:pt x="0" y="54057"/>
                  </a:lnTo>
                  <a:cubicBezTo>
                    <a:pt x="0" y="24202"/>
                    <a:pt x="24202" y="0"/>
                    <a:pt x="54057" y="0"/>
                  </a:cubicBezTo>
                  <a:close/>
                </a:path>
              </a:pathLst>
            </a:custGeom>
            <a:ln w="28575" cap="sq">
              <a:solidFill>
                <a:srgbClr val="424141"/>
              </a:solidFill>
              <a:prstDash val="solid"/>
              <a:miter/>
            </a:ln>
          </p:spPr>
        </p:sp>
        <p:sp>
          <p:nvSpPr>
            <p:cNvPr name="TextBox 50" id="50"/>
            <p:cNvSpPr txBox="true"/>
            <p:nvPr/>
          </p:nvSpPr>
          <p:spPr>
            <a:xfrm>
              <a:off x="0" y="-9525"/>
              <a:ext cx="890574" cy="2155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560"/>
                </a:lnSpc>
              </a:pPr>
            </a:p>
          </p:txBody>
        </p:sp>
      </p:grpSp>
      <p:sp>
        <p:nvSpPr>
          <p:cNvPr name="TextBox 51" id="51"/>
          <p:cNvSpPr txBox="true"/>
          <p:nvPr/>
        </p:nvSpPr>
        <p:spPr>
          <a:xfrm rot="0">
            <a:off x="14394969" y="1409623"/>
            <a:ext cx="2864331" cy="280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87"/>
              </a:lnSpc>
            </a:pPr>
            <a:r>
              <a:rPr lang="en-US" sz="1705" spc="-37">
                <a:solidFill>
                  <a:srgbClr val="424141"/>
                </a:solidFill>
                <a:latin typeface="Montserrat"/>
                <a:ea typeface="Montserrat"/>
                <a:cs typeface="Montserrat"/>
                <a:sym typeface="Montserrat"/>
              </a:rPr>
              <a:t>XỬ LÝ ẢNH SỐ</a:t>
            </a:r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2388C">
                <a:alpha val="100000"/>
              </a:srgbClr>
            </a:gs>
            <a:gs pos="100000">
              <a:srgbClr val="3893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09814" y="167020"/>
            <a:ext cx="2323166" cy="9952960"/>
            <a:chOff x="0" y="0"/>
            <a:chExt cx="611863" cy="262135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11863" cy="2621356"/>
            </a:xfrm>
            <a:custGeom>
              <a:avLst/>
              <a:gdLst/>
              <a:ahLst/>
              <a:cxnLst/>
              <a:rect r="r" b="b" t="t" l="l"/>
              <a:pathLst>
                <a:path h="2621356" w="611863">
                  <a:moveTo>
                    <a:pt x="166624" y="0"/>
                  </a:moveTo>
                  <a:lnTo>
                    <a:pt x="445238" y="0"/>
                  </a:lnTo>
                  <a:cubicBezTo>
                    <a:pt x="537262" y="0"/>
                    <a:pt x="611863" y="74600"/>
                    <a:pt x="611863" y="166624"/>
                  </a:cubicBezTo>
                  <a:lnTo>
                    <a:pt x="611863" y="2454731"/>
                  </a:lnTo>
                  <a:cubicBezTo>
                    <a:pt x="611863" y="2546755"/>
                    <a:pt x="537262" y="2621356"/>
                    <a:pt x="445238" y="2621356"/>
                  </a:cubicBezTo>
                  <a:lnTo>
                    <a:pt x="166624" y="2621356"/>
                  </a:lnTo>
                  <a:cubicBezTo>
                    <a:pt x="74600" y="2621356"/>
                    <a:pt x="0" y="2546755"/>
                    <a:pt x="0" y="2454731"/>
                  </a:cubicBezTo>
                  <a:lnTo>
                    <a:pt x="0" y="166624"/>
                  </a:lnTo>
                  <a:cubicBezTo>
                    <a:pt x="0" y="74600"/>
                    <a:pt x="74600" y="0"/>
                    <a:pt x="166624" y="0"/>
                  </a:cubicBezTo>
                  <a:close/>
                </a:path>
              </a:pathLst>
            </a:custGeom>
            <a:solidFill>
              <a:srgbClr val="2063C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611863" cy="26594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47691" y="3562260"/>
            <a:ext cx="1387838" cy="961005"/>
            <a:chOff x="0" y="0"/>
            <a:chExt cx="365521" cy="25310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65521" cy="253104"/>
            </a:xfrm>
            <a:custGeom>
              <a:avLst/>
              <a:gdLst/>
              <a:ahLst/>
              <a:cxnLst/>
              <a:rect r="r" b="b" t="t" l="l"/>
              <a:pathLst>
                <a:path h="253104" w="365521">
                  <a:moveTo>
                    <a:pt x="126552" y="0"/>
                  </a:moveTo>
                  <a:lnTo>
                    <a:pt x="238969" y="0"/>
                  </a:lnTo>
                  <a:cubicBezTo>
                    <a:pt x="308862" y="0"/>
                    <a:pt x="365521" y="56659"/>
                    <a:pt x="365521" y="126552"/>
                  </a:cubicBezTo>
                  <a:lnTo>
                    <a:pt x="365521" y="126552"/>
                  </a:lnTo>
                  <a:cubicBezTo>
                    <a:pt x="365521" y="196445"/>
                    <a:pt x="308862" y="253104"/>
                    <a:pt x="238969" y="253104"/>
                  </a:cubicBezTo>
                  <a:lnTo>
                    <a:pt x="126552" y="253104"/>
                  </a:lnTo>
                  <a:cubicBezTo>
                    <a:pt x="56659" y="253104"/>
                    <a:pt x="0" y="196445"/>
                    <a:pt x="0" y="126552"/>
                  </a:cubicBezTo>
                  <a:lnTo>
                    <a:pt x="0" y="126552"/>
                  </a:lnTo>
                  <a:cubicBezTo>
                    <a:pt x="0" y="56659"/>
                    <a:pt x="56659" y="0"/>
                    <a:pt x="12655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65521" cy="2912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597652" y="167020"/>
            <a:ext cx="16414232" cy="9952960"/>
            <a:chOff x="0" y="0"/>
            <a:chExt cx="4323090" cy="262135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323090" cy="2621356"/>
            </a:xfrm>
            <a:custGeom>
              <a:avLst/>
              <a:gdLst/>
              <a:ahLst/>
              <a:cxnLst/>
              <a:rect r="r" b="b" t="t" l="l"/>
              <a:pathLst>
                <a:path h="2621356" w="4323090">
                  <a:moveTo>
                    <a:pt x="23583" y="0"/>
                  </a:moveTo>
                  <a:lnTo>
                    <a:pt x="4299507" y="0"/>
                  </a:lnTo>
                  <a:cubicBezTo>
                    <a:pt x="4312532" y="0"/>
                    <a:pt x="4323090" y="10558"/>
                    <a:pt x="4323090" y="23583"/>
                  </a:cubicBezTo>
                  <a:lnTo>
                    <a:pt x="4323090" y="2597773"/>
                  </a:lnTo>
                  <a:cubicBezTo>
                    <a:pt x="4323090" y="2610797"/>
                    <a:pt x="4312532" y="2621356"/>
                    <a:pt x="4299507" y="2621356"/>
                  </a:cubicBezTo>
                  <a:lnTo>
                    <a:pt x="23583" y="2621356"/>
                  </a:lnTo>
                  <a:cubicBezTo>
                    <a:pt x="10558" y="2621356"/>
                    <a:pt x="0" y="2610797"/>
                    <a:pt x="0" y="2597773"/>
                  </a:cubicBezTo>
                  <a:lnTo>
                    <a:pt x="0" y="23583"/>
                  </a:lnTo>
                  <a:cubicBezTo>
                    <a:pt x="0" y="10558"/>
                    <a:pt x="10558" y="0"/>
                    <a:pt x="2358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323090" cy="26594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680211" y="4944284"/>
            <a:ext cx="550013" cy="456288"/>
          </a:xfrm>
          <a:custGeom>
            <a:avLst/>
            <a:gdLst/>
            <a:ahLst/>
            <a:cxnLst/>
            <a:rect r="r" b="b" t="t" l="l"/>
            <a:pathLst>
              <a:path h="456288" w="550013">
                <a:moveTo>
                  <a:pt x="0" y="0"/>
                </a:moveTo>
                <a:lnTo>
                  <a:pt x="550013" y="0"/>
                </a:lnTo>
                <a:lnTo>
                  <a:pt x="550013" y="456288"/>
                </a:lnTo>
                <a:lnTo>
                  <a:pt x="0" y="4562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-20013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2058115" y="5751211"/>
            <a:ext cx="5201185" cy="2924972"/>
            <a:chOff x="0" y="0"/>
            <a:chExt cx="3114770" cy="175164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114771" cy="1751643"/>
            </a:xfrm>
            <a:custGeom>
              <a:avLst/>
              <a:gdLst/>
              <a:ahLst/>
              <a:cxnLst/>
              <a:rect r="r" b="b" t="t" l="l"/>
              <a:pathLst>
                <a:path h="1751643" w="3114771">
                  <a:moveTo>
                    <a:pt x="47632" y="0"/>
                  </a:moveTo>
                  <a:lnTo>
                    <a:pt x="3067139" y="0"/>
                  </a:lnTo>
                  <a:cubicBezTo>
                    <a:pt x="3079772" y="0"/>
                    <a:pt x="3091887" y="5018"/>
                    <a:pt x="3100819" y="13951"/>
                  </a:cubicBezTo>
                  <a:cubicBezTo>
                    <a:pt x="3109752" y="22884"/>
                    <a:pt x="3114771" y="34999"/>
                    <a:pt x="3114771" y="47632"/>
                  </a:cubicBezTo>
                  <a:lnTo>
                    <a:pt x="3114771" y="1704011"/>
                  </a:lnTo>
                  <a:cubicBezTo>
                    <a:pt x="3114771" y="1716643"/>
                    <a:pt x="3109752" y="1728759"/>
                    <a:pt x="3100819" y="1737691"/>
                  </a:cubicBezTo>
                  <a:cubicBezTo>
                    <a:pt x="3091887" y="1746624"/>
                    <a:pt x="3079772" y="1751643"/>
                    <a:pt x="3067139" y="1751643"/>
                  </a:cubicBezTo>
                  <a:lnTo>
                    <a:pt x="47632" y="1751643"/>
                  </a:lnTo>
                  <a:cubicBezTo>
                    <a:pt x="34999" y="1751643"/>
                    <a:pt x="22884" y="1746624"/>
                    <a:pt x="13951" y="1737691"/>
                  </a:cubicBezTo>
                  <a:cubicBezTo>
                    <a:pt x="5018" y="1728759"/>
                    <a:pt x="0" y="1716643"/>
                    <a:pt x="0" y="1704011"/>
                  </a:cubicBezTo>
                  <a:lnTo>
                    <a:pt x="0" y="47632"/>
                  </a:lnTo>
                  <a:cubicBezTo>
                    <a:pt x="0" y="34999"/>
                    <a:pt x="5018" y="22884"/>
                    <a:pt x="13951" y="13951"/>
                  </a:cubicBezTo>
                  <a:cubicBezTo>
                    <a:pt x="22884" y="5018"/>
                    <a:pt x="34999" y="0"/>
                    <a:pt x="47632" y="0"/>
                  </a:cubicBezTo>
                  <a:close/>
                </a:path>
              </a:pathLst>
            </a:custGeom>
            <a:solidFill>
              <a:srgbClr val="EB574C"/>
            </a:solidFill>
            <a:ln w="9525" cap="rnd">
              <a:solidFill>
                <a:srgbClr val="424141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3114770" cy="17897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54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375322" y="6029222"/>
            <a:ext cx="1785539" cy="2096766"/>
            <a:chOff x="0" y="0"/>
            <a:chExt cx="812800" cy="95447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954475"/>
            </a:xfrm>
            <a:custGeom>
              <a:avLst/>
              <a:gdLst/>
              <a:ahLst/>
              <a:cxnLst/>
              <a:rect r="r" b="b" t="t" l="l"/>
              <a:pathLst>
                <a:path h="954475" w="812800">
                  <a:moveTo>
                    <a:pt x="73710" y="0"/>
                  </a:moveTo>
                  <a:lnTo>
                    <a:pt x="739090" y="0"/>
                  </a:lnTo>
                  <a:cubicBezTo>
                    <a:pt x="758639" y="0"/>
                    <a:pt x="777387" y="7766"/>
                    <a:pt x="791211" y="21589"/>
                  </a:cubicBezTo>
                  <a:cubicBezTo>
                    <a:pt x="805034" y="35413"/>
                    <a:pt x="812800" y="54161"/>
                    <a:pt x="812800" y="73710"/>
                  </a:cubicBezTo>
                  <a:lnTo>
                    <a:pt x="812800" y="880764"/>
                  </a:lnTo>
                  <a:cubicBezTo>
                    <a:pt x="812800" y="900314"/>
                    <a:pt x="805034" y="919062"/>
                    <a:pt x="791211" y="932885"/>
                  </a:cubicBezTo>
                  <a:cubicBezTo>
                    <a:pt x="777387" y="946709"/>
                    <a:pt x="758639" y="954475"/>
                    <a:pt x="739090" y="954475"/>
                  </a:cubicBezTo>
                  <a:lnTo>
                    <a:pt x="73710" y="954475"/>
                  </a:lnTo>
                  <a:cubicBezTo>
                    <a:pt x="54161" y="954475"/>
                    <a:pt x="35413" y="946709"/>
                    <a:pt x="21589" y="932885"/>
                  </a:cubicBezTo>
                  <a:cubicBezTo>
                    <a:pt x="7766" y="919062"/>
                    <a:pt x="0" y="900314"/>
                    <a:pt x="0" y="880764"/>
                  </a:cubicBezTo>
                  <a:lnTo>
                    <a:pt x="0" y="73710"/>
                  </a:lnTo>
                  <a:cubicBezTo>
                    <a:pt x="0" y="54161"/>
                    <a:pt x="7766" y="35413"/>
                    <a:pt x="21589" y="21589"/>
                  </a:cubicBezTo>
                  <a:cubicBezTo>
                    <a:pt x="35413" y="7766"/>
                    <a:pt x="54161" y="0"/>
                    <a:pt x="73710" y="0"/>
                  </a:cubicBezTo>
                  <a:close/>
                </a:path>
              </a:pathLst>
            </a:custGeom>
            <a:blipFill>
              <a:blip r:embed="rId4"/>
              <a:stretch>
                <a:fillRect l="-33255" t="0" r="-42729" b="0"/>
              </a:stretch>
            </a:blipFill>
            <a:ln w="9525" cap="sq">
              <a:solidFill>
                <a:srgbClr val="424141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14394969" y="6029222"/>
            <a:ext cx="2585224" cy="2096766"/>
            <a:chOff x="0" y="0"/>
            <a:chExt cx="1176827" cy="95447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176827" cy="954475"/>
            </a:xfrm>
            <a:custGeom>
              <a:avLst/>
              <a:gdLst/>
              <a:ahLst/>
              <a:cxnLst/>
              <a:rect r="r" b="b" t="t" l="l"/>
              <a:pathLst>
                <a:path h="954475" w="1176827">
                  <a:moveTo>
                    <a:pt x="50910" y="0"/>
                  </a:moveTo>
                  <a:lnTo>
                    <a:pt x="1125917" y="0"/>
                  </a:lnTo>
                  <a:cubicBezTo>
                    <a:pt x="1154034" y="0"/>
                    <a:pt x="1176827" y="22793"/>
                    <a:pt x="1176827" y="50910"/>
                  </a:cubicBezTo>
                  <a:lnTo>
                    <a:pt x="1176827" y="903565"/>
                  </a:lnTo>
                  <a:cubicBezTo>
                    <a:pt x="1176827" y="917067"/>
                    <a:pt x="1171463" y="930016"/>
                    <a:pt x="1161916" y="939564"/>
                  </a:cubicBezTo>
                  <a:cubicBezTo>
                    <a:pt x="1152369" y="949111"/>
                    <a:pt x="1139420" y="954475"/>
                    <a:pt x="1125917" y="954475"/>
                  </a:cubicBezTo>
                  <a:lnTo>
                    <a:pt x="50910" y="954475"/>
                  </a:lnTo>
                  <a:cubicBezTo>
                    <a:pt x="37408" y="954475"/>
                    <a:pt x="24458" y="949111"/>
                    <a:pt x="14911" y="939564"/>
                  </a:cubicBezTo>
                  <a:cubicBezTo>
                    <a:pt x="5364" y="930016"/>
                    <a:pt x="0" y="917067"/>
                    <a:pt x="0" y="903565"/>
                  </a:cubicBezTo>
                  <a:lnTo>
                    <a:pt x="0" y="50910"/>
                  </a:lnTo>
                  <a:cubicBezTo>
                    <a:pt x="0" y="37408"/>
                    <a:pt x="5364" y="24458"/>
                    <a:pt x="14911" y="14911"/>
                  </a:cubicBezTo>
                  <a:cubicBezTo>
                    <a:pt x="24458" y="5364"/>
                    <a:pt x="37408" y="0"/>
                    <a:pt x="50910" y="0"/>
                  </a:cubicBezTo>
                  <a:close/>
                </a:path>
              </a:pathLst>
            </a:custGeom>
            <a:blipFill>
              <a:blip r:embed="rId5"/>
              <a:stretch>
                <a:fillRect l="-13279" t="0" r="-29638" b="0"/>
              </a:stretch>
            </a:blipFill>
            <a:ln w="9525" cap="sq">
              <a:solidFill>
                <a:srgbClr val="424141"/>
              </a:solidFill>
              <a:prstDash val="solid"/>
              <a:miter/>
            </a:ln>
          </p:spPr>
        </p:sp>
      </p:grpSp>
      <p:sp>
        <p:nvSpPr>
          <p:cNvPr name="TextBox 19" id="19"/>
          <p:cNvSpPr txBox="true"/>
          <p:nvPr/>
        </p:nvSpPr>
        <p:spPr>
          <a:xfrm rot="0">
            <a:off x="2743200" y="847725"/>
            <a:ext cx="8848725" cy="2616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369"/>
              </a:lnSpc>
              <a:spcBef>
                <a:spcPct val="0"/>
              </a:spcBef>
            </a:pPr>
            <a:r>
              <a:rPr lang="en-US" b="true" sz="8499" spc="-526">
                <a:solidFill>
                  <a:srgbClr val="42414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ĐẶT VẤN ĐỀ &amp; ĐỘNG LỰC </a:t>
            </a:r>
          </a:p>
        </p:txBody>
      </p:sp>
      <p:sp>
        <p:nvSpPr>
          <p:cNvPr name="Freeform 20" id="20"/>
          <p:cNvSpPr/>
          <p:nvPr/>
        </p:nvSpPr>
        <p:spPr>
          <a:xfrm flipH="true" flipV="false" rot="0">
            <a:off x="8673193" y="2424196"/>
            <a:ext cx="941613" cy="818027"/>
          </a:xfrm>
          <a:custGeom>
            <a:avLst/>
            <a:gdLst/>
            <a:ahLst/>
            <a:cxnLst/>
            <a:rect r="r" b="b" t="t" l="l"/>
            <a:pathLst>
              <a:path h="818027" w="941613">
                <a:moveTo>
                  <a:pt x="941614" y="0"/>
                </a:moveTo>
                <a:lnTo>
                  <a:pt x="0" y="0"/>
                </a:lnTo>
                <a:lnTo>
                  <a:pt x="0" y="818026"/>
                </a:lnTo>
                <a:lnTo>
                  <a:pt x="941614" y="818026"/>
                </a:lnTo>
                <a:lnTo>
                  <a:pt x="941614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21" id="21"/>
          <p:cNvSpPr/>
          <p:nvPr/>
        </p:nvSpPr>
        <p:spPr>
          <a:xfrm>
            <a:off x="628726" y="1279706"/>
            <a:ext cx="550013" cy="0"/>
          </a:xfrm>
          <a:prstGeom prst="line">
            <a:avLst/>
          </a:prstGeom>
          <a:ln cap="flat" w="476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2" id="22"/>
          <p:cNvSpPr/>
          <p:nvPr/>
        </p:nvSpPr>
        <p:spPr>
          <a:xfrm>
            <a:off x="628726" y="1427234"/>
            <a:ext cx="550013" cy="0"/>
          </a:xfrm>
          <a:prstGeom prst="line">
            <a:avLst/>
          </a:prstGeom>
          <a:ln cap="flat" w="476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3" id="23"/>
          <p:cNvSpPr/>
          <p:nvPr/>
        </p:nvSpPr>
        <p:spPr>
          <a:xfrm>
            <a:off x="628726" y="1570109"/>
            <a:ext cx="550013" cy="0"/>
          </a:xfrm>
          <a:prstGeom prst="line">
            <a:avLst/>
          </a:prstGeom>
          <a:ln cap="flat" w="476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4" id="24"/>
          <p:cNvSpPr/>
          <p:nvPr/>
        </p:nvSpPr>
        <p:spPr>
          <a:xfrm flipH="false" flipV="false" rot="0">
            <a:off x="628726" y="6029222"/>
            <a:ext cx="652982" cy="652982"/>
          </a:xfrm>
          <a:custGeom>
            <a:avLst/>
            <a:gdLst/>
            <a:ahLst/>
            <a:cxnLst/>
            <a:rect r="r" b="b" t="t" l="l"/>
            <a:pathLst>
              <a:path h="652982" w="652982">
                <a:moveTo>
                  <a:pt x="0" y="0"/>
                </a:moveTo>
                <a:lnTo>
                  <a:pt x="652983" y="0"/>
                </a:lnTo>
                <a:lnTo>
                  <a:pt x="652983" y="652983"/>
                </a:lnTo>
                <a:lnTo>
                  <a:pt x="0" y="65298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5" id="25"/>
          <p:cNvGrpSpPr/>
          <p:nvPr/>
        </p:nvGrpSpPr>
        <p:grpSpPr>
          <a:xfrm rot="0">
            <a:off x="12121219" y="2424196"/>
            <a:ext cx="5138081" cy="2967819"/>
            <a:chOff x="0" y="0"/>
            <a:chExt cx="1176827" cy="67975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176827" cy="679750"/>
            </a:xfrm>
            <a:custGeom>
              <a:avLst/>
              <a:gdLst/>
              <a:ahLst/>
              <a:cxnLst/>
              <a:rect r="r" b="b" t="t" l="l"/>
              <a:pathLst>
                <a:path h="679750" w="1176827">
                  <a:moveTo>
                    <a:pt x="25615" y="0"/>
                  </a:moveTo>
                  <a:lnTo>
                    <a:pt x="1151212" y="0"/>
                  </a:lnTo>
                  <a:cubicBezTo>
                    <a:pt x="1158005" y="0"/>
                    <a:pt x="1164521" y="2699"/>
                    <a:pt x="1169324" y="7502"/>
                  </a:cubicBezTo>
                  <a:cubicBezTo>
                    <a:pt x="1174128" y="12306"/>
                    <a:pt x="1176827" y="18822"/>
                    <a:pt x="1176827" y="25615"/>
                  </a:cubicBezTo>
                  <a:lnTo>
                    <a:pt x="1176827" y="654135"/>
                  </a:lnTo>
                  <a:cubicBezTo>
                    <a:pt x="1176827" y="660928"/>
                    <a:pt x="1174128" y="667444"/>
                    <a:pt x="1169324" y="672247"/>
                  </a:cubicBezTo>
                  <a:cubicBezTo>
                    <a:pt x="1164521" y="677051"/>
                    <a:pt x="1158005" y="679750"/>
                    <a:pt x="1151212" y="679750"/>
                  </a:cubicBezTo>
                  <a:lnTo>
                    <a:pt x="25615" y="679750"/>
                  </a:lnTo>
                  <a:cubicBezTo>
                    <a:pt x="18822" y="679750"/>
                    <a:pt x="12306" y="677051"/>
                    <a:pt x="7502" y="672247"/>
                  </a:cubicBezTo>
                  <a:cubicBezTo>
                    <a:pt x="2699" y="667444"/>
                    <a:pt x="0" y="660928"/>
                    <a:pt x="0" y="654135"/>
                  </a:cubicBezTo>
                  <a:lnTo>
                    <a:pt x="0" y="25615"/>
                  </a:lnTo>
                  <a:cubicBezTo>
                    <a:pt x="0" y="18822"/>
                    <a:pt x="2699" y="12306"/>
                    <a:pt x="7502" y="7502"/>
                  </a:cubicBezTo>
                  <a:cubicBezTo>
                    <a:pt x="12306" y="2699"/>
                    <a:pt x="18822" y="0"/>
                    <a:pt x="25615" y="0"/>
                  </a:cubicBezTo>
                  <a:close/>
                </a:path>
              </a:pathLst>
            </a:custGeom>
            <a:blipFill>
              <a:blip r:embed="rId10"/>
              <a:stretch>
                <a:fillRect l="0" t="-7672" r="0" b="-7672"/>
              </a:stretch>
            </a:blipFill>
            <a:ln w="9525" cap="sq">
              <a:solidFill>
                <a:srgbClr val="424141"/>
              </a:solidFill>
              <a:prstDash val="solid"/>
              <a:miter/>
            </a:ln>
          </p:spPr>
        </p:sp>
      </p:grpSp>
      <p:sp>
        <p:nvSpPr>
          <p:cNvPr name="Freeform 27" id="27"/>
          <p:cNvSpPr/>
          <p:nvPr/>
        </p:nvSpPr>
        <p:spPr>
          <a:xfrm flipH="false" flipV="false" rot="0">
            <a:off x="628726" y="8621062"/>
            <a:ext cx="652982" cy="652982"/>
          </a:xfrm>
          <a:custGeom>
            <a:avLst/>
            <a:gdLst/>
            <a:ahLst/>
            <a:cxnLst/>
            <a:rect r="r" b="b" t="t" l="l"/>
            <a:pathLst>
              <a:path h="652982" w="652982">
                <a:moveTo>
                  <a:pt x="0" y="0"/>
                </a:moveTo>
                <a:lnTo>
                  <a:pt x="652983" y="0"/>
                </a:lnTo>
                <a:lnTo>
                  <a:pt x="652983" y="652982"/>
                </a:lnTo>
                <a:lnTo>
                  <a:pt x="0" y="65298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8" id="28"/>
          <p:cNvGrpSpPr/>
          <p:nvPr/>
        </p:nvGrpSpPr>
        <p:grpSpPr>
          <a:xfrm rot="0">
            <a:off x="2766231" y="4315634"/>
            <a:ext cx="3701687" cy="653335"/>
            <a:chOff x="0" y="0"/>
            <a:chExt cx="2571114" cy="453793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571114" cy="453793"/>
            </a:xfrm>
            <a:custGeom>
              <a:avLst/>
              <a:gdLst/>
              <a:ahLst/>
              <a:cxnLst/>
              <a:rect r="r" b="b" t="t" l="l"/>
              <a:pathLst>
                <a:path h="453793" w="2571114">
                  <a:moveTo>
                    <a:pt x="27189" y="0"/>
                  </a:moveTo>
                  <a:lnTo>
                    <a:pt x="2543925" y="0"/>
                  </a:lnTo>
                  <a:cubicBezTo>
                    <a:pt x="2551136" y="0"/>
                    <a:pt x="2558051" y="2865"/>
                    <a:pt x="2563150" y="7963"/>
                  </a:cubicBezTo>
                  <a:cubicBezTo>
                    <a:pt x="2568249" y="13062"/>
                    <a:pt x="2571114" y="19978"/>
                    <a:pt x="2571114" y="27189"/>
                  </a:cubicBezTo>
                  <a:lnTo>
                    <a:pt x="2571114" y="426604"/>
                  </a:lnTo>
                  <a:cubicBezTo>
                    <a:pt x="2571114" y="441620"/>
                    <a:pt x="2558941" y="453793"/>
                    <a:pt x="2543925" y="453793"/>
                  </a:cubicBezTo>
                  <a:lnTo>
                    <a:pt x="27189" y="453793"/>
                  </a:lnTo>
                  <a:cubicBezTo>
                    <a:pt x="19978" y="453793"/>
                    <a:pt x="13062" y="450928"/>
                    <a:pt x="7963" y="445829"/>
                  </a:cubicBezTo>
                  <a:cubicBezTo>
                    <a:pt x="2865" y="440730"/>
                    <a:pt x="0" y="433815"/>
                    <a:pt x="0" y="426604"/>
                  </a:cubicBezTo>
                  <a:lnTo>
                    <a:pt x="0" y="27189"/>
                  </a:lnTo>
                  <a:cubicBezTo>
                    <a:pt x="0" y="19978"/>
                    <a:pt x="2865" y="13062"/>
                    <a:pt x="7963" y="7963"/>
                  </a:cubicBezTo>
                  <a:cubicBezTo>
                    <a:pt x="13062" y="2865"/>
                    <a:pt x="19978" y="0"/>
                    <a:pt x="27189" y="0"/>
                  </a:cubicBezTo>
                  <a:close/>
                </a:path>
              </a:pathLst>
            </a:custGeom>
            <a:solidFill>
              <a:srgbClr val="EB574C"/>
            </a:solidFill>
            <a:ln w="9525" cap="sq">
              <a:solidFill>
                <a:srgbClr val="424141"/>
              </a:soli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28575"/>
              <a:ext cx="2571114" cy="425218"/>
            </a:xfrm>
            <a:prstGeom prst="rect">
              <a:avLst/>
            </a:prstGeom>
          </p:spPr>
          <p:txBody>
            <a:bodyPr anchor="ctr" rtlCol="false" tIns="39013" lIns="39013" bIns="39013" rIns="39013"/>
            <a:lstStyle/>
            <a:p>
              <a:pPr algn="ctr" marL="0" indent="0" lvl="0">
                <a:lnSpc>
                  <a:spcPts val="1297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7106490" y="4315634"/>
            <a:ext cx="3517807" cy="653335"/>
            <a:chOff x="0" y="0"/>
            <a:chExt cx="2443395" cy="453793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443395" cy="453793"/>
            </a:xfrm>
            <a:custGeom>
              <a:avLst/>
              <a:gdLst/>
              <a:ahLst/>
              <a:cxnLst/>
              <a:rect r="r" b="b" t="t" l="l"/>
              <a:pathLst>
                <a:path h="453793" w="2443395">
                  <a:moveTo>
                    <a:pt x="28610" y="0"/>
                  </a:moveTo>
                  <a:lnTo>
                    <a:pt x="2414785" y="0"/>
                  </a:lnTo>
                  <a:cubicBezTo>
                    <a:pt x="2422372" y="0"/>
                    <a:pt x="2429650" y="3014"/>
                    <a:pt x="2435015" y="8380"/>
                  </a:cubicBezTo>
                  <a:cubicBezTo>
                    <a:pt x="2440380" y="13745"/>
                    <a:pt x="2443395" y="21022"/>
                    <a:pt x="2443395" y="28610"/>
                  </a:cubicBezTo>
                  <a:lnTo>
                    <a:pt x="2443395" y="425183"/>
                  </a:lnTo>
                  <a:cubicBezTo>
                    <a:pt x="2443395" y="440984"/>
                    <a:pt x="2430586" y="453793"/>
                    <a:pt x="2414785" y="453793"/>
                  </a:cubicBezTo>
                  <a:lnTo>
                    <a:pt x="28610" y="453793"/>
                  </a:lnTo>
                  <a:cubicBezTo>
                    <a:pt x="21022" y="453793"/>
                    <a:pt x="13745" y="450778"/>
                    <a:pt x="8380" y="445413"/>
                  </a:cubicBezTo>
                  <a:cubicBezTo>
                    <a:pt x="3014" y="440048"/>
                    <a:pt x="0" y="432770"/>
                    <a:pt x="0" y="425183"/>
                  </a:cubicBezTo>
                  <a:lnTo>
                    <a:pt x="0" y="28610"/>
                  </a:lnTo>
                  <a:cubicBezTo>
                    <a:pt x="0" y="21022"/>
                    <a:pt x="3014" y="13745"/>
                    <a:pt x="8380" y="8380"/>
                  </a:cubicBezTo>
                  <a:cubicBezTo>
                    <a:pt x="13745" y="3014"/>
                    <a:pt x="21022" y="0"/>
                    <a:pt x="28610" y="0"/>
                  </a:cubicBezTo>
                  <a:close/>
                </a:path>
              </a:pathLst>
            </a:custGeom>
            <a:solidFill>
              <a:srgbClr val="FFDE59"/>
            </a:solidFill>
            <a:ln w="9525" cap="sq">
              <a:solidFill>
                <a:srgbClr val="424141"/>
              </a:solidFill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28575"/>
              <a:ext cx="2443395" cy="425218"/>
            </a:xfrm>
            <a:prstGeom prst="rect">
              <a:avLst/>
            </a:prstGeom>
          </p:spPr>
          <p:txBody>
            <a:bodyPr anchor="ctr" rtlCol="false" tIns="39013" lIns="39013" bIns="39013" rIns="39013"/>
            <a:lstStyle/>
            <a:p>
              <a:pPr algn="ctr" marL="0" indent="0" lvl="0">
                <a:lnSpc>
                  <a:spcPts val="1297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6627119" y="5143500"/>
            <a:ext cx="419749" cy="419749"/>
            <a:chOff x="0" y="0"/>
            <a:chExt cx="812800" cy="8128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424141"/>
              </a:solidFill>
              <a:prstDash val="solid"/>
              <a:miter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39013" lIns="39013" bIns="39013" rIns="39013"/>
            <a:lstStyle/>
            <a:p>
              <a:pPr algn="ctr" marL="0" indent="0" lvl="0">
                <a:lnSpc>
                  <a:spcPts val="1297"/>
                </a:lnSpc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6207328" y="5143500"/>
            <a:ext cx="419749" cy="419749"/>
            <a:chOff x="0" y="0"/>
            <a:chExt cx="812800" cy="812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424141"/>
              </a:solidFill>
              <a:prstDash val="solid"/>
              <a:miter/>
            </a:ln>
          </p:spPr>
        </p:sp>
        <p:sp>
          <p:nvSpPr>
            <p:cNvPr name="TextBox 39" id="39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39013" lIns="39013" bIns="39013" rIns="39013"/>
            <a:lstStyle/>
            <a:p>
              <a:pPr algn="ctr" marL="0" indent="0" lvl="0">
                <a:lnSpc>
                  <a:spcPts val="1297"/>
                </a:lnSpc>
              </a:pP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5787537" y="5143500"/>
            <a:ext cx="419749" cy="419749"/>
            <a:chOff x="0" y="0"/>
            <a:chExt cx="812800" cy="8128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E59"/>
            </a:solidFill>
            <a:ln w="19050" cap="sq">
              <a:solidFill>
                <a:srgbClr val="424141"/>
              </a:solidFill>
              <a:prstDash val="solid"/>
              <a:miter/>
            </a:ln>
          </p:spPr>
        </p:sp>
        <p:sp>
          <p:nvSpPr>
            <p:cNvPr name="TextBox 42" id="42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39013" lIns="39013" bIns="39013" rIns="39013"/>
            <a:lstStyle/>
            <a:p>
              <a:pPr algn="ctr" marL="0" indent="0" lvl="0">
                <a:lnSpc>
                  <a:spcPts val="1297"/>
                </a:lnSpc>
              </a:pPr>
            </a:p>
          </p:txBody>
        </p:sp>
      </p:grpSp>
      <p:sp>
        <p:nvSpPr>
          <p:cNvPr name="Freeform 43" id="43"/>
          <p:cNvSpPr/>
          <p:nvPr/>
        </p:nvSpPr>
        <p:spPr>
          <a:xfrm flipH="false" flipV="false" rot="0">
            <a:off x="628726" y="7339018"/>
            <a:ext cx="652982" cy="625231"/>
          </a:xfrm>
          <a:custGeom>
            <a:avLst/>
            <a:gdLst/>
            <a:ahLst/>
            <a:cxnLst/>
            <a:rect r="r" b="b" t="t" l="l"/>
            <a:pathLst>
              <a:path h="625231" w="652982">
                <a:moveTo>
                  <a:pt x="0" y="0"/>
                </a:moveTo>
                <a:lnTo>
                  <a:pt x="652983" y="0"/>
                </a:lnTo>
                <a:lnTo>
                  <a:pt x="652983" y="625231"/>
                </a:lnTo>
                <a:lnTo>
                  <a:pt x="0" y="625231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4" id="44"/>
          <p:cNvSpPr/>
          <p:nvPr/>
        </p:nvSpPr>
        <p:spPr>
          <a:xfrm flipH="false" flipV="false" rot="0">
            <a:off x="695867" y="3769890"/>
            <a:ext cx="545744" cy="545744"/>
          </a:xfrm>
          <a:custGeom>
            <a:avLst/>
            <a:gdLst/>
            <a:ahLst/>
            <a:cxnLst/>
            <a:rect r="r" b="b" t="t" l="l"/>
            <a:pathLst>
              <a:path h="545744" w="545744">
                <a:moveTo>
                  <a:pt x="0" y="0"/>
                </a:moveTo>
                <a:lnTo>
                  <a:pt x="545743" y="0"/>
                </a:lnTo>
                <a:lnTo>
                  <a:pt x="545743" y="545744"/>
                </a:lnTo>
                <a:lnTo>
                  <a:pt x="0" y="545744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5" id="45"/>
          <p:cNvSpPr/>
          <p:nvPr/>
        </p:nvSpPr>
        <p:spPr>
          <a:xfrm flipH="false" flipV="false" rot="0">
            <a:off x="628726" y="2424196"/>
            <a:ext cx="680025" cy="680025"/>
          </a:xfrm>
          <a:custGeom>
            <a:avLst/>
            <a:gdLst/>
            <a:ahLst/>
            <a:cxnLst/>
            <a:rect r="r" b="b" t="t" l="l"/>
            <a:pathLst>
              <a:path h="680025" w="680025">
                <a:moveTo>
                  <a:pt x="0" y="0"/>
                </a:moveTo>
                <a:lnTo>
                  <a:pt x="680025" y="0"/>
                </a:lnTo>
                <a:lnTo>
                  <a:pt x="680025" y="680024"/>
                </a:lnTo>
                <a:lnTo>
                  <a:pt x="0" y="680024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6" id="46"/>
          <p:cNvSpPr txBox="true"/>
          <p:nvPr/>
        </p:nvSpPr>
        <p:spPr>
          <a:xfrm rot="0">
            <a:off x="2762250" y="4486275"/>
            <a:ext cx="3705225" cy="3005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54"/>
              </a:lnSpc>
              <a:spcBef>
                <a:spcPct val="0"/>
              </a:spcBef>
            </a:pPr>
            <a:r>
              <a:rPr lang="en-US" b="true" sz="2079" spc="-1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Thách Thức: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7105650" y="4486275"/>
            <a:ext cx="3524250" cy="3005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54"/>
              </a:lnSpc>
              <a:spcBef>
                <a:spcPct val="0"/>
              </a:spcBef>
            </a:pPr>
            <a:r>
              <a:rPr lang="en-US" b="true" sz="2079" spc="-14">
                <a:solidFill>
                  <a:srgbClr val="42414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Giải Pháp: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7105650" y="5162550"/>
            <a:ext cx="3524250" cy="4933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  <a:spcBef>
                <a:spcPct val="0"/>
              </a:spcBef>
            </a:pPr>
            <a:r>
              <a:rPr lang="en-US" sz="2000" spc="-74">
                <a:solidFill>
                  <a:srgbClr val="424141"/>
                </a:solidFill>
                <a:latin typeface="Montserrat"/>
                <a:ea typeface="Montserrat"/>
                <a:cs typeface="Montserrat"/>
                <a:sym typeface="Montserrat"/>
              </a:rPr>
              <a:t>• Histogram Equalization (HE): </a:t>
            </a:r>
            <a:r>
              <a:rPr lang="en-US" sz="2000" spc="-74" strike="noStrike" u="none">
                <a:solidFill>
                  <a:srgbClr val="424141"/>
                </a:solidFill>
                <a:latin typeface="Montserrat"/>
                <a:ea typeface="Montserrat"/>
                <a:cs typeface="Montserrat"/>
                <a:sym typeface="Montserrat"/>
              </a:rPr>
              <a:t>Phương pháp kinh điển tái phân bố dải mức xám toàn cục.</a:t>
            </a:r>
          </a:p>
          <a:p>
            <a:pPr algn="l" marL="0" indent="0" lvl="0">
              <a:lnSpc>
                <a:spcPts val="3000"/>
              </a:lnSpc>
              <a:spcBef>
                <a:spcPct val="0"/>
              </a:spcBef>
            </a:pPr>
            <a:r>
              <a:rPr lang="en-US" sz="2000" spc="-74" strike="noStrike" u="none">
                <a:solidFill>
                  <a:srgbClr val="424141"/>
                </a:solidFill>
                <a:latin typeface="Montserrat"/>
                <a:ea typeface="Montserrat"/>
                <a:cs typeface="Montserrat"/>
                <a:sym typeface="Montserrat"/>
              </a:rPr>
              <a:t>• CLAHE (Adaptive HE): Tăng cường cục bộ theo từng Tile nhỏ, giới hạn Clip Limit để chặn nhiễu.</a:t>
            </a:r>
          </a:p>
          <a:p>
            <a:pPr algn="l" marL="0" indent="0" lvl="0">
              <a:lnSpc>
                <a:spcPts val="3000"/>
              </a:lnSpc>
              <a:spcBef>
                <a:spcPct val="0"/>
              </a:spcBef>
            </a:pPr>
            <a:r>
              <a:rPr lang="en-US" sz="2000" spc="-74" strike="noStrike" u="none">
                <a:solidFill>
                  <a:srgbClr val="424141"/>
                </a:solidFill>
                <a:latin typeface="Montserrat"/>
                <a:ea typeface="Montserrat"/>
                <a:cs typeface="Montserrat"/>
                <a:sym typeface="Montserrat"/>
              </a:rPr>
              <a:t>• Cần đánh giá định lượng bằng 5 chỉ số (PSNR, SSIM, Entropy...) để lựa chọn phương pháp tối ưu.</a:t>
            </a:r>
          </a:p>
          <a:p>
            <a:pPr algn="just" marL="0" indent="0" lvl="0">
              <a:lnSpc>
                <a:spcPts val="3000"/>
              </a:lnSpc>
              <a:spcBef>
                <a:spcPct val="0"/>
              </a:spcBef>
            </a:pPr>
          </a:p>
        </p:txBody>
      </p:sp>
      <p:sp>
        <p:nvSpPr>
          <p:cNvPr name="Freeform 49" id="49"/>
          <p:cNvSpPr/>
          <p:nvPr/>
        </p:nvSpPr>
        <p:spPr>
          <a:xfrm flipH="false" flipV="false" rot="0">
            <a:off x="695867" y="8753475"/>
            <a:ext cx="6556339" cy="4881741"/>
          </a:xfrm>
          <a:custGeom>
            <a:avLst/>
            <a:gdLst/>
            <a:ahLst/>
            <a:cxnLst/>
            <a:rect r="r" b="b" t="t" l="l"/>
            <a:pathLst>
              <a:path h="4881741" w="6556339">
                <a:moveTo>
                  <a:pt x="0" y="0"/>
                </a:moveTo>
                <a:lnTo>
                  <a:pt x="6556339" y="0"/>
                </a:lnTo>
                <a:lnTo>
                  <a:pt x="6556339" y="4881741"/>
                </a:lnTo>
                <a:lnTo>
                  <a:pt x="0" y="4881741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alphaModFix amt="16000"/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0" id="50"/>
          <p:cNvSpPr txBox="true"/>
          <p:nvPr/>
        </p:nvSpPr>
        <p:spPr>
          <a:xfrm rot="0">
            <a:off x="2762250" y="5181600"/>
            <a:ext cx="3705225" cy="455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000"/>
              </a:lnSpc>
              <a:spcBef>
                <a:spcPct val="0"/>
              </a:spcBef>
            </a:pPr>
            <a:r>
              <a:rPr lang="en-US" sz="2000" spc="-74">
                <a:solidFill>
                  <a:srgbClr val="424141"/>
                </a:solidFill>
                <a:latin typeface="Montserrat"/>
                <a:ea typeface="Montserrat"/>
                <a:cs typeface="Montserrat"/>
                <a:sym typeface="Montserrat"/>
              </a:rPr>
              <a:t>• Ản</a:t>
            </a:r>
            <a:r>
              <a:rPr lang="en-US" sz="2000" spc="-74" strike="noStrike" u="none">
                <a:solidFill>
                  <a:srgbClr val="424141"/>
                </a:solidFill>
                <a:latin typeface="Montserrat"/>
                <a:ea typeface="Montserrat"/>
                <a:cs typeface="Montserrat"/>
                <a:sym typeface="Montserrat"/>
              </a:rPr>
              <a:t>h</a:t>
            </a:r>
            <a:r>
              <a:rPr lang="en-US" sz="2000" spc="-74" strike="noStrike" u="none">
                <a:solidFill>
                  <a:srgbClr val="424141"/>
                </a:solidFill>
                <a:latin typeface="Montserrat"/>
                <a:ea typeface="Montserrat"/>
                <a:cs typeface="Montserrat"/>
                <a:sym typeface="Montserrat"/>
              </a:rPr>
              <a:t> chụp</a:t>
            </a:r>
            <a:r>
              <a:rPr lang="en-US" sz="2000" spc="-74" strike="noStrike" u="none">
                <a:solidFill>
                  <a:srgbClr val="424141"/>
                </a:solidFill>
                <a:latin typeface="Montserrat"/>
                <a:ea typeface="Montserrat"/>
                <a:cs typeface="Montserrat"/>
                <a:sym typeface="Montserrat"/>
              </a:rPr>
              <a:t> t</a:t>
            </a:r>
            <a:r>
              <a:rPr lang="en-US" sz="2000" spc="-74" strike="noStrike" u="none">
                <a:solidFill>
                  <a:srgbClr val="424141"/>
                </a:solidFill>
                <a:latin typeface="Montserrat"/>
                <a:ea typeface="Montserrat"/>
                <a:cs typeface="Montserrat"/>
                <a:sym typeface="Montserrat"/>
              </a:rPr>
              <a:t>hực</a:t>
            </a:r>
            <a:r>
              <a:rPr lang="en-US" sz="2000" spc="-74" strike="noStrike" u="none">
                <a:solidFill>
                  <a:srgbClr val="42414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000" spc="-74" strike="noStrike" u="none">
                <a:solidFill>
                  <a:srgbClr val="424141"/>
                </a:solidFill>
                <a:latin typeface="Montserrat"/>
                <a:ea typeface="Montserrat"/>
                <a:cs typeface="Montserrat"/>
                <a:sym typeface="Montserrat"/>
              </a:rPr>
              <a:t>tế thườ</a:t>
            </a:r>
            <a:r>
              <a:rPr lang="en-US" sz="2000" spc="-74" strike="noStrike" u="none">
                <a:solidFill>
                  <a:srgbClr val="424141"/>
                </a:solidFill>
                <a:latin typeface="Montserrat"/>
                <a:ea typeface="Montserrat"/>
                <a:cs typeface="Montserrat"/>
                <a:sym typeface="Montserrat"/>
              </a:rPr>
              <a:t>ng </a:t>
            </a:r>
            <a:r>
              <a:rPr lang="en-US" sz="2000" spc="-74" strike="noStrike" u="none">
                <a:solidFill>
                  <a:srgbClr val="424141"/>
                </a:solidFill>
                <a:latin typeface="Montserrat"/>
                <a:ea typeface="Montserrat"/>
                <a:cs typeface="Montserrat"/>
                <a:sym typeface="Montserrat"/>
              </a:rPr>
              <a:t>bị chiếu </a:t>
            </a:r>
            <a:r>
              <a:rPr lang="en-US" sz="2000" spc="-74" strike="noStrike" u="none">
                <a:solidFill>
                  <a:srgbClr val="424141"/>
                </a:solidFill>
                <a:latin typeface="Montserrat"/>
                <a:ea typeface="Montserrat"/>
                <a:cs typeface="Montserrat"/>
                <a:sym typeface="Montserrat"/>
              </a:rPr>
              <a:t>s</a:t>
            </a:r>
            <a:r>
              <a:rPr lang="en-US" sz="2000" spc="-74" strike="noStrike" u="none">
                <a:solidFill>
                  <a:srgbClr val="424141"/>
                </a:solidFill>
                <a:latin typeface="Montserrat"/>
                <a:ea typeface="Montserrat"/>
                <a:cs typeface="Montserrat"/>
                <a:sym typeface="Montserrat"/>
              </a:rPr>
              <a:t>á</a:t>
            </a:r>
            <a:r>
              <a:rPr lang="en-US" sz="2000" spc="-74" strike="noStrike" u="none">
                <a:solidFill>
                  <a:srgbClr val="424141"/>
                </a:solidFill>
                <a:latin typeface="Montserrat"/>
                <a:ea typeface="Montserrat"/>
                <a:cs typeface="Montserrat"/>
                <a:sym typeface="Montserrat"/>
              </a:rPr>
              <a:t>ng </a:t>
            </a:r>
            <a:r>
              <a:rPr lang="en-US" sz="2000" spc="-74" strike="noStrike" u="none">
                <a:solidFill>
                  <a:srgbClr val="424141"/>
                </a:solidFill>
                <a:latin typeface="Montserrat"/>
                <a:ea typeface="Montserrat"/>
                <a:cs typeface="Montserrat"/>
                <a:sym typeface="Montserrat"/>
              </a:rPr>
              <a:t>khô</a:t>
            </a:r>
            <a:r>
              <a:rPr lang="en-US" sz="2000" spc="-74" strike="noStrike" u="none">
                <a:solidFill>
                  <a:srgbClr val="424141"/>
                </a:solidFill>
                <a:latin typeface="Montserrat"/>
                <a:ea typeface="Montserrat"/>
                <a:cs typeface="Montserrat"/>
                <a:sym typeface="Montserrat"/>
              </a:rPr>
              <a:t>ng </a:t>
            </a:r>
            <a:r>
              <a:rPr lang="en-US" sz="2000" spc="-74" strike="noStrike" u="none">
                <a:solidFill>
                  <a:srgbClr val="424141"/>
                </a:solidFill>
                <a:latin typeface="Montserrat"/>
                <a:ea typeface="Montserrat"/>
                <a:cs typeface="Montserrat"/>
                <a:sym typeface="Montserrat"/>
              </a:rPr>
              <a:t>đều</a:t>
            </a:r>
            <a:r>
              <a:rPr lang="en-US" sz="2000" spc="-74" strike="noStrike" u="none">
                <a:solidFill>
                  <a:srgbClr val="42414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000" spc="-74" strike="noStrike" u="none">
                <a:solidFill>
                  <a:srgbClr val="424141"/>
                </a:solidFill>
                <a:latin typeface="Montserrat"/>
                <a:ea typeface="Montserrat"/>
                <a:cs typeface="Montserrat"/>
                <a:sym typeface="Montserrat"/>
              </a:rPr>
              <a:t>(</a:t>
            </a:r>
            <a:r>
              <a:rPr lang="en-US" sz="2000" spc="-74" strike="noStrike" u="none">
                <a:solidFill>
                  <a:srgbClr val="424141"/>
                </a:solidFill>
                <a:latin typeface="Montserrat"/>
                <a:ea typeface="Montserrat"/>
                <a:cs typeface="Montserrat"/>
                <a:sym typeface="Montserrat"/>
              </a:rPr>
              <a:t>ng</a:t>
            </a:r>
            <a:r>
              <a:rPr lang="en-US" sz="2000" spc="-74" strike="noStrike" u="none">
                <a:solidFill>
                  <a:srgbClr val="424141"/>
                </a:solidFill>
                <a:latin typeface="Montserrat"/>
                <a:ea typeface="Montserrat"/>
                <a:cs typeface="Montserrat"/>
                <a:sym typeface="Montserrat"/>
              </a:rPr>
              <a:t>ược sá</a:t>
            </a:r>
            <a:r>
              <a:rPr lang="en-US" sz="2000" spc="-74" strike="noStrike" u="none">
                <a:solidFill>
                  <a:srgbClr val="424141"/>
                </a:solidFill>
                <a:latin typeface="Montserrat"/>
                <a:ea typeface="Montserrat"/>
                <a:cs typeface="Montserrat"/>
                <a:sym typeface="Montserrat"/>
              </a:rPr>
              <a:t>n</a:t>
            </a:r>
            <a:r>
              <a:rPr lang="en-US" sz="2000" spc="-74" strike="noStrike" u="none">
                <a:solidFill>
                  <a:srgbClr val="424141"/>
                </a:solidFill>
                <a:latin typeface="Montserrat"/>
                <a:ea typeface="Montserrat"/>
                <a:cs typeface="Montserrat"/>
                <a:sym typeface="Montserrat"/>
              </a:rPr>
              <a:t>g,</a:t>
            </a:r>
            <a:r>
              <a:rPr lang="en-US" sz="2000" spc="-74" strike="noStrike" u="none">
                <a:solidFill>
                  <a:srgbClr val="42414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000" spc="-74" strike="noStrike" u="none">
                <a:solidFill>
                  <a:srgbClr val="424141"/>
                </a:solidFill>
                <a:latin typeface="Montserrat"/>
                <a:ea typeface="Montserrat"/>
                <a:cs typeface="Montserrat"/>
                <a:sym typeface="Montserrat"/>
              </a:rPr>
              <a:t>bóng râ</a:t>
            </a:r>
            <a:r>
              <a:rPr lang="en-US" sz="2000" spc="-74" strike="noStrike" u="none">
                <a:solidFill>
                  <a:srgbClr val="424141"/>
                </a:solidFill>
                <a:latin typeface="Montserrat"/>
                <a:ea typeface="Montserrat"/>
                <a:cs typeface="Montserrat"/>
                <a:sym typeface="Montserrat"/>
              </a:rPr>
              <a:t>m</a:t>
            </a:r>
            <a:r>
              <a:rPr lang="en-US" sz="2000" spc="-74" strike="noStrike" u="none">
                <a:solidFill>
                  <a:srgbClr val="424141"/>
                </a:solidFill>
                <a:latin typeface="Montserrat"/>
                <a:ea typeface="Montserrat"/>
                <a:cs typeface="Montserrat"/>
                <a:sym typeface="Montserrat"/>
              </a:rPr>
              <a:t>,</a:t>
            </a:r>
            <a:r>
              <a:rPr lang="en-US" sz="2000" spc="-74" strike="noStrike" u="none">
                <a:solidFill>
                  <a:srgbClr val="42414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000" spc="-74" strike="noStrike" u="none">
                <a:solidFill>
                  <a:srgbClr val="424141"/>
                </a:solidFill>
                <a:latin typeface="Montserrat"/>
                <a:ea typeface="Montserrat"/>
                <a:cs typeface="Montserrat"/>
                <a:sym typeface="Montserrat"/>
              </a:rPr>
              <a:t>th</a:t>
            </a:r>
            <a:r>
              <a:rPr lang="en-US" sz="2000" spc="-74" strike="noStrike" u="none">
                <a:solidFill>
                  <a:srgbClr val="424141"/>
                </a:solidFill>
                <a:latin typeface="Montserrat"/>
                <a:ea typeface="Montserrat"/>
                <a:cs typeface="Montserrat"/>
                <a:sym typeface="Montserrat"/>
              </a:rPr>
              <a:t>i</a:t>
            </a:r>
            <a:r>
              <a:rPr lang="en-US" sz="2000" spc="-74" strike="noStrike" u="none">
                <a:solidFill>
                  <a:srgbClr val="424141"/>
                </a:solidFill>
                <a:latin typeface="Montserrat"/>
                <a:ea typeface="Montserrat"/>
                <a:cs typeface="Montserrat"/>
                <a:sym typeface="Montserrat"/>
              </a:rPr>
              <a:t>ế</a:t>
            </a:r>
            <a:r>
              <a:rPr lang="en-US" sz="2000" spc="-74" strike="noStrike" u="none">
                <a:solidFill>
                  <a:srgbClr val="424141"/>
                </a:solidFill>
                <a:latin typeface="Montserrat"/>
                <a:ea typeface="Montserrat"/>
                <a:cs typeface="Montserrat"/>
                <a:sym typeface="Montserrat"/>
              </a:rPr>
              <a:t>u </a:t>
            </a:r>
            <a:r>
              <a:rPr lang="en-US" sz="2000" spc="-74" strike="noStrike" u="none">
                <a:solidFill>
                  <a:srgbClr val="424141"/>
                </a:solidFill>
                <a:latin typeface="Montserrat"/>
                <a:ea typeface="Montserrat"/>
                <a:cs typeface="Montserrat"/>
                <a:sym typeface="Montserrat"/>
              </a:rPr>
              <a:t>sá</a:t>
            </a:r>
            <a:r>
              <a:rPr lang="en-US" sz="2000" spc="-74" strike="noStrike" u="none">
                <a:solidFill>
                  <a:srgbClr val="424141"/>
                </a:solidFill>
                <a:latin typeface="Montserrat"/>
                <a:ea typeface="Montserrat"/>
                <a:cs typeface="Montserrat"/>
                <a:sym typeface="Montserrat"/>
              </a:rPr>
              <a:t>ng</a:t>
            </a:r>
            <a:r>
              <a:rPr lang="en-US" sz="2000" spc="-74" strike="noStrike" u="none">
                <a:solidFill>
                  <a:srgbClr val="424141"/>
                </a:solidFill>
                <a:latin typeface="Montserrat"/>
                <a:ea typeface="Montserrat"/>
                <a:cs typeface="Montserrat"/>
                <a:sym typeface="Montserrat"/>
              </a:rPr>
              <a:t>).</a:t>
            </a:r>
          </a:p>
          <a:p>
            <a:pPr algn="just" marL="0" indent="0" lvl="0">
              <a:lnSpc>
                <a:spcPts val="3000"/>
              </a:lnSpc>
              <a:spcBef>
                <a:spcPct val="0"/>
              </a:spcBef>
            </a:pPr>
            <a:r>
              <a:rPr lang="en-US" sz="2000" spc="-74" strike="noStrike" u="none">
                <a:solidFill>
                  <a:srgbClr val="424141"/>
                </a:solidFill>
                <a:latin typeface="Montserrat"/>
                <a:ea typeface="Montserrat"/>
                <a:cs typeface="Montserrat"/>
                <a:sym typeface="Montserrat"/>
              </a:rPr>
              <a:t>• Độ</a:t>
            </a:r>
            <a:r>
              <a:rPr lang="en-US" sz="2000" spc="-74" strike="noStrike" u="none">
                <a:solidFill>
                  <a:srgbClr val="424141"/>
                </a:solidFill>
                <a:latin typeface="Montserrat"/>
                <a:ea typeface="Montserrat"/>
                <a:cs typeface="Montserrat"/>
                <a:sym typeface="Montserrat"/>
              </a:rPr>
              <a:t> tư</a:t>
            </a:r>
            <a:r>
              <a:rPr lang="en-US" sz="2000" spc="-74" strike="noStrike" u="none">
                <a:solidFill>
                  <a:srgbClr val="424141"/>
                </a:solidFill>
                <a:latin typeface="Montserrat"/>
                <a:ea typeface="Montserrat"/>
                <a:cs typeface="Montserrat"/>
                <a:sym typeface="Montserrat"/>
              </a:rPr>
              <a:t>ơ</a:t>
            </a:r>
            <a:r>
              <a:rPr lang="en-US" sz="2000" spc="-74" strike="noStrike" u="none">
                <a:solidFill>
                  <a:srgbClr val="424141"/>
                </a:solidFill>
                <a:latin typeface="Montserrat"/>
                <a:ea typeface="Montserrat"/>
                <a:cs typeface="Montserrat"/>
                <a:sym typeface="Montserrat"/>
              </a:rPr>
              <a:t>ng </a:t>
            </a:r>
            <a:r>
              <a:rPr lang="en-US" sz="2000" spc="-74" strike="noStrike" u="none">
                <a:solidFill>
                  <a:srgbClr val="424141"/>
                </a:solidFill>
                <a:latin typeface="Montserrat"/>
                <a:ea typeface="Montserrat"/>
                <a:cs typeface="Montserrat"/>
                <a:sym typeface="Montserrat"/>
              </a:rPr>
              <a:t>p</a:t>
            </a:r>
            <a:r>
              <a:rPr lang="en-US" sz="2000" spc="-74" strike="noStrike" u="none">
                <a:solidFill>
                  <a:srgbClr val="424141"/>
                </a:solidFill>
                <a:latin typeface="Montserrat"/>
                <a:ea typeface="Montserrat"/>
                <a:cs typeface="Montserrat"/>
                <a:sym typeface="Montserrat"/>
              </a:rPr>
              <a:t>h</a:t>
            </a:r>
            <a:r>
              <a:rPr lang="en-US" sz="2000" spc="-74" strike="noStrike" u="none">
                <a:solidFill>
                  <a:srgbClr val="424141"/>
                </a:solidFill>
                <a:latin typeface="Montserrat"/>
                <a:ea typeface="Montserrat"/>
                <a:cs typeface="Montserrat"/>
                <a:sym typeface="Montserrat"/>
              </a:rPr>
              <a:t>ản</a:t>
            </a:r>
            <a:r>
              <a:rPr lang="en-US" sz="2000" spc="-74" strike="noStrike" u="none">
                <a:solidFill>
                  <a:srgbClr val="42414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000" spc="-74" strike="noStrike" u="none">
                <a:solidFill>
                  <a:srgbClr val="424141"/>
                </a:solidFill>
                <a:latin typeface="Montserrat"/>
                <a:ea typeface="Montserrat"/>
                <a:cs typeface="Montserrat"/>
                <a:sym typeface="Montserrat"/>
              </a:rPr>
              <a:t>th</a:t>
            </a:r>
            <a:r>
              <a:rPr lang="en-US" sz="2000" spc="-74" strike="noStrike" u="none">
                <a:solidFill>
                  <a:srgbClr val="424141"/>
                </a:solidFill>
                <a:latin typeface="Montserrat"/>
                <a:ea typeface="Montserrat"/>
                <a:cs typeface="Montserrat"/>
                <a:sym typeface="Montserrat"/>
              </a:rPr>
              <a:t>ấp </a:t>
            </a:r>
            <a:r>
              <a:rPr lang="en-US" sz="2000" spc="-74" strike="noStrike" u="none">
                <a:solidFill>
                  <a:srgbClr val="424141"/>
                </a:solidFill>
                <a:latin typeface="Montserrat"/>
                <a:ea typeface="Montserrat"/>
                <a:cs typeface="Montserrat"/>
                <a:sym typeface="Montserrat"/>
              </a:rPr>
              <a:t>làm mờ</a:t>
            </a:r>
            <a:r>
              <a:rPr lang="en-US" sz="2000" spc="-74" strike="noStrike" u="none">
                <a:solidFill>
                  <a:srgbClr val="424141"/>
                </a:solidFill>
                <a:latin typeface="Montserrat"/>
                <a:ea typeface="Montserrat"/>
                <a:cs typeface="Montserrat"/>
                <a:sym typeface="Montserrat"/>
              </a:rPr>
              <a:t> nh</a:t>
            </a:r>
            <a:r>
              <a:rPr lang="en-US" sz="2000" spc="-74" strike="noStrike" u="none">
                <a:solidFill>
                  <a:srgbClr val="424141"/>
                </a:solidFill>
                <a:latin typeface="Montserrat"/>
                <a:ea typeface="Montserrat"/>
                <a:cs typeface="Montserrat"/>
                <a:sym typeface="Montserrat"/>
              </a:rPr>
              <a:t>ạt</a:t>
            </a:r>
            <a:r>
              <a:rPr lang="en-US" sz="2000" spc="-74" strike="noStrike" u="none">
                <a:solidFill>
                  <a:srgbClr val="42414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000" spc="-74" strike="noStrike" u="none">
                <a:solidFill>
                  <a:srgbClr val="424141"/>
                </a:solidFill>
                <a:latin typeface="Montserrat"/>
                <a:ea typeface="Montserrat"/>
                <a:cs typeface="Montserrat"/>
                <a:sym typeface="Montserrat"/>
              </a:rPr>
              <a:t>các ch</a:t>
            </a:r>
            <a:r>
              <a:rPr lang="en-US" sz="2000" spc="-74" strike="noStrike" u="none">
                <a:solidFill>
                  <a:srgbClr val="424141"/>
                </a:solidFill>
                <a:latin typeface="Montserrat"/>
                <a:ea typeface="Montserrat"/>
                <a:cs typeface="Montserrat"/>
                <a:sym typeface="Montserrat"/>
              </a:rPr>
              <a:t>i </a:t>
            </a:r>
            <a:r>
              <a:rPr lang="en-US" sz="2000" spc="-74" strike="noStrike" u="none">
                <a:solidFill>
                  <a:srgbClr val="424141"/>
                </a:solidFill>
                <a:latin typeface="Montserrat"/>
                <a:ea typeface="Montserrat"/>
                <a:cs typeface="Montserrat"/>
                <a:sym typeface="Montserrat"/>
              </a:rPr>
              <a:t>tiết qua</a:t>
            </a:r>
            <a:r>
              <a:rPr lang="en-US" sz="2000" spc="-74" strike="noStrike" u="none">
                <a:solidFill>
                  <a:srgbClr val="424141"/>
                </a:solidFill>
                <a:latin typeface="Montserrat"/>
                <a:ea typeface="Montserrat"/>
                <a:cs typeface="Montserrat"/>
                <a:sym typeface="Montserrat"/>
              </a:rPr>
              <a:t>n tr</a:t>
            </a:r>
            <a:r>
              <a:rPr lang="en-US" sz="2000" spc="-74" strike="noStrike" u="none">
                <a:solidFill>
                  <a:srgbClr val="424141"/>
                </a:solidFill>
                <a:latin typeface="Montserrat"/>
                <a:ea typeface="Montserrat"/>
                <a:cs typeface="Montserrat"/>
                <a:sym typeface="Montserrat"/>
              </a:rPr>
              <a:t>ọng</a:t>
            </a:r>
            <a:r>
              <a:rPr lang="en-US" sz="2000" spc="-74" strike="noStrike" u="none">
                <a:solidFill>
                  <a:srgbClr val="424141"/>
                </a:solidFill>
                <a:latin typeface="Montserrat"/>
                <a:ea typeface="Montserrat"/>
                <a:cs typeface="Montserrat"/>
                <a:sym typeface="Montserrat"/>
              </a:rPr>
              <a:t> t</a:t>
            </a:r>
            <a:r>
              <a:rPr lang="en-US" sz="2000" spc="-74" strike="noStrike" u="none">
                <a:solidFill>
                  <a:srgbClr val="424141"/>
                </a:solidFill>
                <a:latin typeface="Montserrat"/>
                <a:ea typeface="Montserrat"/>
                <a:cs typeface="Montserrat"/>
                <a:sym typeface="Montserrat"/>
              </a:rPr>
              <a:t>rong ả</a:t>
            </a:r>
            <a:r>
              <a:rPr lang="en-US" sz="2000" spc="-74" strike="noStrike" u="none">
                <a:solidFill>
                  <a:srgbClr val="424141"/>
                </a:solidFill>
                <a:latin typeface="Montserrat"/>
                <a:ea typeface="Montserrat"/>
                <a:cs typeface="Montserrat"/>
                <a:sym typeface="Montserrat"/>
              </a:rPr>
              <a:t>nh </a:t>
            </a:r>
            <a:r>
              <a:rPr lang="en-US" sz="2000" spc="-74" strike="noStrike" u="none">
                <a:solidFill>
                  <a:srgbClr val="424141"/>
                </a:solidFill>
                <a:latin typeface="Montserrat"/>
                <a:ea typeface="Montserrat"/>
                <a:cs typeface="Montserrat"/>
                <a:sym typeface="Montserrat"/>
              </a:rPr>
              <a:t>tài</a:t>
            </a:r>
            <a:r>
              <a:rPr lang="en-US" sz="2000" spc="-74" strike="noStrike" u="none">
                <a:solidFill>
                  <a:srgbClr val="42414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000" spc="-74" strike="noStrike" u="none">
                <a:solidFill>
                  <a:srgbClr val="424141"/>
                </a:solidFill>
                <a:latin typeface="Montserrat"/>
                <a:ea typeface="Montserrat"/>
                <a:cs typeface="Montserrat"/>
                <a:sym typeface="Montserrat"/>
              </a:rPr>
              <a:t>liệu,</a:t>
            </a:r>
            <a:r>
              <a:rPr lang="en-US" sz="2000" spc="-74" strike="noStrike" u="none">
                <a:solidFill>
                  <a:srgbClr val="42414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000" spc="-74" strike="noStrike" u="none">
                <a:solidFill>
                  <a:srgbClr val="424141"/>
                </a:solidFill>
                <a:latin typeface="Montserrat"/>
                <a:ea typeface="Montserrat"/>
                <a:cs typeface="Montserrat"/>
                <a:sym typeface="Montserrat"/>
              </a:rPr>
              <a:t>y</a:t>
            </a:r>
            <a:r>
              <a:rPr lang="en-US" sz="2000" spc="-74" strike="noStrike" u="none">
                <a:solidFill>
                  <a:srgbClr val="424141"/>
                </a:solidFill>
                <a:latin typeface="Montserrat"/>
                <a:ea typeface="Montserrat"/>
                <a:cs typeface="Montserrat"/>
                <a:sym typeface="Montserrat"/>
              </a:rPr>
              <a:t> t</a:t>
            </a:r>
            <a:r>
              <a:rPr lang="en-US" sz="2000" spc="-74" strike="noStrike" u="none">
                <a:solidFill>
                  <a:srgbClr val="424141"/>
                </a:solidFill>
                <a:latin typeface="Montserrat"/>
                <a:ea typeface="Montserrat"/>
                <a:cs typeface="Montserrat"/>
                <a:sym typeface="Montserrat"/>
              </a:rPr>
              <a:t>ế </a:t>
            </a:r>
            <a:r>
              <a:rPr lang="en-US" sz="2000" spc="-74" strike="noStrike" u="none">
                <a:solidFill>
                  <a:srgbClr val="424141"/>
                </a:solidFill>
                <a:latin typeface="Montserrat"/>
                <a:ea typeface="Montserrat"/>
                <a:cs typeface="Montserrat"/>
                <a:sym typeface="Montserrat"/>
              </a:rPr>
              <a:t>h</a:t>
            </a:r>
            <a:r>
              <a:rPr lang="en-US" sz="2000" spc="-74" strike="noStrike" u="none">
                <a:solidFill>
                  <a:srgbClr val="424141"/>
                </a:solidFill>
                <a:latin typeface="Montserrat"/>
                <a:ea typeface="Montserrat"/>
                <a:cs typeface="Montserrat"/>
                <a:sym typeface="Montserrat"/>
              </a:rPr>
              <a:t>ay</a:t>
            </a:r>
            <a:r>
              <a:rPr lang="en-US" sz="2000" spc="-74" strike="noStrike" u="none">
                <a:solidFill>
                  <a:srgbClr val="42414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000" spc="-74" strike="noStrike" u="none">
                <a:solidFill>
                  <a:srgbClr val="424141"/>
                </a:solidFill>
                <a:latin typeface="Montserrat"/>
                <a:ea typeface="Montserrat"/>
                <a:cs typeface="Montserrat"/>
                <a:sym typeface="Montserrat"/>
              </a:rPr>
              <a:t>cản</a:t>
            </a:r>
            <a:r>
              <a:rPr lang="en-US" sz="2000" spc="-74" strike="noStrike" u="none">
                <a:solidFill>
                  <a:srgbClr val="424141"/>
                </a:solidFill>
                <a:latin typeface="Montserrat"/>
                <a:ea typeface="Montserrat"/>
                <a:cs typeface="Montserrat"/>
                <a:sym typeface="Montserrat"/>
              </a:rPr>
              <a:t>h</a:t>
            </a:r>
            <a:r>
              <a:rPr lang="en-US" sz="2000" spc="-74" strike="noStrike" u="none">
                <a:solidFill>
                  <a:srgbClr val="424141"/>
                </a:solidFill>
                <a:latin typeface="Montserrat"/>
                <a:ea typeface="Montserrat"/>
                <a:cs typeface="Montserrat"/>
                <a:sym typeface="Montserrat"/>
              </a:rPr>
              <a:t> q</a:t>
            </a:r>
            <a:r>
              <a:rPr lang="en-US" sz="2000" spc="-74" strike="noStrike" u="none">
                <a:solidFill>
                  <a:srgbClr val="424141"/>
                </a:solidFill>
                <a:latin typeface="Montserrat"/>
                <a:ea typeface="Montserrat"/>
                <a:cs typeface="Montserrat"/>
                <a:sym typeface="Montserrat"/>
              </a:rPr>
              <a:t>u</a:t>
            </a:r>
            <a:r>
              <a:rPr lang="en-US" sz="2000" spc="-74" strike="noStrike" u="none">
                <a:solidFill>
                  <a:srgbClr val="424141"/>
                </a:solidFill>
                <a:latin typeface="Montserrat"/>
                <a:ea typeface="Montserrat"/>
                <a:cs typeface="Montserrat"/>
                <a:sym typeface="Montserrat"/>
              </a:rPr>
              <a:t>an.</a:t>
            </a:r>
          </a:p>
          <a:p>
            <a:pPr algn="just" marL="0" indent="0" lvl="0">
              <a:lnSpc>
                <a:spcPts val="3000"/>
              </a:lnSpc>
              <a:spcBef>
                <a:spcPct val="0"/>
              </a:spcBef>
            </a:pPr>
            <a:r>
              <a:rPr lang="en-US" sz="2000" spc="-74" strike="noStrike" u="none">
                <a:solidFill>
                  <a:srgbClr val="424141"/>
                </a:solidFill>
                <a:latin typeface="Montserrat"/>
                <a:ea typeface="Montserrat"/>
                <a:cs typeface="Montserrat"/>
                <a:sym typeface="Montserrat"/>
              </a:rPr>
              <a:t>•</a:t>
            </a:r>
            <a:r>
              <a:rPr lang="en-US" sz="2000" spc="-74" strike="noStrike" u="none">
                <a:solidFill>
                  <a:srgbClr val="42414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000" spc="-74" strike="noStrike" u="none">
                <a:solidFill>
                  <a:srgbClr val="424141"/>
                </a:solidFill>
                <a:latin typeface="Montserrat"/>
                <a:ea typeface="Montserrat"/>
                <a:cs typeface="Montserrat"/>
                <a:sym typeface="Montserrat"/>
              </a:rPr>
              <a:t>Mắt</a:t>
            </a:r>
            <a:r>
              <a:rPr lang="en-US" sz="2000" spc="-74" strike="noStrike" u="none">
                <a:solidFill>
                  <a:srgbClr val="42414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000" spc="-74" strike="noStrike" u="none">
                <a:solidFill>
                  <a:srgbClr val="424141"/>
                </a:solidFill>
                <a:latin typeface="Montserrat"/>
                <a:ea typeface="Montserrat"/>
                <a:cs typeface="Montserrat"/>
                <a:sym typeface="Montserrat"/>
              </a:rPr>
              <a:t>người</a:t>
            </a:r>
            <a:r>
              <a:rPr lang="en-US" sz="2000" spc="-74" strike="noStrike" u="none">
                <a:solidFill>
                  <a:srgbClr val="42414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000" spc="-74" strike="noStrike" u="none">
                <a:solidFill>
                  <a:srgbClr val="424141"/>
                </a:solidFill>
                <a:latin typeface="Montserrat"/>
                <a:ea typeface="Montserrat"/>
                <a:cs typeface="Montserrat"/>
                <a:sym typeface="Montserrat"/>
              </a:rPr>
              <a:t>k</a:t>
            </a:r>
            <a:r>
              <a:rPr lang="en-US" sz="2000" spc="-74" strike="noStrike" u="none">
                <a:solidFill>
                  <a:srgbClr val="424141"/>
                </a:solidFill>
                <a:latin typeface="Montserrat"/>
                <a:ea typeface="Montserrat"/>
                <a:cs typeface="Montserrat"/>
                <a:sym typeface="Montserrat"/>
              </a:rPr>
              <a:t>h</a:t>
            </a:r>
            <a:r>
              <a:rPr lang="en-US" sz="2000" spc="-74" strike="noStrike" u="none">
                <a:solidFill>
                  <a:srgbClr val="424141"/>
                </a:solidFill>
                <a:latin typeface="Montserrat"/>
                <a:ea typeface="Montserrat"/>
                <a:cs typeface="Montserrat"/>
                <a:sym typeface="Montserrat"/>
              </a:rPr>
              <a:t>ó qua</a:t>
            </a:r>
            <a:r>
              <a:rPr lang="en-US" sz="2000" spc="-74" strike="noStrike" u="none">
                <a:solidFill>
                  <a:srgbClr val="424141"/>
                </a:solidFill>
                <a:latin typeface="Montserrat"/>
                <a:ea typeface="Montserrat"/>
                <a:cs typeface="Montserrat"/>
                <a:sym typeface="Montserrat"/>
              </a:rPr>
              <a:t>n </a:t>
            </a:r>
            <a:r>
              <a:rPr lang="en-US" sz="2000" spc="-74" strike="noStrike" u="none">
                <a:solidFill>
                  <a:srgbClr val="424141"/>
                </a:solidFill>
                <a:latin typeface="Montserrat"/>
                <a:ea typeface="Montserrat"/>
                <a:cs typeface="Montserrat"/>
                <a:sym typeface="Montserrat"/>
              </a:rPr>
              <a:t>sá</a:t>
            </a:r>
            <a:r>
              <a:rPr lang="en-US" sz="2000" spc="-74" strike="noStrike" u="none">
                <a:solidFill>
                  <a:srgbClr val="424141"/>
                </a:solidFill>
                <a:latin typeface="Montserrat"/>
                <a:ea typeface="Montserrat"/>
                <a:cs typeface="Montserrat"/>
                <a:sym typeface="Montserrat"/>
              </a:rPr>
              <a:t>t và </a:t>
            </a:r>
            <a:r>
              <a:rPr lang="en-US" sz="2000" spc="-74" strike="noStrike" u="none">
                <a:solidFill>
                  <a:srgbClr val="424141"/>
                </a:solidFill>
                <a:latin typeface="Montserrat"/>
                <a:ea typeface="Montserrat"/>
                <a:cs typeface="Montserrat"/>
                <a:sym typeface="Montserrat"/>
              </a:rPr>
              <a:t>các </a:t>
            </a:r>
            <a:r>
              <a:rPr lang="en-US" sz="2000" spc="-74" strike="noStrike" u="none">
                <a:solidFill>
                  <a:srgbClr val="424141"/>
                </a:solidFill>
                <a:latin typeface="Montserrat"/>
                <a:ea typeface="Montserrat"/>
                <a:cs typeface="Montserrat"/>
                <a:sym typeface="Montserrat"/>
              </a:rPr>
              <a:t>t</a:t>
            </a:r>
            <a:r>
              <a:rPr lang="en-US" sz="2000" spc="-74" strike="noStrike" u="none">
                <a:solidFill>
                  <a:srgbClr val="424141"/>
                </a:solidFill>
                <a:latin typeface="Montserrat"/>
                <a:ea typeface="Montserrat"/>
                <a:cs typeface="Montserrat"/>
                <a:sym typeface="Montserrat"/>
              </a:rPr>
              <a:t>huật t</a:t>
            </a:r>
            <a:r>
              <a:rPr lang="en-US" sz="2000" spc="-74" strike="noStrike" u="none">
                <a:solidFill>
                  <a:srgbClr val="424141"/>
                </a:solidFill>
                <a:latin typeface="Montserrat"/>
                <a:ea typeface="Montserrat"/>
                <a:cs typeface="Montserrat"/>
                <a:sym typeface="Montserrat"/>
              </a:rPr>
              <a:t>oá</a:t>
            </a:r>
            <a:r>
              <a:rPr lang="en-US" sz="2000" spc="-74" strike="noStrike" u="none">
                <a:solidFill>
                  <a:srgbClr val="424141"/>
                </a:solidFill>
                <a:latin typeface="Montserrat"/>
                <a:ea typeface="Montserrat"/>
                <a:cs typeface="Montserrat"/>
                <a:sym typeface="Montserrat"/>
              </a:rPr>
              <a:t>n</a:t>
            </a:r>
            <a:r>
              <a:rPr lang="en-US" sz="2000" spc="-74" strike="noStrike" u="none">
                <a:solidFill>
                  <a:srgbClr val="42414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000" spc="-74" strike="noStrike" u="none">
                <a:solidFill>
                  <a:srgbClr val="424141"/>
                </a:solidFill>
                <a:latin typeface="Montserrat"/>
                <a:ea typeface="Montserrat"/>
                <a:cs typeface="Montserrat"/>
                <a:sym typeface="Montserrat"/>
              </a:rPr>
              <a:t>AI/Compu</a:t>
            </a:r>
            <a:r>
              <a:rPr lang="en-US" sz="2000" spc="-74" strike="noStrike" u="none">
                <a:solidFill>
                  <a:srgbClr val="424141"/>
                </a:solidFill>
                <a:latin typeface="Montserrat"/>
                <a:ea typeface="Montserrat"/>
                <a:cs typeface="Montserrat"/>
                <a:sym typeface="Montserrat"/>
              </a:rPr>
              <a:t>t</a:t>
            </a:r>
            <a:r>
              <a:rPr lang="en-US" sz="2000" spc="-74" strike="noStrike" u="none">
                <a:solidFill>
                  <a:srgbClr val="424141"/>
                </a:solidFill>
                <a:latin typeface="Montserrat"/>
                <a:ea typeface="Montserrat"/>
                <a:cs typeface="Montserrat"/>
                <a:sym typeface="Montserrat"/>
              </a:rPr>
              <a:t>e</a:t>
            </a:r>
            <a:r>
              <a:rPr lang="en-US" sz="2000" spc="-74" strike="noStrike" u="none">
                <a:solidFill>
                  <a:srgbClr val="424141"/>
                </a:solidFill>
                <a:latin typeface="Montserrat"/>
                <a:ea typeface="Montserrat"/>
                <a:cs typeface="Montserrat"/>
                <a:sym typeface="Montserrat"/>
              </a:rPr>
              <a:t>r </a:t>
            </a:r>
            <a:r>
              <a:rPr lang="en-US" sz="2000" spc="-74" strike="noStrike" u="none">
                <a:solidFill>
                  <a:srgbClr val="424141"/>
                </a:solidFill>
                <a:latin typeface="Montserrat"/>
                <a:ea typeface="Montserrat"/>
                <a:cs typeface="Montserrat"/>
                <a:sym typeface="Montserrat"/>
              </a:rPr>
              <a:t>Visio</a:t>
            </a:r>
            <a:r>
              <a:rPr lang="en-US" sz="2000" spc="-74" strike="noStrike" u="none">
                <a:solidFill>
                  <a:srgbClr val="424141"/>
                </a:solidFill>
                <a:latin typeface="Montserrat"/>
                <a:ea typeface="Montserrat"/>
                <a:cs typeface="Montserrat"/>
                <a:sym typeface="Montserrat"/>
              </a:rPr>
              <a:t>n</a:t>
            </a:r>
            <a:r>
              <a:rPr lang="en-US" sz="2000" spc="-74" strike="noStrike" u="none">
                <a:solidFill>
                  <a:srgbClr val="42414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000" spc="-74" strike="noStrike" u="none">
                <a:solidFill>
                  <a:srgbClr val="424141"/>
                </a:solidFill>
                <a:latin typeface="Montserrat"/>
                <a:ea typeface="Montserrat"/>
                <a:cs typeface="Montserrat"/>
                <a:sym typeface="Montserrat"/>
              </a:rPr>
              <a:t>g</a:t>
            </a:r>
            <a:r>
              <a:rPr lang="en-US" sz="2000" spc="-74" strike="noStrike" u="none">
                <a:solidFill>
                  <a:srgbClr val="424141"/>
                </a:solidFill>
                <a:latin typeface="Montserrat"/>
                <a:ea typeface="Montserrat"/>
                <a:cs typeface="Montserrat"/>
                <a:sym typeface="Montserrat"/>
              </a:rPr>
              <a:t>iảm</a:t>
            </a:r>
            <a:r>
              <a:rPr lang="en-US" sz="2000" spc="-74" strike="noStrike" u="none">
                <a:solidFill>
                  <a:srgbClr val="42414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000" spc="-74" strike="noStrike" u="none">
                <a:solidFill>
                  <a:srgbClr val="424141"/>
                </a:solidFill>
                <a:latin typeface="Montserrat"/>
                <a:ea typeface="Montserrat"/>
                <a:cs typeface="Montserrat"/>
                <a:sym typeface="Montserrat"/>
              </a:rPr>
              <a:t>độ c</a:t>
            </a:r>
            <a:r>
              <a:rPr lang="en-US" sz="2000" spc="-74" strike="noStrike" u="none">
                <a:solidFill>
                  <a:srgbClr val="424141"/>
                </a:solidFill>
                <a:latin typeface="Montserrat"/>
                <a:ea typeface="Montserrat"/>
                <a:cs typeface="Montserrat"/>
                <a:sym typeface="Montserrat"/>
              </a:rPr>
              <a:t>h</a:t>
            </a:r>
            <a:r>
              <a:rPr lang="en-US" sz="2000" spc="-74" strike="noStrike" u="none">
                <a:solidFill>
                  <a:srgbClr val="424141"/>
                </a:solidFill>
                <a:latin typeface="Montserrat"/>
                <a:ea typeface="Montserrat"/>
                <a:cs typeface="Montserrat"/>
                <a:sym typeface="Montserrat"/>
              </a:rPr>
              <a:t>í</a:t>
            </a:r>
            <a:r>
              <a:rPr lang="en-US" sz="2000" spc="-74" strike="noStrike" u="none">
                <a:solidFill>
                  <a:srgbClr val="424141"/>
                </a:solidFill>
                <a:latin typeface="Montserrat"/>
                <a:ea typeface="Montserrat"/>
                <a:cs typeface="Montserrat"/>
                <a:sym typeface="Montserrat"/>
              </a:rPr>
              <a:t>n</a:t>
            </a:r>
            <a:r>
              <a:rPr lang="en-US" sz="2000" spc="-74" strike="noStrike" u="none">
                <a:solidFill>
                  <a:srgbClr val="424141"/>
                </a:solidFill>
                <a:latin typeface="Montserrat"/>
                <a:ea typeface="Montserrat"/>
                <a:cs typeface="Montserrat"/>
                <a:sym typeface="Montserrat"/>
              </a:rPr>
              <a:t>h xác</a:t>
            </a:r>
            <a:r>
              <a:rPr lang="en-US" sz="2000" spc="-74" strike="noStrike" u="none">
                <a:solidFill>
                  <a:srgbClr val="42414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000" spc="-74" strike="noStrike" u="none">
                <a:solidFill>
                  <a:srgbClr val="424141"/>
                </a:solidFill>
                <a:latin typeface="Montserrat"/>
                <a:ea typeface="Montserrat"/>
                <a:cs typeface="Montserrat"/>
                <a:sym typeface="Montserrat"/>
              </a:rPr>
              <a:t>kh</a:t>
            </a:r>
            <a:r>
              <a:rPr lang="en-US" sz="2000" spc="-74" strike="noStrike" u="none">
                <a:solidFill>
                  <a:srgbClr val="424141"/>
                </a:solidFill>
                <a:latin typeface="Montserrat"/>
                <a:ea typeface="Montserrat"/>
                <a:cs typeface="Montserrat"/>
                <a:sym typeface="Montserrat"/>
              </a:rPr>
              <a:t>i</a:t>
            </a:r>
            <a:r>
              <a:rPr lang="en-US" sz="2000" spc="-74" strike="noStrike" u="none">
                <a:solidFill>
                  <a:srgbClr val="424141"/>
                </a:solidFill>
                <a:latin typeface="Montserrat"/>
                <a:ea typeface="Montserrat"/>
                <a:cs typeface="Montserrat"/>
                <a:sym typeface="Montserrat"/>
              </a:rPr>
              <a:t> ả</a:t>
            </a:r>
            <a:r>
              <a:rPr lang="en-US" sz="2000" spc="-74" strike="noStrike" u="none">
                <a:solidFill>
                  <a:srgbClr val="424141"/>
                </a:solidFill>
                <a:latin typeface="Montserrat"/>
                <a:ea typeface="Montserrat"/>
                <a:cs typeface="Montserrat"/>
                <a:sym typeface="Montserrat"/>
              </a:rPr>
              <a:t>n</a:t>
            </a:r>
            <a:r>
              <a:rPr lang="en-US" sz="2000" spc="-74" strike="noStrike" u="none">
                <a:solidFill>
                  <a:srgbClr val="424141"/>
                </a:solidFill>
                <a:latin typeface="Montserrat"/>
                <a:ea typeface="Montserrat"/>
                <a:cs typeface="Montserrat"/>
                <a:sym typeface="Montserrat"/>
              </a:rPr>
              <a:t>h</a:t>
            </a:r>
            <a:r>
              <a:rPr lang="en-US" sz="2000" spc="-74" strike="noStrike" u="none">
                <a:solidFill>
                  <a:srgbClr val="42414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000" spc="-74" strike="noStrike" u="none">
                <a:solidFill>
                  <a:srgbClr val="424141"/>
                </a:solidFill>
                <a:latin typeface="Montserrat"/>
                <a:ea typeface="Montserrat"/>
                <a:cs typeface="Montserrat"/>
                <a:sym typeface="Montserrat"/>
              </a:rPr>
              <a:t>đầu vào c</a:t>
            </a:r>
            <a:r>
              <a:rPr lang="en-US" sz="2000" spc="-74" strike="noStrike" u="none">
                <a:solidFill>
                  <a:srgbClr val="424141"/>
                </a:solidFill>
                <a:latin typeface="Montserrat"/>
                <a:ea typeface="Montserrat"/>
                <a:cs typeface="Montserrat"/>
                <a:sym typeface="Montserrat"/>
              </a:rPr>
              <a:t>h</a:t>
            </a:r>
            <a:r>
              <a:rPr lang="en-US" sz="2000" spc="-74" strike="noStrike" u="none">
                <a:solidFill>
                  <a:srgbClr val="424141"/>
                </a:solidFill>
                <a:latin typeface="Montserrat"/>
                <a:ea typeface="Montserrat"/>
                <a:cs typeface="Montserrat"/>
                <a:sym typeface="Montserrat"/>
              </a:rPr>
              <a:t>ất</a:t>
            </a:r>
            <a:r>
              <a:rPr lang="en-US" sz="2000" spc="-74" strike="noStrike" u="none">
                <a:solidFill>
                  <a:srgbClr val="424141"/>
                </a:solidFill>
                <a:latin typeface="Montserrat"/>
                <a:ea typeface="Montserrat"/>
                <a:cs typeface="Montserrat"/>
                <a:sym typeface="Montserrat"/>
              </a:rPr>
              <a:t> l</a:t>
            </a:r>
            <a:r>
              <a:rPr lang="en-US" sz="2000" spc="-74" strike="noStrike" u="none">
                <a:solidFill>
                  <a:srgbClr val="424141"/>
                </a:solidFill>
                <a:latin typeface="Montserrat"/>
                <a:ea typeface="Montserrat"/>
                <a:cs typeface="Montserrat"/>
                <a:sym typeface="Montserrat"/>
              </a:rPr>
              <a:t>ượ</a:t>
            </a:r>
            <a:r>
              <a:rPr lang="en-US" sz="2000" spc="-74" strike="noStrike" u="none">
                <a:solidFill>
                  <a:srgbClr val="424141"/>
                </a:solidFill>
                <a:latin typeface="Montserrat"/>
                <a:ea typeface="Montserrat"/>
                <a:cs typeface="Montserrat"/>
                <a:sym typeface="Montserrat"/>
              </a:rPr>
              <a:t>n</a:t>
            </a:r>
            <a:r>
              <a:rPr lang="en-US" sz="2000" spc="-74" strike="noStrike" u="none">
                <a:solidFill>
                  <a:srgbClr val="424141"/>
                </a:solidFill>
                <a:latin typeface="Montserrat"/>
                <a:ea typeface="Montserrat"/>
                <a:cs typeface="Montserrat"/>
                <a:sym typeface="Montserrat"/>
              </a:rPr>
              <a:t>g kém</a:t>
            </a:r>
            <a:r>
              <a:rPr lang="en-US" sz="2000" spc="-74" strike="noStrike" u="none">
                <a:solidFill>
                  <a:srgbClr val="424141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algn="just" marL="0" indent="0" lvl="0">
              <a:lnSpc>
                <a:spcPts val="3000"/>
              </a:lnSpc>
              <a:spcBef>
                <a:spcPct val="0"/>
              </a:spcBef>
            </a:pPr>
          </a:p>
        </p:txBody>
      </p:sp>
      <p:grpSp>
        <p:nvGrpSpPr>
          <p:cNvPr name="Group 51" id="51"/>
          <p:cNvGrpSpPr/>
          <p:nvPr/>
        </p:nvGrpSpPr>
        <p:grpSpPr>
          <a:xfrm rot="0">
            <a:off x="14394969" y="1208043"/>
            <a:ext cx="2864331" cy="662597"/>
            <a:chOff x="0" y="0"/>
            <a:chExt cx="890574" cy="206014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890574" cy="206014"/>
            </a:xfrm>
            <a:custGeom>
              <a:avLst/>
              <a:gdLst/>
              <a:ahLst/>
              <a:cxnLst/>
              <a:rect r="r" b="b" t="t" l="l"/>
              <a:pathLst>
                <a:path h="206014" w="890574">
                  <a:moveTo>
                    <a:pt x="54057" y="0"/>
                  </a:moveTo>
                  <a:lnTo>
                    <a:pt x="836516" y="0"/>
                  </a:lnTo>
                  <a:cubicBezTo>
                    <a:pt x="850853" y="0"/>
                    <a:pt x="864603" y="5695"/>
                    <a:pt x="874741" y="15833"/>
                  </a:cubicBezTo>
                  <a:cubicBezTo>
                    <a:pt x="884878" y="25971"/>
                    <a:pt x="890574" y="39721"/>
                    <a:pt x="890574" y="54057"/>
                  </a:cubicBezTo>
                  <a:lnTo>
                    <a:pt x="890574" y="151956"/>
                  </a:lnTo>
                  <a:cubicBezTo>
                    <a:pt x="890574" y="181811"/>
                    <a:pt x="866371" y="206014"/>
                    <a:pt x="836516" y="206014"/>
                  </a:cubicBezTo>
                  <a:lnTo>
                    <a:pt x="54057" y="206014"/>
                  </a:lnTo>
                  <a:cubicBezTo>
                    <a:pt x="39721" y="206014"/>
                    <a:pt x="25971" y="200318"/>
                    <a:pt x="15833" y="190181"/>
                  </a:cubicBezTo>
                  <a:cubicBezTo>
                    <a:pt x="5695" y="180043"/>
                    <a:pt x="0" y="166293"/>
                    <a:pt x="0" y="151956"/>
                  </a:cubicBezTo>
                  <a:lnTo>
                    <a:pt x="0" y="54057"/>
                  </a:lnTo>
                  <a:cubicBezTo>
                    <a:pt x="0" y="24202"/>
                    <a:pt x="24202" y="0"/>
                    <a:pt x="54057" y="0"/>
                  </a:cubicBezTo>
                  <a:close/>
                </a:path>
              </a:pathLst>
            </a:custGeom>
            <a:ln w="28575" cap="sq">
              <a:solidFill>
                <a:srgbClr val="424141"/>
              </a:solidFill>
              <a:prstDash val="solid"/>
              <a:miter/>
            </a:ln>
          </p:spPr>
        </p:sp>
        <p:sp>
          <p:nvSpPr>
            <p:cNvPr name="TextBox 53" id="53"/>
            <p:cNvSpPr txBox="true"/>
            <p:nvPr/>
          </p:nvSpPr>
          <p:spPr>
            <a:xfrm>
              <a:off x="0" y="-9525"/>
              <a:ext cx="890574" cy="2155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560"/>
                </a:lnSpc>
              </a:pPr>
            </a:p>
          </p:txBody>
        </p:sp>
      </p:grpSp>
      <p:sp>
        <p:nvSpPr>
          <p:cNvPr name="TextBox 54" id="54"/>
          <p:cNvSpPr txBox="true"/>
          <p:nvPr/>
        </p:nvSpPr>
        <p:spPr>
          <a:xfrm rot="0">
            <a:off x="14394969" y="1409623"/>
            <a:ext cx="2864331" cy="280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87"/>
              </a:lnSpc>
            </a:pPr>
            <a:r>
              <a:rPr lang="en-US" sz="1705" spc="-37">
                <a:solidFill>
                  <a:srgbClr val="424141"/>
                </a:solidFill>
                <a:latin typeface="Montserrat"/>
                <a:ea typeface="Montserrat"/>
                <a:cs typeface="Montserrat"/>
                <a:sym typeface="Montserrat"/>
              </a:rPr>
              <a:t>XỬ LÝ ẢNH SỐ</a:t>
            </a:r>
          </a:p>
        </p:txBody>
      </p:sp>
    </p:spTree>
  </p:cSld>
  <p:clrMapOvr>
    <a:masterClrMapping/>
  </p:clrMapOvr>
  <p:transition spd="slow">
    <p:fade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2388C">
                <a:alpha val="100000"/>
              </a:srgbClr>
            </a:gs>
            <a:gs pos="100000">
              <a:srgbClr val="3893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09814" y="167020"/>
            <a:ext cx="2323166" cy="9952960"/>
            <a:chOff x="0" y="0"/>
            <a:chExt cx="611863" cy="262135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11863" cy="2621356"/>
            </a:xfrm>
            <a:custGeom>
              <a:avLst/>
              <a:gdLst/>
              <a:ahLst/>
              <a:cxnLst/>
              <a:rect r="r" b="b" t="t" l="l"/>
              <a:pathLst>
                <a:path h="2621356" w="611863">
                  <a:moveTo>
                    <a:pt x="166624" y="0"/>
                  </a:moveTo>
                  <a:lnTo>
                    <a:pt x="445238" y="0"/>
                  </a:lnTo>
                  <a:cubicBezTo>
                    <a:pt x="537262" y="0"/>
                    <a:pt x="611863" y="74600"/>
                    <a:pt x="611863" y="166624"/>
                  </a:cubicBezTo>
                  <a:lnTo>
                    <a:pt x="611863" y="2454731"/>
                  </a:lnTo>
                  <a:cubicBezTo>
                    <a:pt x="611863" y="2546755"/>
                    <a:pt x="537262" y="2621356"/>
                    <a:pt x="445238" y="2621356"/>
                  </a:cubicBezTo>
                  <a:lnTo>
                    <a:pt x="166624" y="2621356"/>
                  </a:lnTo>
                  <a:cubicBezTo>
                    <a:pt x="74600" y="2621356"/>
                    <a:pt x="0" y="2546755"/>
                    <a:pt x="0" y="2454731"/>
                  </a:cubicBezTo>
                  <a:lnTo>
                    <a:pt x="0" y="166624"/>
                  </a:lnTo>
                  <a:cubicBezTo>
                    <a:pt x="0" y="74600"/>
                    <a:pt x="74600" y="0"/>
                    <a:pt x="166624" y="0"/>
                  </a:cubicBezTo>
                  <a:close/>
                </a:path>
              </a:pathLst>
            </a:custGeom>
            <a:solidFill>
              <a:srgbClr val="2063C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611863" cy="26594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36305" y="4662997"/>
            <a:ext cx="1387838" cy="961005"/>
            <a:chOff x="0" y="0"/>
            <a:chExt cx="365521" cy="25310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65521" cy="253104"/>
            </a:xfrm>
            <a:custGeom>
              <a:avLst/>
              <a:gdLst/>
              <a:ahLst/>
              <a:cxnLst/>
              <a:rect r="r" b="b" t="t" l="l"/>
              <a:pathLst>
                <a:path h="253104" w="365521">
                  <a:moveTo>
                    <a:pt x="126552" y="0"/>
                  </a:moveTo>
                  <a:lnTo>
                    <a:pt x="238969" y="0"/>
                  </a:lnTo>
                  <a:cubicBezTo>
                    <a:pt x="308862" y="0"/>
                    <a:pt x="365521" y="56659"/>
                    <a:pt x="365521" y="126552"/>
                  </a:cubicBezTo>
                  <a:lnTo>
                    <a:pt x="365521" y="126552"/>
                  </a:lnTo>
                  <a:cubicBezTo>
                    <a:pt x="365521" y="196445"/>
                    <a:pt x="308862" y="253104"/>
                    <a:pt x="238969" y="253104"/>
                  </a:cubicBezTo>
                  <a:lnTo>
                    <a:pt x="126552" y="253104"/>
                  </a:lnTo>
                  <a:cubicBezTo>
                    <a:pt x="56659" y="253104"/>
                    <a:pt x="0" y="196445"/>
                    <a:pt x="0" y="126552"/>
                  </a:cubicBezTo>
                  <a:lnTo>
                    <a:pt x="0" y="126552"/>
                  </a:lnTo>
                  <a:cubicBezTo>
                    <a:pt x="0" y="56659"/>
                    <a:pt x="56659" y="0"/>
                    <a:pt x="12655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65521" cy="2912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597652" y="167020"/>
            <a:ext cx="16414232" cy="9952960"/>
            <a:chOff x="0" y="0"/>
            <a:chExt cx="4323090" cy="262135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323090" cy="2621356"/>
            </a:xfrm>
            <a:custGeom>
              <a:avLst/>
              <a:gdLst/>
              <a:ahLst/>
              <a:cxnLst/>
              <a:rect r="r" b="b" t="t" l="l"/>
              <a:pathLst>
                <a:path h="2621356" w="4323090">
                  <a:moveTo>
                    <a:pt x="23583" y="0"/>
                  </a:moveTo>
                  <a:lnTo>
                    <a:pt x="4299507" y="0"/>
                  </a:lnTo>
                  <a:cubicBezTo>
                    <a:pt x="4312532" y="0"/>
                    <a:pt x="4323090" y="10558"/>
                    <a:pt x="4323090" y="23583"/>
                  </a:cubicBezTo>
                  <a:lnTo>
                    <a:pt x="4323090" y="2597773"/>
                  </a:lnTo>
                  <a:cubicBezTo>
                    <a:pt x="4323090" y="2610797"/>
                    <a:pt x="4312532" y="2621356"/>
                    <a:pt x="4299507" y="2621356"/>
                  </a:cubicBezTo>
                  <a:lnTo>
                    <a:pt x="23583" y="2621356"/>
                  </a:lnTo>
                  <a:cubicBezTo>
                    <a:pt x="10558" y="2621356"/>
                    <a:pt x="0" y="2610797"/>
                    <a:pt x="0" y="2597773"/>
                  </a:cubicBezTo>
                  <a:lnTo>
                    <a:pt x="0" y="23583"/>
                  </a:lnTo>
                  <a:cubicBezTo>
                    <a:pt x="0" y="10558"/>
                    <a:pt x="10558" y="0"/>
                    <a:pt x="2358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323090" cy="26594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2773732" y="4049847"/>
            <a:ext cx="4100858" cy="2243954"/>
            <a:chOff x="0" y="0"/>
            <a:chExt cx="2848370" cy="155860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848370" cy="1558603"/>
            </a:xfrm>
            <a:custGeom>
              <a:avLst/>
              <a:gdLst/>
              <a:ahLst/>
              <a:cxnLst/>
              <a:rect r="r" b="b" t="t" l="l"/>
              <a:pathLst>
                <a:path h="1558603" w="2848370">
                  <a:moveTo>
                    <a:pt x="24542" y="0"/>
                  </a:moveTo>
                  <a:lnTo>
                    <a:pt x="2823827" y="0"/>
                  </a:lnTo>
                  <a:cubicBezTo>
                    <a:pt x="2837381" y="0"/>
                    <a:pt x="2848370" y="10988"/>
                    <a:pt x="2848370" y="24542"/>
                  </a:cubicBezTo>
                  <a:lnTo>
                    <a:pt x="2848370" y="1534061"/>
                  </a:lnTo>
                  <a:cubicBezTo>
                    <a:pt x="2848370" y="1540570"/>
                    <a:pt x="2845784" y="1546812"/>
                    <a:pt x="2841181" y="1551415"/>
                  </a:cubicBezTo>
                  <a:cubicBezTo>
                    <a:pt x="2836579" y="1556017"/>
                    <a:pt x="2830336" y="1558603"/>
                    <a:pt x="2823827" y="1558603"/>
                  </a:cubicBezTo>
                  <a:lnTo>
                    <a:pt x="24542" y="1558603"/>
                  </a:lnTo>
                  <a:cubicBezTo>
                    <a:pt x="18033" y="1558603"/>
                    <a:pt x="11791" y="1556017"/>
                    <a:pt x="7188" y="1551415"/>
                  </a:cubicBezTo>
                  <a:cubicBezTo>
                    <a:pt x="2586" y="1546812"/>
                    <a:pt x="0" y="1540570"/>
                    <a:pt x="0" y="1534061"/>
                  </a:cubicBezTo>
                  <a:lnTo>
                    <a:pt x="0" y="24542"/>
                  </a:lnTo>
                  <a:cubicBezTo>
                    <a:pt x="0" y="18033"/>
                    <a:pt x="2586" y="11791"/>
                    <a:pt x="7188" y="7188"/>
                  </a:cubicBezTo>
                  <a:cubicBezTo>
                    <a:pt x="11791" y="2586"/>
                    <a:pt x="18033" y="0"/>
                    <a:pt x="24542" y="0"/>
                  </a:cubicBezTo>
                  <a:close/>
                </a:path>
              </a:pathLst>
            </a:custGeom>
            <a:solidFill>
              <a:srgbClr val="EB574C"/>
            </a:solidFill>
            <a:ln w="9525" cap="sq">
              <a:solidFill>
                <a:srgbClr val="424141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28575"/>
              <a:ext cx="2848370" cy="1530028"/>
            </a:xfrm>
            <a:prstGeom prst="rect">
              <a:avLst/>
            </a:prstGeom>
          </p:spPr>
          <p:txBody>
            <a:bodyPr anchor="ctr" rtlCol="false" tIns="39013" lIns="39013" bIns="39013" rIns="39013"/>
            <a:lstStyle/>
            <a:p>
              <a:pPr algn="ctr" marL="0" indent="0" lvl="0">
                <a:lnSpc>
                  <a:spcPts val="1297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680211" y="4944284"/>
            <a:ext cx="550013" cy="456288"/>
          </a:xfrm>
          <a:custGeom>
            <a:avLst/>
            <a:gdLst/>
            <a:ahLst/>
            <a:cxnLst/>
            <a:rect r="r" b="b" t="t" l="l"/>
            <a:pathLst>
              <a:path h="456288" w="550013">
                <a:moveTo>
                  <a:pt x="0" y="0"/>
                </a:moveTo>
                <a:lnTo>
                  <a:pt x="550013" y="0"/>
                </a:lnTo>
                <a:lnTo>
                  <a:pt x="550013" y="456288"/>
                </a:lnTo>
                <a:lnTo>
                  <a:pt x="0" y="4562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-20013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2771775" y="819150"/>
            <a:ext cx="8848725" cy="2616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357"/>
              </a:lnSpc>
            </a:pPr>
            <a:r>
              <a:rPr lang="en-US" b="true" sz="8490" spc="-526">
                <a:solidFill>
                  <a:srgbClr val="42414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</a:t>
            </a:r>
            <a:r>
              <a:rPr lang="en-US" b="true" sz="8490" spc="-526">
                <a:solidFill>
                  <a:srgbClr val="42414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ỤC TIÊU</a:t>
            </a:r>
          </a:p>
          <a:p>
            <a:pPr algn="l" marL="0" indent="0" lvl="0">
              <a:lnSpc>
                <a:spcPts val="10357"/>
              </a:lnSpc>
              <a:spcBef>
                <a:spcPct val="0"/>
              </a:spcBef>
            </a:pPr>
            <a:r>
              <a:rPr lang="en-US" b="true" sz="8490" spc="-526">
                <a:solidFill>
                  <a:srgbClr val="42414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&amp; ĐẦU RA</a:t>
            </a:r>
          </a:p>
        </p:txBody>
      </p:sp>
      <p:sp>
        <p:nvSpPr>
          <p:cNvPr name="AutoShape 16" id="16"/>
          <p:cNvSpPr/>
          <p:nvPr/>
        </p:nvSpPr>
        <p:spPr>
          <a:xfrm>
            <a:off x="628726" y="1279706"/>
            <a:ext cx="550013" cy="0"/>
          </a:xfrm>
          <a:prstGeom prst="line">
            <a:avLst/>
          </a:prstGeom>
          <a:ln cap="flat" w="476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>
            <a:off x="628726" y="1427234"/>
            <a:ext cx="550013" cy="0"/>
          </a:xfrm>
          <a:prstGeom prst="line">
            <a:avLst/>
          </a:prstGeom>
          <a:ln cap="flat" w="476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>
            <a:off x="628726" y="1570109"/>
            <a:ext cx="550013" cy="0"/>
          </a:xfrm>
          <a:prstGeom prst="line">
            <a:avLst/>
          </a:prstGeom>
          <a:ln cap="flat" w="476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9" id="19"/>
          <p:cNvSpPr/>
          <p:nvPr/>
        </p:nvSpPr>
        <p:spPr>
          <a:xfrm flipH="false" flipV="false" rot="0">
            <a:off x="628726" y="6029222"/>
            <a:ext cx="652982" cy="652982"/>
          </a:xfrm>
          <a:custGeom>
            <a:avLst/>
            <a:gdLst/>
            <a:ahLst/>
            <a:cxnLst/>
            <a:rect r="r" b="b" t="t" l="l"/>
            <a:pathLst>
              <a:path h="652982" w="652982">
                <a:moveTo>
                  <a:pt x="0" y="0"/>
                </a:moveTo>
                <a:lnTo>
                  <a:pt x="652983" y="0"/>
                </a:lnTo>
                <a:lnTo>
                  <a:pt x="652983" y="652983"/>
                </a:lnTo>
                <a:lnTo>
                  <a:pt x="0" y="6529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628726" y="8621062"/>
            <a:ext cx="652982" cy="652982"/>
          </a:xfrm>
          <a:custGeom>
            <a:avLst/>
            <a:gdLst/>
            <a:ahLst/>
            <a:cxnLst/>
            <a:rect r="r" b="b" t="t" l="l"/>
            <a:pathLst>
              <a:path h="652982" w="652982">
                <a:moveTo>
                  <a:pt x="0" y="0"/>
                </a:moveTo>
                <a:lnTo>
                  <a:pt x="652983" y="0"/>
                </a:lnTo>
                <a:lnTo>
                  <a:pt x="652983" y="652982"/>
                </a:lnTo>
                <a:lnTo>
                  <a:pt x="0" y="65298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2952598" y="4158677"/>
            <a:ext cx="2933893" cy="585514"/>
            <a:chOff x="0" y="0"/>
            <a:chExt cx="2037821" cy="40668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037821" cy="406686"/>
            </a:xfrm>
            <a:custGeom>
              <a:avLst/>
              <a:gdLst/>
              <a:ahLst/>
              <a:cxnLst/>
              <a:rect r="r" b="b" t="t" l="l"/>
              <a:pathLst>
                <a:path h="406686" w="2037821">
                  <a:moveTo>
                    <a:pt x="34304" y="0"/>
                  </a:moveTo>
                  <a:lnTo>
                    <a:pt x="2003516" y="0"/>
                  </a:lnTo>
                  <a:cubicBezTo>
                    <a:pt x="2012614" y="0"/>
                    <a:pt x="2021340" y="3614"/>
                    <a:pt x="2027773" y="10047"/>
                  </a:cubicBezTo>
                  <a:cubicBezTo>
                    <a:pt x="2034206" y="16481"/>
                    <a:pt x="2037821" y="25206"/>
                    <a:pt x="2037821" y="34304"/>
                  </a:cubicBezTo>
                  <a:lnTo>
                    <a:pt x="2037821" y="372382"/>
                  </a:lnTo>
                  <a:cubicBezTo>
                    <a:pt x="2037821" y="391327"/>
                    <a:pt x="2022462" y="406686"/>
                    <a:pt x="2003516" y="406686"/>
                  </a:cubicBezTo>
                  <a:lnTo>
                    <a:pt x="34304" y="406686"/>
                  </a:lnTo>
                  <a:cubicBezTo>
                    <a:pt x="25206" y="406686"/>
                    <a:pt x="16481" y="403072"/>
                    <a:pt x="10047" y="396639"/>
                  </a:cubicBezTo>
                  <a:cubicBezTo>
                    <a:pt x="3614" y="390205"/>
                    <a:pt x="0" y="381480"/>
                    <a:pt x="0" y="372382"/>
                  </a:cubicBezTo>
                  <a:lnTo>
                    <a:pt x="0" y="34304"/>
                  </a:lnTo>
                  <a:cubicBezTo>
                    <a:pt x="0" y="15359"/>
                    <a:pt x="15359" y="0"/>
                    <a:pt x="34304" y="0"/>
                  </a:cubicBezTo>
                  <a:close/>
                </a:path>
              </a:pathLst>
            </a:custGeom>
            <a:solidFill>
              <a:srgbClr val="FFDE59"/>
            </a:solidFill>
            <a:ln w="9525" cap="sq">
              <a:solidFill>
                <a:srgbClr val="424141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28575"/>
              <a:ext cx="2037821" cy="378111"/>
            </a:xfrm>
            <a:prstGeom prst="rect">
              <a:avLst/>
            </a:prstGeom>
          </p:spPr>
          <p:txBody>
            <a:bodyPr anchor="ctr" rtlCol="false" tIns="39013" lIns="39013" bIns="39013" rIns="39013"/>
            <a:lstStyle/>
            <a:p>
              <a:pPr algn="ctr" marL="0" indent="0" lvl="0">
                <a:lnSpc>
                  <a:spcPts val="1297"/>
                </a:lnSpc>
              </a:pP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0">
            <a:off x="628726" y="7339018"/>
            <a:ext cx="652982" cy="625231"/>
          </a:xfrm>
          <a:custGeom>
            <a:avLst/>
            <a:gdLst/>
            <a:ahLst/>
            <a:cxnLst/>
            <a:rect r="r" b="b" t="t" l="l"/>
            <a:pathLst>
              <a:path h="625231" w="652982">
                <a:moveTo>
                  <a:pt x="0" y="0"/>
                </a:moveTo>
                <a:lnTo>
                  <a:pt x="652983" y="0"/>
                </a:lnTo>
                <a:lnTo>
                  <a:pt x="652983" y="625231"/>
                </a:lnTo>
                <a:lnTo>
                  <a:pt x="0" y="62523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5" id="25"/>
          <p:cNvGrpSpPr/>
          <p:nvPr/>
        </p:nvGrpSpPr>
        <p:grpSpPr>
          <a:xfrm rot="0">
            <a:off x="6141714" y="3896425"/>
            <a:ext cx="1025142" cy="1025142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063CD"/>
            </a:solidFill>
            <a:ln w="19050" cap="sq">
              <a:solidFill>
                <a:srgbClr val="424141"/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39013" lIns="39013" bIns="39013" rIns="39013"/>
            <a:lstStyle/>
            <a:p>
              <a:pPr algn="ctr" marL="0" indent="0" lvl="0">
                <a:lnSpc>
                  <a:spcPts val="1297"/>
                </a:lnSpc>
              </a:pPr>
            </a:p>
          </p:txBody>
        </p:sp>
      </p:grpSp>
      <p:sp>
        <p:nvSpPr>
          <p:cNvPr name="Freeform 28" id="28"/>
          <p:cNvSpPr/>
          <p:nvPr/>
        </p:nvSpPr>
        <p:spPr>
          <a:xfrm flipH="false" flipV="false" rot="0">
            <a:off x="6387001" y="4095937"/>
            <a:ext cx="487589" cy="626118"/>
          </a:xfrm>
          <a:custGeom>
            <a:avLst/>
            <a:gdLst/>
            <a:ahLst/>
            <a:cxnLst/>
            <a:rect r="r" b="b" t="t" l="l"/>
            <a:pathLst>
              <a:path h="626118" w="487589">
                <a:moveTo>
                  <a:pt x="0" y="0"/>
                </a:moveTo>
                <a:lnTo>
                  <a:pt x="487589" y="0"/>
                </a:lnTo>
                <a:lnTo>
                  <a:pt x="487589" y="626118"/>
                </a:lnTo>
                <a:lnTo>
                  <a:pt x="0" y="62611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9" id="29"/>
          <p:cNvGrpSpPr/>
          <p:nvPr/>
        </p:nvGrpSpPr>
        <p:grpSpPr>
          <a:xfrm rot="0">
            <a:off x="7585955" y="4049847"/>
            <a:ext cx="4100858" cy="2243954"/>
            <a:chOff x="0" y="0"/>
            <a:chExt cx="2848370" cy="1558603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848370" cy="1558603"/>
            </a:xfrm>
            <a:custGeom>
              <a:avLst/>
              <a:gdLst/>
              <a:ahLst/>
              <a:cxnLst/>
              <a:rect r="r" b="b" t="t" l="l"/>
              <a:pathLst>
                <a:path h="1558603" w="2848370">
                  <a:moveTo>
                    <a:pt x="24542" y="0"/>
                  </a:moveTo>
                  <a:lnTo>
                    <a:pt x="2823827" y="0"/>
                  </a:lnTo>
                  <a:cubicBezTo>
                    <a:pt x="2837381" y="0"/>
                    <a:pt x="2848370" y="10988"/>
                    <a:pt x="2848370" y="24542"/>
                  </a:cubicBezTo>
                  <a:lnTo>
                    <a:pt x="2848370" y="1534061"/>
                  </a:lnTo>
                  <a:cubicBezTo>
                    <a:pt x="2848370" y="1540570"/>
                    <a:pt x="2845784" y="1546812"/>
                    <a:pt x="2841181" y="1551415"/>
                  </a:cubicBezTo>
                  <a:cubicBezTo>
                    <a:pt x="2836579" y="1556017"/>
                    <a:pt x="2830336" y="1558603"/>
                    <a:pt x="2823827" y="1558603"/>
                  </a:cubicBezTo>
                  <a:lnTo>
                    <a:pt x="24542" y="1558603"/>
                  </a:lnTo>
                  <a:cubicBezTo>
                    <a:pt x="18033" y="1558603"/>
                    <a:pt x="11791" y="1556017"/>
                    <a:pt x="7188" y="1551415"/>
                  </a:cubicBezTo>
                  <a:cubicBezTo>
                    <a:pt x="2586" y="1546812"/>
                    <a:pt x="0" y="1540570"/>
                    <a:pt x="0" y="1534061"/>
                  </a:cubicBezTo>
                  <a:lnTo>
                    <a:pt x="0" y="24542"/>
                  </a:lnTo>
                  <a:cubicBezTo>
                    <a:pt x="0" y="18033"/>
                    <a:pt x="2586" y="11791"/>
                    <a:pt x="7188" y="7188"/>
                  </a:cubicBezTo>
                  <a:cubicBezTo>
                    <a:pt x="11791" y="2586"/>
                    <a:pt x="18033" y="0"/>
                    <a:pt x="24542" y="0"/>
                  </a:cubicBezTo>
                  <a:close/>
                </a:path>
              </a:pathLst>
            </a:custGeom>
            <a:solidFill>
              <a:srgbClr val="2063CD"/>
            </a:solidFill>
            <a:ln w="9525" cap="sq">
              <a:solidFill>
                <a:srgbClr val="424141"/>
              </a:solidFill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28575"/>
              <a:ext cx="2848370" cy="1530028"/>
            </a:xfrm>
            <a:prstGeom prst="rect">
              <a:avLst/>
            </a:prstGeom>
          </p:spPr>
          <p:txBody>
            <a:bodyPr anchor="ctr" rtlCol="false" tIns="39013" lIns="39013" bIns="39013" rIns="39013"/>
            <a:lstStyle/>
            <a:p>
              <a:pPr algn="ctr" marL="0" indent="0" lvl="0">
                <a:lnSpc>
                  <a:spcPts val="1297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7764821" y="4158677"/>
            <a:ext cx="2933893" cy="585514"/>
            <a:chOff x="0" y="0"/>
            <a:chExt cx="2037821" cy="40668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037821" cy="406686"/>
            </a:xfrm>
            <a:custGeom>
              <a:avLst/>
              <a:gdLst/>
              <a:ahLst/>
              <a:cxnLst/>
              <a:rect r="r" b="b" t="t" l="l"/>
              <a:pathLst>
                <a:path h="406686" w="2037821">
                  <a:moveTo>
                    <a:pt x="34304" y="0"/>
                  </a:moveTo>
                  <a:lnTo>
                    <a:pt x="2003516" y="0"/>
                  </a:lnTo>
                  <a:cubicBezTo>
                    <a:pt x="2012614" y="0"/>
                    <a:pt x="2021340" y="3614"/>
                    <a:pt x="2027773" y="10047"/>
                  </a:cubicBezTo>
                  <a:cubicBezTo>
                    <a:pt x="2034206" y="16481"/>
                    <a:pt x="2037821" y="25206"/>
                    <a:pt x="2037821" y="34304"/>
                  </a:cubicBezTo>
                  <a:lnTo>
                    <a:pt x="2037821" y="372382"/>
                  </a:lnTo>
                  <a:cubicBezTo>
                    <a:pt x="2037821" y="391327"/>
                    <a:pt x="2022462" y="406686"/>
                    <a:pt x="2003516" y="406686"/>
                  </a:cubicBezTo>
                  <a:lnTo>
                    <a:pt x="34304" y="406686"/>
                  </a:lnTo>
                  <a:cubicBezTo>
                    <a:pt x="25206" y="406686"/>
                    <a:pt x="16481" y="403072"/>
                    <a:pt x="10047" y="396639"/>
                  </a:cubicBezTo>
                  <a:cubicBezTo>
                    <a:pt x="3614" y="390205"/>
                    <a:pt x="0" y="381480"/>
                    <a:pt x="0" y="372382"/>
                  </a:cubicBezTo>
                  <a:lnTo>
                    <a:pt x="0" y="34304"/>
                  </a:lnTo>
                  <a:cubicBezTo>
                    <a:pt x="0" y="15359"/>
                    <a:pt x="15359" y="0"/>
                    <a:pt x="34304" y="0"/>
                  </a:cubicBezTo>
                  <a:close/>
                </a:path>
              </a:pathLst>
            </a:custGeom>
            <a:solidFill>
              <a:srgbClr val="FFDE59"/>
            </a:solidFill>
            <a:ln w="9525" cap="sq">
              <a:solidFill>
                <a:srgbClr val="424141"/>
              </a:solidFill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28575"/>
              <a:ext cx="2037821" cy="378111"/>
            </a:xfrm>
            <a:prstGeom prst="rect">
              <a:avLst/>
            </a:prstGeom>
          </p:spPr>
          <p:txBody>
            <a:bodyPr anchor="ctr" rtlCol="false" tIns="39013" lIns="39013" bIns="39013" rIns="39013"/>
            <a:lstStyle/>
            <a:p>
              <a:pPr algn="ctr" marL="0" indent="0" lvl="0">
                <a:lnSpc>
                  <a:spcPts val="1297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0955890" y="3896425"/>
            <a:ext cx="1025142" cy="1025142"/>
            <a:chOff x="0" y="0"/>
            <a:chExt cx="812800" cy="8128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B574C"/>
            </a:solidFill>
            <a:ln w="19050" cap="sq">
              <a:solidFill>
                <a:srgbClr val="424141"/>
              </a:solidFill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39013" lIns="39013" bIns="39013" rIns="39013"/>
            <a:lstStyle/>
            <a:p>
              <a:pPr algn="ctr" marL="0" indent="0" lvl="0">
                <a:lnSpc>
                  <a:spcPts val="1297"/>
                </a:lnSpc>
              </a:pPr>
            </a:p>
          </p:txBody>
        </p:sp>
      </p:grpSp>
      <p:sp>
        <p:nvSpPr>
          <p:cNvPr name="Freeform 38" id="38"/>
          <p:cNvSpPr/>
          <p:nvPr/>
        </p:nvSpPr>
        <p:spPr>
          <a:xfrm flipH="false" flipV="false" rot="0">
            <a:off x="11175017" y="4137927"/>
            <a:ext cx="586888" cy="542138"/>
          </a:xfrm>
          <a:custGeom>
            <a:avLst/>
            <a:gdLst/>
            <a:ahLst/>
            <a:cxnLst/>
            <a:rect r="r" b="b" t="t" l="l"/>
            <a:pathLst>
              <a:path h="542138" w="586888">
                <a:moveTo>
                  <a:pt x="0" y="0"/>
                </a:moveTo>
                <a:lnTo>
                  <a:pt x="586887" y="0"/>
                </a:lnTo>
                <a:lnTo>
                  <a:pt x="586887" y="542137"/>
                </a:lnTo>
                <a:lnTo>
                  <a:pt x="0" y="54213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9" id="39"/>
          <p:cNvGrpSpPr/>
          <p:nvPr/>
        </p:nvGrpSpPr>
        <p:grpSpPr>
          <a:xfrm rot="0">
            <a:off x="2771749" y="6571048"/>
            <a:ext cx="4100858" cy="2243954"/>
            <a:chOff x="0" y="0"/>
            <a:chExt cx="2848370" cy="1558603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848370" cy="1558603"/>
            </a:xfrm>
            <a:custGeom>
              <a:avLst/>
              <a:gdLst/>
              <a:ahLst/>
              <a:cxnLst/>
              <a:rect r="r" b="b" t="t" l="l"/>
              <a:pathLst>
                <a:path h="1558603" w="2848370">
                  <a:moveTo>
                    <a:pt x="24542" y="0"/>
                  </a:moveTo>
                  <a:lnTo>
                    <a:pt x="2823827" y="0"/>
                  </a:lnTo>
                  <a:cubicBezTo>
                    <a:pt x="2837381" y="0"/>
                    <a:pt x="2848370" y="10988"/>
                    <a:pt x="2848370" y="24542"/>
                  </a:cubicBezTo>
                  <a:lnTo>
                    <a:pt x="2848370" y="1534061"/>
                  </a:lnTo>
                  <a:cubicBezTo>
                    <a:pt x="2848370" y="1540570"/>
                    <a:pt x="2845784" y="1546812"/>
                    <a:pt x="2841181" y="1551415"/>
                  </a:cubicBezTo>
                  <a:cubicBezTo>
                    <a:pt x="2836579" y="1556017"/>
                    <a:pt x="2830336" y="1558603"/>
                    <a:pt x="2823827" y="1558603"/>
                  </a:cubicBezTo>
                  <a:lnTo>
                    <a:pt x="24542" y="1558603"/>
                  </a:lnTo>
                  <a:cubicBezTo>
                    <a:pt x="18033" y="1558603"/>
                    <a:pt x="11791" y="1556017"/>
                    <a:pt x="7188" y="1551415"/>
                  </a:cubicBezTo>
                  <a:cubicBezTo>
                    <a:pt x="2586" y="1546812"/>
                    <a:pt x="0" y="1540570"/>
                    <a:pt x="0" y="1534061"/>
                  </a:cubicBezTo>
                  <a:lnTo>
                    <a:pt x="0" y="24542"/>
                  </a:lnTo>
                  <a:cubicBezTo>
                    <a:pt x="0" y="18033"/>
                    <a:pt x="2586" y="11791"/>
                    <a:pt x="7188" y="7188"/>
                  </a:cubicBezTo>
                  <a:cubicBezTo>
                    <a:pt x="11791" y="2586"/>
                    <a:pt x="18033" y="0"/>
                    <a:pt x="2454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2388C">
                    <a:alpha val="100000"/>
                  </a:srgbClr>
                </a:gs>
                <a:gs pos="100000">
                  <a:srgbClr val="3893FF">
                    <a:alpha val="100000"/>
                  </a:srgbClr>
                </a:gs>
              </a:gsLst>
              <a:lin ang="0"/>
            </a:gradFill>
            <a:ln w="9525" cap="sq">
              <a:solidFill>
                <a:srgbClr val="424141"/>
              </a:solidFill>
              <a:prstDash val="solid"/>
              <a:miter/>
            </a:ln>
          </p:spPr>
        </p:sp>
        <p:sp>
          <p:nvSpPr>
            <p:cNvPr name="TextBox 41" id="41"/>
            <p:cNvSpPr txBox="true"/>
            <p:nvPr/>
          </p:nvSpPr>
          <p:spPr>
            <a:xfrm>
              <a:off x="0" y="28575"/>
              <a:ext cx="2848370" cy="1530028"/>
            </a:xfrm>
            <a:prstGeom prst="rect">
              <a:avLst/>
            </a:prstGeom>
          </p:spPr>
          <p:txBody>
            <a:bodyPr anchor="ctr" rtlCol="false" tIns="39013" lIns="39013" bIns="39013" rIns="39013"/>
            <a:lstStyle/>
            <a:p>
              <a:pPr algn="ctr" marL="0" indent="0" lvl="0">
                <a:lnSpc>
                  <a:spcPts val="1297"/>
                </a:lnSpc>
              </a:pP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2950615" y="6692327"/>
            <a:ext cx="2933893" cy="585514"/>
            <a:chOff x="0" y="0"/>
            <a:chExt cx="2037821" cy="406686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037821" cy="406686"/>
            </a:xfrm>
            <a:custGeom>
              <a:avLst/>
              <a:gdLst/>
              <a:ahLst/>
              <a:cxnLst/>
              <a:rect r="r" b="b" t="t" l="l"/>
              <a:pathLst>
                <a:path h="406686" w="2037821">
                  <a:moveTo>
                    <a:pt x="34304" y="0"/>
                  </a:moveTo>
                  <a:lnTo>
                    <a:pt x="2003516" y="0"/>
                  </a:lnTo>
                  <a:cubicBezTo>
                    <a:pt x="2012614" y="0"/>
                    <a:pt x="2021340" y="3614"/>
                    <a:pt x="2027773" y="10047"/>
                  </a:cubicBezTo>
                  <a:cubicBezTo>
                    <a:pt x="2034206" y="16481"/>
                    <a:pt x="2037821" y="25206"/>
                    <a:pt x="2037821" y="34304"/>
                  </a:cubicBezTo>
                  <a:lnTo>
                    <a:pt x="2037821" y="372382"/>
                  </a:lnTo>
                  <a:cubicBezTo>
                    <a:pt x="2037821" y="391327"/>
                    <a:pt x="2022462" y="406686"/>
                    <a:pt x="2003516" y="406686"/>
                  </a:cubicBezTo>
                  <a:lnTo>
                    <a:pt x="34304" y="406686"/>
                  </a:lnTo>
                  <a:cubicBezTo>
                    <a:pt x="25206" y="406686"/>
                    <a:pt x="16481" y="403072"/>
                    <a:pt x="10047" y="396639"/>
                  </a:cubicBezTo>
                  <a:cubicBezTo>
                    <a:pt x="3614" y="390205"/>
                    <a:pt x="0" y="381480"/>
                    <a:pt x="0" y="372382"/>
                  </a:cubicBezTo>
                  <a:lnTo>
                    <a:pt x="0" y="34304"/>
                  </a:lnTo>
                  <a:cubicBezTo>
                    <a:pt x="0" y="15359"/>
                    <a:pt x="15359" y="0"/>
                    <a:pt x="34304" y="0"/>
                  </a:cubicBezTo>
                  <a:close/>
                </a:path>
              </a:pathLst>
            </a:custGeom>
            <a:solidFill>
              <a:srgbClr val="FFDE59"/>
            </a:solidFill>
            <a:ln w="9525" cap="sq">
              <a:solidFill>
                <a:srgbClr val="424141"/>
              </a:solidFill>
              <a:prstDash val="solid"/>
              <a:miter/>
            </a:ln>
          </p:spPr>
        </p:sp>
        <p:sp>
          <p:nvSpPr>
            <p:cNvPr name="TextBox 44" id="44"/>
            <p:cNvSpPr txBox="true"/>
            <p:nvPr/>
          </p:nvSpPr>
          <p:spPr>
            <a:xfrm>
              <a:off x="0" y="28575"/>
              <a:ext cx="2037821" cy="378111"/>
            </a:xfrm>
            <a:prstGeom prst="rect">
              <a:avLst/>
            </a:prstGeom>
          </p:spPr>
          <p:txBody>
            <a:bodyPr anchor="ctr" rtlCol="false" tIns="39013" lIns="39013" bIns="39013" rIns="39013"/>
            <a:lstStyle/>
            <a:p>
              <a:pPr algn="ctr" marL="0" indent="0" lvl="0">
                <a:lnSpc>
                  <a:spcPts val="1297"/>
                </a:lnSpc>
              </a:pP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6139731" y="6417626"/>
            <a:ext cx="1025142" cy="1025142"/>
            <a:chOff x="0" y="0"/>
            <a:chExt cx="812800" cy="8128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063CD"/>
            </a:solidFill>
            <a:ln w="19050" cap="sq">
              <a:solidFill>
                <a:srgbClr val="424141"/>
              </a:solidFill>
              <a:prstDash val="solid"/>
              <a:miter/>
            </a:ln>
          </p:spPr>
        </p:sp>
        <p:sp>
          <p:nvSpPr>
            <p:cNvPr name="TextBox 47" id="47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39013" lIns="39013" bIns="39013" rIns="39013"/>
            <a:lstStyle/>
            <a:p>
              <a:pPr algn="ctr" marL="0" indent="0" lvl="0">
                <a:lnSpc>
                  <a:spcPts val="1297"/>
                </a:lnSpc>
              </a:pP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7583973" y="6571048"/>
            <a:ext cx="4100858" cy="2243954"/>
            <a:chOff x="0" y="0"/>
            <a:chExt cx="2848370" cy="1558603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848370" cy="1558603"/>
            </a:xfrm>
            <a:custGeom>
              <a:avLst/>
              <a:gdLst/>
              <a:ahLst/>
              <a:cxnLst/>
              <a:rect r="r" b="b" t="t" l="l"/>
              <a:pathLst>
                <a:path h="1558603" w="2848370">
                  <a:moveTo>
                    <a:pt x="24542" y="0"/>
                  </a:moveTo>
                  <a:lnTo>
                    <a:pt x="2823827" y="0"/>
                  </a:lnTo>
                  <a:cubicBezTo>
                    <a:pt x="2837381" y="0"/>
                    <a:pt x="2848370" y="10988"/>
                    <a:pt x="2848370" y="24542"/>
                  </a:cubicBezTo>
                  <a:lnTo>
                    <a:pt x="2848370" y="1534061"/>
                  </a:lnTo>
                  <a:cubicBezTo>
                    <a:pt x="2848370" y="1540570"/>
                    <a:pt x="2845784" y="1546812"/>
                    <a:pt x="2841181" y="1551415"/>
                  </a:cubicBezTo>
                  <a:cubicBezTo>
                    <a:pt x="2836579" y="1556017"/>
                    <a:pt x="2830336" y="1558603"/>
                    <a:pt x="2823827" y="1558603"/>
                  </a:cubicBezTo>
                  <a:lnTo>
                    <a:pt x="24542" y="1558603"/>
                  </a:lnTo>
                  <a:cubicBezTo>
                    <a:pt x="18033" y="1558603"/>
                    <a:pt x="11791" y="1556017"/>
                    <a:pt x="7188" y="1551415"/>
                  </a:cubicBezTo>
                  <a:cubicBezTo>
                    <a:pt x="2586" y="1546812"/>
                    <a:pt x="0" y="1540570"/>
                    <a:pt x="0" y="1534061"/>
                  </a:cubicBezTo>
                  <a:lnTo>
                    <a:pt x="0" y="24542"/>
                  </a:lnTo>
                  <a:cubicBezTo>
                    <a:pt x="0" y="18033"/>
                    <a:pt x="2586" y="11791"/>
                    <a:pt x="7188" y="7188"/>
                  </a:cubicBezTo>
                  <a:cubicBezTo>
                    <a:pt x="11791" y="2586"/>
                    <a:pt x="18033" y="0"/>
                    <a:pt x="24542" y="0"/>
                  </a:cubicBezTo>
                  <a:close/>
                </a:path>
              </a:pathLst>
            </a:custGeom>
            <a:solidFill>
              <a:srgbClr val="EB574C"/>
            </a:solidFill>
            <a:ln w="9525" cap="sq">
              <a:solidFill>
                <a:srgbClr val="424141"/>
              </a:solidFill>
              <a:prstDash val="solid"/>
              <a:miter/>
            </a:ln>
          </p:spPr>
        </p:sp>
        <p:sp>
          <p:nvSpPr>
            <p:cNvPr name="TextBox 50" id="50"/>
            <p:cNvSpPr txBox="true"/>
            <p:nvPr/>
          </p:nvSpPr>
          <p:spPr>
            <a:xfrm>
              <a:off x="0" y="28575"/>
              <a:ext cx="2848370" cy="1530028"/>
            </a:xfrm>
            <a:prstGeom prst="rect">
              <a:avLst/>
            </a:prstGeom>
          </p:spPr>
          <p:txBody>
            <a:bodyPr anchor="ctr" rtlCol="false" tIns="39013" lIns="39013" bIns="39013" rIns="39013"/>
            <a:lstStyle/>
            <a:p>
              <a:pPr algn="ctr" marL="0" indent="0" lvl="0">
                <a:lnSpc>
                  <a:spcPts val="1297"/>
                </a:lnSpc>
              </a:pP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7762839" y="6692327"/>
            <a:ext cx="2933893" cy="585514"/>
            <a:chOff x="0" y="0"/>
            <a:chExt cx="2037821" cy="406686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2037821" cy="406686"/>
            </a:xfrm>
            <a:custGeom>
              <a:avLst/>
              <a:gdLst/>
              <a:ahLst/>
              <a:cxnLst/>
              <a:rect r="r" b="b" t="t" l="l"/>
              <a:pathLst>
                <a:path h="406686" w="2037821">
                  <a:moveTo>
                    <a:pt x="34304" y="0"/>
                  </a:moveTo>
                  <a:lnTo>
                    <a:pt x="2003516" y="0"/>
                  </a:lnTo>
                  <a:cubicBezTo>
                    <a:pt x="2012614" y="0"/>
                    <a:pt x="2021340" y="3614"/>
                    <a:pt x="2027773" y="10047"/>
                  </a:cubicBezTo>
                  <a:cubicBezTo>
                    <a:pt x="2034206" y="16481"/>
                    <a:pt x="2037821" y="25206"/>
                    <a:pt x="2037821" y="34304"/>
                  </a:cubicBezTo>
                  <a:lnTo>
                    <a:pt x="2037821" y="372382"/>
                  </a:lnTo>
                  <a:cubicBezTo>
                    <a:pt x="2037821" y="391327"/>
                    <a:pt x="2022462" y="406686"/>
                    <a:pt x="2003516" y="406686"/>
                  </a:cubicBezTo>
                  <a:lnTo>
                    <a:pt x="34304" y="406686"/>
                  </a:lnTo>
                  <a:cubicBezTo>
                    <a:pt x="25206" y="406686"/>
                    <a:pt x="16481" y="403072"/>
                    <a:pt x="10047" y="396639"/>
                  </a:cubicBezTo>
                  <a:cubicBezTo>
                    <a:pt x="3614" y="390205"/>
                    <a:pt x="0" y="381480"/>
                    <a:pt x="0" y="372382"/>
                  </a:cubicBezTo>
                  <a:lnTo>
                    <a:pt x="0" y="34304"/>
                  </a:lnTo>
                  <a:cubicBezTo>
                    <a:pt x="0" y="15359"/>
                    <a:pt x="15359" y="0"/>
                    <a:pt x="34304" y="0"/>
                  </a:cubicBezTo>
                  <a:close/>
                </a:path>
              </a:pathLst>
            </a:custGeom>
            <a:solidFill>
              <a:srgbClr val="FFDE59"/>
            </a:solidFill>
            <a:ln w="9525" cap="sq">
              <a:solidFill>
                <a:srgbClr val="424141"/>
              </a:solidFill>
              <a:prstDash val="solid"/>
              <a:miter/>
            </a:ln>
          </p:spPr>
        </p:sp>
        <p:sp>
          <p:nvSpPr>
            <p:cNvPr name="TextBox 53" id="53"/>
            <p:cNvSpPr txBox="true"/>
            <p:nvPr/>
          </p:nvSpPr>
          <p:spPr>
            <a:xfrm>
              <a:off x="0" y="28575"/>
              <a:ext cx="2037821" cy="378111"/>
            </a:xfrm>
            <a:prstGeom prst="rect">
              <a:avLst/>
            </a:prstGeom>
          </p:spPr>
          <p:txBody>
            <a:bodyPr anchor="ctr" rtlCol="false" tIns="39013" lIns="39013" bIns="39013" rIns="39013"/>
            <a:lstStyle/>
            <a:p>
              <a:pPr algn="ctr" marL="0" indent="0" lvl="0">
                <a:lnSpc>
                  <a:spcPts val="1297"/>
                </a:lnSpc>
              </a:pP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0953907" y="6417626"/>
            <a:ext cx="1025142" cy="1025142"/>
            <a:chOff x="0" y="0"/>
            <a:chExt cx="812800" cy="8128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2388C">
                    <a:alpha val="100000"/>
                  </a:srgbClr>
                </a:gs>
                <a:gs pos="100000">
                  <a:srgbClr val="3893FF">
                    <a:alpha val="100000"/>
                  </a:srgbClr>
                </a:gs>
              </a:gsLst>
              <a:lin ang="0"/>
            </a:gradFill>
            <a:ln w="19050" cap="sq">
              <a:solidFill>
                <a:srgbClr val="424141"/>
              </a:solidFill>
              <a:prstDash val="solid"/>
              <a:miter/>
            </a:ln>
          </p:spPr>
        </p:sp>
        <p:sp>
          <p:nvSpPr>
            <p:cNvPr name="TextBox 56" id="56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39013" lIns="39013" bIns="39013" rIns="39013"/>
            <a:lstStyle/>
            <a:p>
              <a:pPr algn="ctr" marL="0" indent="0" lvl="0">
                <a:lnSpc>
                  <a:spcPts val="1297"/>
                </a:lnSpc>
              </a:pPr>
            </a:p>
          </p:txBody>
        </p:sp>
      </p:grpSp>
      <p:sp>
        <p:nvSpPr>
          <p:cNvPr name="Freeform 57" id="57"/>
          <p:cNvSpPr/>
          <p:nvPr/>
        </p:nvSpPr>
        <p:spPr>
          <a:xfrm flipH="false" flipV="false" rot="0">
            <a:off x="11128359" y="6592077"/>
            <a:ext cx="676239" cy="676239"/>
          </a:xfrm>
          <a:custGeom>
            <a:avLst/>
            <a:gdLst/>
            <a:ahLst/>
            <a:cxnLst/>
            <a:rect r="r" b="b" t="t" l="l"/>
            <a:pathLst>
              <a:path h="676239" w="676239">
                <a:moveTo>
                  <a:pt x="0" y="0"/>
                </a:moveTo>
                <a:lnTo>
                  <a:pt x="676238" y="0"/>
                </a:lnTo>
                <a:lnTo>
                  <a:pt x="676238" y="676239"/>
                </a:lnTo>
                <a:lnTo>
                  <a:pt x="0" y="67623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8" id="58"/>
          <p:cNvSpPr/>
          <p:nvPr/>
        </p:nvSpPr>
        <p:spPr>
          <a:xfrm flipH="false" flipV="false" rot="0">
            <a:off x="6360490" y="6670849"/>
            <a:ext cx="583624" cy="518695"/>
          </a:xfrm>
          <a:custGeom>
            <a:avLst/>
            <a:gdLst/>
            <a:ahLst/>
            <a:cxnLst/>
            <a:rect r="r" b="b" t="t" l="l"/>
            <a:pathLst>
              <a:path h="518695" w="583624">
                <a:moveTo>
                  <a:pt x="0" y="0"/>
                </a:moveTo>
                <a:lnTo>
                  <a:pt x="583624" y="0"/>
                </a:lnTo>
                <a:lnTo>
                  <a:pt x="583624" y="518695"/>
                </a:lnTo>
                <a:lnTo>
                  <a:pt x="0" y="518695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9" id="59"/>
          <p:cNvSpPr txBox="true"/>
          <p:nvPr/>
        </p:nvSpPr>
        <p:spPr>
          <a:xfrm rot="0">
            <a:off x="3000375" y="4892991"/>
            <a:ext cx="3629025" cy="544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207"/>
              </a:lnSpc>
              <a:spcBef>
                <a:spcPct val="0"/>
              </a:spcBef>
            </a:pPr>
            <a:r>
              <a:rPr lang="en-US" sz="1599" spc="-5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</a:t>
            </a:r>
            <a:r>
              <a:rPr lang="en-US" sz="1599" spc="-59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à</a:t>
            </a:r>
            <a:r>
              <a:rPr lang="en-US" sz="1599" spc="-59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</a:t>
            </a:r>
            <a:r>
              <a:rPr lang="en-US" sz="1599" spc="-59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99" spc="-59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</a:t>
            </a:r>
            <a:r>
              <a:rPr lang="en-US" sz="1599" spc="-59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</a:t>
            </a:r>
            <a:r>
              <a:rPr lang="en-US" sz="1599" spc="-59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ủ</a:t>
            </a:r>
            <a:r>
              <a:rPr lang="en-US" sz="1599" spc="-59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ng</a:t>
            </a:r>
            <a:r>
              <a:rPr lang="en-US" sz="1599" spc="-59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u</a:t>
            </a:r>
            <a:r>
              <a:rPr lang="en-US" sz="1599" spc="-59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y</a:t>
            </a:r>
            <a:r>
              <a:rPr lang="en-US" sz="1599" spc="-59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ê</a:t>
            </a:r>
            <a:r>
              <a:rPr lang="en-US" sz="1599" spc="-59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 </a:t>
            </a:r>
            <a:r>
              <a:rPr lang="en-US" sz="1599" spc="-59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lý</a:t>
            </a:r>
            <a:r>
              <a:rPr lang="en-US" sz="1599" spc="-59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t</a:t>
            </a:r>
            <a:r>
              <a:rPr lang="en-US" sz="1599" spc="-59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oá</a:t>
            </a:r>
            <a:r>
              <a:rPr lang="en-US" sz="1599" spc="-59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 học </a:t>
            </a:r>
            <a:r>
              <a:rPr lang="en-US" sz="1599" spc="-59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của</a:t>
            </a:r>
            <a:r>
              <a:rPr lang="en-US" sz="1599" spc="-59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99" spc="-59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Glob</a:t>
            </a:r>
            <a:r>
              <a:rPr lang="en-US" sz="1599" spc="-59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</a:t>
            </a:r>
            <a:r>
              <a:rPr lang="en-US" sz="1599" spc="-59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</a:t>
            </a:r>
            <a:r>
              <a:rPr lang="en-US" sz="1599" spc="-59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99" spc="-59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HE</a:t>
            </a:r>
            <a:r>
              <a:rPr lang="en-US" sz="1599" spc="-59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99" spc="-59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và</a:t>
            </a:r>
            <a:r>
              <a:rPr lang="en-US" sz="1599" spc="-59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99" spc="-59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CLAHE</a:t>
            </a:r>
            <a:r>
              <a:rPr lang="en-US" sz="1599" spc="-59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c</a:t>
            </a:r>
            <a:r>
              <a:rPr lang="en-US" sz="1599" spc="-59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ục</a:t>
            </a:r>
            <a:r>
              <a:rPr lang="en-US" sz="1599" spc="-59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99" spc="-59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bộ</a:t>
            </a:r>
            <a:r>
              <a:rPr lang="en-US" sz="1599" spc="-59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th</a:t>
            </a:r>
            <a:r>
              <a:rPr lang="en-US" sz="1599" spc="-59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íc</a:t>
            </a:r>
            <a:r>
              <a:rPr lang="en-US" sz="1599" spc="-59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 </a:t>
            </a:r>
            <a:r>
              <a:rPr lang="en-US" sz="1599" spc="-59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ứ</a:t>
            </a:r>
            <a:r>
              <a:rPr lang="en-US" sz="1599" spc="-59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</a:t>
            </a:r>
            <a:r>
              <a:rPr lang="en-US" sz="1599" spc="-59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g</a:t>
            </a:r>
            <a:r>
              <a:rPr lang="en-US" sz="1599" spc="-59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3162300" y="4296240"/>
            <a:ext cx="2524125" cy="319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95"/>
              </a:lnSpc>
              <a:spcBef>
                <a:spcPct val="0"/>
              </a:spcBef>
            </a:pPr>
            <a:r>
              <a:rPr lang="en-US" b="true" sz="2199" spc="-15">
                <a:solidFill>
                  <a:srgbClr val="42414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Thuật Toán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7820025" y="4892991"/>
            <a:ext cx="3629025" cy="820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207"/>
              </a:lnSpc>
              <a:spcBef>
                <a:spcPct val="0"/>
              </a:spcBef>
            </a:pPr>
            <a:r>
              <a:rPr lang="en-US" sz="1599" spc="-5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Xây</a:t>
            </a:r>
            <a:r>
              <a:rPr lang="en-US" sz="1599" spc="-59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99" spc="-59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dự</a:t>
            </a:r>
            <a:r>
              <a:rPr lang="en-US" sz="1599" spc="-59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</a:t>
            </a:r>
            <a:r>
              <a:rPr lang="en-US" sz="1599" spc="-59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g</a:t>
            </a:r>
            <a:r>
              <a:rPr lang="en-US" sz="1599" spc="-59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99" spc="-59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mã</a:t>
            </a:r>
            <a:r>
              <a:rPr lang="en-US" sz="1599" spc="-59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n</a:t>
            </a:r>
            <a:r>
              <a:rPr lang="en-US" sz="1599" spc="-59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guồ</a:t>
            </a:r>
            <a:r>
              <a:rPr lang="en-US" sz="1599" spc="-59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 </a:t>
            </a:r>
            <a:r>
              <a:rPr lang="en-US" sz="1599" spc="-59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Py</a:t>
            </a:r>
            <a:r>
              <a:rPr lang="en-US" sz="1599" spc="-59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</a:t>
            </a:r>
            <a:r>
              <a:rPr lang="en-US" sz="1599" spc="-59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</a:t>
            </a:r>
            <a:r>
              <a:rPr lang="en-US" sz="1599" spc="-59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 t</a:t>
            </a:r>
            <a:r>
              <a:rPr lang="en-US" sz="1599" spc="-59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ối</a:t>
            </a:r>
            <a:r>
              <a:rPr lang="en-US" sz="1599" spc="-59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ưu </a:t>
            </a:r>
            <a:r>
              <a:rPr lang="en-US" sz="1599" spc="-59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(kết</a:t>
            </a:r>
            <a:r>
              <a:rPr lang="en-US" sz="1599" spc="-59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h</a:t>
            </a:r>
            <a:r>
              <a:rPr lang="en-US" sz="1599" spc="-59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ợp</a:t>
            </a:r>
            <a:r>
              <a:rPr lang="en-US" sz="1599" spc="-59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99" spc="-59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</a:t>
            </a:r>
            <a:r>
              <a:rPr lang="en-US" sz="1599" spc="-59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ự cài </a:t>
            </a:r>
            <a:r>
              <a:rPr lang="en-US" sz="1599" spc="-59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đặ</a:t>
            </a:r>
            <a:r>
              <a:rPr lang="en-US" sz="1599" spc="-59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 th</a:t>
            </a:r>
            <a:r>
              <a:rPr lang="en-US" sz="1599" spc="-59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ủ</a:t>
            </a:r>
            <a:r>
              <a:rPr lang="en-US" sz="1599" spc="-59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c</a:t>
            </a:r>
            <a:r>
              <a:rPr lang="en-US" sz="1599" spc="-59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ô</a:t>
            </a:r>
            <a:r>
              <a:rPr lang="en-US" sz="1599" spc="-59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</a:t>
            </a:r>
            <a:r>
              <a:rPr lang="en-US" sz="1599" spc="-59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g</a:t>
            </a:r>
            <a:r>
              <a:rPr lang="en-US" sz="1599" spc="-59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99" spc="-59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&amp; Ope</a:t>
            </a:r>
            <a:r>
              <a:rPr lang="en-US" sz="1599" spc="-59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</a:t>
            </a:r>
            <a:r>
              <a:rPr lang="en-US" sz="1599" spc="-59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CV</a:t>
            </a:r>
            <a:r>
              <a:rPr lang="en-US" sz="1599" spc="-59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).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7972425" y="4296240"/>
            <a:ext cx="2524125" cy="319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95"/>
              </a:lnSpc>
              <a:spcBef>
                <a:spcPct val="0"/>
              </a:spcBef>
            </a:pPr>
            <a:r>
              <a:rPr lang="en-US" b="true" sz="2199" spc="-15">
                <a:solidFill>
                  <a:srgbClr val="42414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Lập Trình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3000375" y="7407591"/>
            <a:ext cx="3629025" cy="820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207"/>
              </a:lnSpc>
              <a:spcBef>
                <a:spcPct val="0"/>
              </a:spcBef>
            </a:pPr>
            <a:r>
              <a:rPr lang="en-US" sz="1599" spc="-5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Đo đạ</a:t>
            </a:r>
            <a:r>
              <a:rPr lang="en-US" sz="1599" spc="-59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 </a:t>
            </a:r>
            <a:r>
              <a:rPr lang="en-US" sz="1599" spc="-59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5 c</a:t>
            </a:r>
            <a:r>
              <a:rPr lang="en-US" sz="1599" spc="-59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</a:t>
            </a:r>
            <a:r>
              <a:rPr lang="en-US" sz="1599" spc="-59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ỉ số</a:t>
            </a:r>
            <a:r>
              <a:rPr lang="en-US" sz="1599" spc="-59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99" spc="-59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Me</a:t>
            </a:r>
            <a:r>
              <a:rPr lang="en-US" sz="1599" spc="-59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an</a:t>
            </a:r>
            <a:r>
              <a:rPr lang="en-US" sz="1599" spc="-59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,</a:t>
            </a:r>
            <a:r>
              <a:rPr lang="en-US" sz="1599" spc="-59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99" spc="-59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</a:t>
            </a:r>
            <a:r>
              <a:rPr lang="en-US" sz="1599" spc="-59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</a:t>
            </a:r>
            <a:r>
              <a:rPr lang="en-US" sz="1599" spc="-59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</a:t>
            </a:r>
            <a:r>
              <a:rPr lang="en-US" sz="1599" spc="-59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99" spc="-59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Dev</a:t>
            </a:r>
            <a:r>
              <a:rPr lang="en-US" sz="1599" spc="-59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en-US" sz="1599" spc="-59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</a:t>
            </a:r>
            <a:r>
              <a:rPr lang="en-US" sz="1599" spc="-59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nt</a:t>
            </a:r>
            <a:r>
              <a:rPr lang="en-US" sz="1599" spc="-59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ropy,</a:t>
            </a:r>
            <a:r>
              <a:rPr lang="en-US" sz="1599" spc="-59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99" spc="-59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PSNR</a:t>
            </a:r>
            <a:r>
              <a:rPr lang="en-US" sz="1599" spc="-59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en-US" sz="1599" spc="-59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SSIM</a:t>
            </a:r>
            <a:r>
              <a:rPr lang="en-US" sz="1599" spc="-59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t</a:t>
            </a:r>
            <a:r>
              <a:rPr lang="en-US" sz="1599" spc="-59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rê</a:t>
            </a:r>
            <a:r>
              <a:rPr lang="en-US" sz="1599" spc="-59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 t</a:t>
            </a:r>
            <a:r>
              <a:rPr lang="en-US" sz="1599" spc="-59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ập</a:t>
            </a:r>
            <a:r>
              <a:rPr lang="en-US" sz="1599" spc="-59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99" spc="-59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24</a:t>
            </a:r>
            <a:r>
              <a:rPr lang="en-US" sz="1599" spc="-59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99" spc="-59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ả</a:t>
            </a:r>
            <a:r>
              <a:rPr lang="en-US" sz="1599" spc="-59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nh </a:t>
            </a:r>
            <a:r>
              <a:rPr lang="en-US" sz="1599" spc="-59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mẫu</a:t>
            </a:r>
            <a:r>
              <a:rPr lang="en-US" sz="1599" spc="-59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3152775" y="6810840"/>
            <a:ext cx="2524125" cy="319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95"/>
              </a:lnSpc>
              <a:spcBef>
                <a:spcPct val="0"/>
              </a:spcBef>
            </a:pPr>
            <a:r>
              <a:rPr lang="en-US" b="true" sz="2199" spc="-15">
                <a:solidFill>
                  <a:srgbClr val="42414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Đ</a:t>
            </a:r>
            <a:r>
              <a:rPr lang="en-US" b="true" sz="2199" spc="-15">
                <a:solidFill>
                  <a:srgbClr val="42414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ánh Giá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7810500" y="7407591"/>
            <a:ext cx="3629025" cy="544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207"/>
              </a:lnSpc>
              <a:spcBef>
                <a:spcPct val="0"/>
              </a:spcBef>
            </a:pPr>
            <a:r>
              <a:rPr lang="en-US" sz="1599" spc="-5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Phát</a:t>
            </a:r>
            <a:r>
              <a:rPr lang="en-US" sz="1599" spc="-59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99" spc="-59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triển</a:t>
            </a:r>
            <a:r>
              <a:rPr lang="en-US" sz="1599" spc="-59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99" spc="-59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ứ</a:t>
            </a:r>
            <a:r>
              <a:rPr lang="en-US" sz="1599" spc="-59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ng </a:t>
            </a:r>
            <a:r>
              <a:rPr lang="en-US" sz="1599" spc="-59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dụ</a:t>
            </a:r>
            <a:r>
              <a:rPr lang="en-US" sz="1599" spc="-59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ng t</a:t>
            </a:r>
            <a:r>
              <a:rPr lang="en-US" sz="1599" spc="-59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ương</a:t>
            </a:r>
            <a:r>
              <a:rPr lang="en-US" sz="1599" spc="-59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tác n</a:t>
            </a:r>
            <a:r>
              <a:rPr lang="en-US" sz="1599" spc="-59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gười</a:t>
            </a:r>
            <a:r>
              <a:rPr lang="en-US" sz="1599" spc="-59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d</a:t>
            </a:r>
            <a:r>
              <a:rPr lang="en-US" sz="1599" spc="-59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ù</a:t>
            </a:r>
            <a:r>
              <a:rPr lang="en-US" sz="1599" spc="-59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</a:t>
            </a:r>
            <a:r>
              <a:rPr lang="en-US" sz="1599" spc="-59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g,</a:t>
            </a:r>
            <a:r>
              <a:rPr lang="en-US" sz="1599" spc="-59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t</a:t>
            </a:r>
            <a:r>
              <a:rPr lang="en-US" sz="1599" spc="-59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ả</a:t>
            </a:r>
            <a:r>
              <a:rPr lang="en-US" sz="1599" spc="-59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 </a:t>
            </a:r>
            <a:r>
              <a:rPr lang="en-US" sz="1599" spc="-59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ả</a:t>
            </a:r>
            <a:r>
              <a:rPr lang="en-US" sz="1599" spc="-59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nh</a:t>
            </a:r>
            <a:r>
              <a:rPr lang="en-US" sz="1599" spc="-59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,</a:t>
            </a:r>
            <a:r>
              <a:rPr lang="en-US" sz="1599" spc="-59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c</a:t>
            </a:r>
            <a:r>
              <a:rPr lang="en-US" sz="1599" spc="-59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hỉ</a:t>
            </a:r>
            <a:r>
              <a:rPr lang="en-US" sz="1599" spc="-59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nh th</a:t>
            </a:r>
            <a:r>
              <a:rPr lang="en-US" sz="1599" spc="-59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</a:t>
            </a:r>
            <a:r>
              <a:rPr lang="en-US" sz="1599" spc="-59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 </a:t>
            </a:r>
            <a:r>
              <a:rPr lang="en-US" sz="1599" spc="-59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số</a:t>
            </a:r>
            <a:r>
              <a:rPr lang="en-US" sz="1599" spc="-59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99" spc="-59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&amp;</a:t>
            </a:r>
            <a:r>
              <a:rPr lang="en-US" sz="1599" spc="-59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99" spc="-59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export</a:t>
            </a:r>
            <a:r>
              <a:rPr lang="en-US" sz="1599" spc="-59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7772243" y="6810840"/>
            <a:ext cx="2924489" cy="319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95"/>
              </a:lnSpc>
              <a:spcBef>
                <a:spcPct val="0"/>
              </a:spcBef>
            </a:pPr>
            <a:r>
              <a:rPr lang="en-US" b="true" sz="2199" spc="-15" strike="noStrike" u="none">
                <a:solidFill>
                  <a:srgbClr val="42414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Ứng Dụng WEB</a:t>
            </a:r>
          </a:p>
        </p:txBody>
      </p:sp>
      <p:sp>
        <p:nvSpPr>
          <p:cNvPr name="Freeform 67" id="67"/>
          <p:cNvSpPr/>
          <p:nvPr/>
        </p:nvSpPr>
        <p:spPr>
          <a:xfrm flipH="false" flipV="false" rot="0">
            <a:off x="695867" y="3769890"/>
            <a:ext cx="545744" cy="545744"/>
          </a:xfrm>
          <a:custGeom>
            <a:avLst/>
            <a:gdLst/>
            <a:ahLst/>
            <a:cxnLst/>
            <a:rect r="r" b="b" t="t" l="l"/>
            <a:pathLst>
              <a:path h="545744" w="545744">
                <a:moveTo>
                  <a:pt x="0" y="0"/>
                </a:moveTo>
                <a:lnTo>
                  <a:pt x="545743" y="0"/>
                </a:lnTo>
                <a:lnTo>
                  <a:pt x="545743" y="545744"/>
                </a:lnTo>
                <a:lnTo>
                  <a:pt x="0" y="545744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8" id="68"/>
          <p:cNvSpPr/>
          <p:nvPr/>
        </p:nvSpPr>
        <p:spPr>
          <a:xfrm flipH="false" flipV="false" rot="0">
            <a:off x="628726" y="2424196"/>
            <a:ext cx="680025" cy="680025"/>
          </a:xfrm>
          <a:custGeom>
            <a:avLst/>
            <a:gdLst/>
            <a:ahLst/>
            <a:cxnLst/>
            <a:rect r="r" b="b" t="t" l="l"/>
            <a:pathLst>
              <a:path h="680025" w="680025">
                <a:moveTo>
                  <a:pt x="0" y="0"/>
                </a:moveTo>
                <a:lnTo>
                  <a:pt x="680025" y="0"/>
                </a:lnTo>
                <a:lnTo>
                  <a:pt x="680025" y="680024"/>
                </a:lnTo>
                <a:lnTo>
                  <a:pt x="0" y="680024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9" id="69"/>
          <p:cNvSpPr/>
          <p:nvPr/>
        </p:nvSpPr>
        <p:spPr>
          <a:xfrm flipH="false" flipV="false" rot="0">
            <a:off x="13173355" y="-3064049"/>
            <a:ext cx="6727937" cy="5009509"/>
          </a:xfrm>
          <a:custGeom>
            <a:avLst/>
            <a:gdLst/>
            <a:ahLst/>
            <a:cxnLst/>
            <a:rect r="r" b="b" t="t" l="l"/>
            <a:pathLst>
              <a:path h="5009509" w="6727937">
                <a:moveTo>
                  <a:pt x="0" y="0"/>
                </a:moveTo>
                <a:lnTo>
                  <a:pt x="6727937" y="0"/>
                </a:lnTo>
                <a:lnTo>
                  <a:pt x="6727937" y="5009510"/>
                </a:lnTo>
                <a:lnTo>
                  <a:pt x="0" y="5009510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alphaModFix amt="16000"/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0" id="70"/>
          <p:cNvGrpSpPr/>
          <p:nvPr/>
        </p:nvGrpSpPr>
        <p:grpSpPr>
          <a:xfrm rot="0">
            <a:off x="12491942" y="2764208"/>
            <a:ext cx="4767358" cy="6049893"/>
            <a:chOff x="0" y="0"/>
            <a:chExt cx="2854970" cy="3623026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2854970" cy="3623026"/>
            </a:xfrm>
            <a:custGeom>
              <a:avLst/>
              <a:gdLst/>
              <a:ahLst/>
              <a:cxnLst/>
              <a:rect r="r" b="b" t="t" l="l"/>
              <a:pathLst>
                <a:path h="3623026" w="2854970">
                  <a:moveTo>
                    <a:pt x="51966" y="0"/>
                  </a:moveTo>
                  <a:lnTo>
                    <a:pt x="2803004" y="0"/>
                  </a:lnTo>
                  <a:cubicBezTo>
                    <a:pt x="2831704" y="0"/>
                    <a:pt x="2854970" y="23266"/>
                    <a:pt x="2854970" y="51966"/>
                  </a:cubicBezTo>
                  <a:lnTo>
                    <a:pt x="2854970" y="3571060"/>
                  </a:lnTo>
                  <a:cubicBezTo>
                    <a:pt x="2854970" y="3599760"/>
                    <a:pt x="2831704" y="3623026"/>
                    <a:pt x="2803004" y="3623026"/>
                  </a:cubicBezTo>
                  <a:lnTo>
                    <a:pt x="51966" y="3623026"/>
                  </a:lnTo>
                  <a:cubicBezTo>
                    <a:pt x="23266" y="3623026"/>
                    <a:pt x="0" y="3599760"/>
                    <a:pt x="0" y="3571060"/>
                  </a:cubicBezTo>
                  <a:lnTo>
                    <a:pt x="0" y="51966"/>
                  </a:lnTo>
                  <a:cubicBezTo>
                    <a:pt x="0" y="23266"/>
                    <a:pt x="23266" y="0"/>
                    <a:pt x="5196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2063CD">
                    <a:alpha val="100000"/>
                  </a:srgbClr>
                </a:gs>
                <a:gs pos="100000">
                  <a:srgbClr val="FEA1FF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9525" cap="rnd">
              <a:solidFill>
                <a:srgbClr val="424141"/>
              </a:solidFill>
              <a:prstDash val="solid"/>
              <a:round/>
            </a:ln>
          </p:spPr>
        </p:sp>
        <p:sp>
          <p:nvSpPr>
            <p:cNvPr name="TextBox 72" id="72"/>
            <p:cNvSpPr txBox="true"/>
            <p:nvPr/>
          </p:nvSpPr>
          <p:spPr>
            <a:xfrm>
              <a:off x="0" y="-38100"/>
              <a:ext cx="2854970" cy="36611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540"/>
                </a:lnSpc>
              </a:pPr>
            </a:p>
          </p:txBody>
        </p:sp>
      </p:grpSp>
      <p:sp>
        <p:nvSpPr>
          <p:cNvPr name="Freeform 73" id="73"/>
          <p:cNvSpPr/>
          <p:nvPr/>
        </p:nvSpPr>
        <p:spPr>
          <a:xfrm flipH="false" flipV="false" rot="0">
            <a:off x="12619206" y="3826971"/>
            <a:ext cx="4574431" cy="4574431"/>
          </a:xfrm>
          <a:custGeom>
            <a:avLst/>
            <a:gdLst/>
            <a:ahLst/>
            <a:cxnLst/>
            <a:rect r="r" b="b" t="t" l="l"/>
            <a:pathLst>
              <a:path h="4574431" w="4574431">
                <a:moveTo>
                  <a:pt x="0" y="0"/>
                </a:moveTo>
                <a:lnTo>
                  <a:pt x="4574431" y="0"/>
                </a:lnTo>
                <a:lnTo>
                  <a:pt x="4574431" y="4574430"/>
                </a:lnTo>
                <a:lnTo>
                  <a:pt x="0" y="4574430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 l="0" t="0" r="0" b="0"/>
            </a:stretch>
          </a:blipFill>
        </p:spPr>
      </p:sp>
      <p:grpSp>
        <p:nvGrpSpPr>
          <p:cNvPr name="Group 74" id="74"/>
          <p:cNvGrpSpPr/>
          <p:nvPr/>
        </p:nvGrpSpPr>
        <p:grpSpPr>
          <a:xfrm rot="0">
            <a:off x="14394969" y="1208043"/>
            <a:ext cx="2864331" cy="662597"/>
            <a:chOff x="0" y="0"/>
            <a:chExt cx="890574" cy="206014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890574" cy="206014"/>
            </a:xfrm>
            <a:custGeom>
              <a:avLst/>
              <a:gdLst/>
              <a:ahLst/>
              <a:cxnLst/>
              <a:rect r="r" b="b" t="t" l="l"/>
              <a:pathLst>
                <a:path h="206014" w="890574">
                  <a:moveTo>
                    <a:pt x="54057" y="0"/>
                  </a:moveTo>
                  <a:lnTo>
                    <a:pt x="836516" y="0"/>
                  </a:lnTo>
                  <a:cubicBezTo>
                    <a:pt x="850853" y="0"/>
                    <a:pt x="864603" y="5695"/>
                    <a:pt x="874741" y="15833"/>
                  </a:cubicBezTo>
                  <a:cubicBezTo>
                    <a:pt x="884878" y="25971"/>
                    <a:pt x="890574" y="39721"/>
                    <a:pt x="890574" y="54057"/>
                  </a:cubicBezTo>
                  <a:lnTo>
                    <a:pt x="890574" y="151956"/>
                  </a:lnTo>
                  <a:cubicBezTo>
                    <a:pt x="890574" y="181811"/>
                    <a:pt x="866371" y="206014"/>
                    <a:pt x="836516" y="206014"/>
                  </a:cubicBezTo>
                  <a:lnTo>
                    <a:pt x="54057" y="206014"/>
                  </a:lnTo>
                  <a:cubicBezTo>
                    <a:pt x="39721" y="206014"/>
                    <a:pt x="25971" y="200318"/>
                    <a:pt x="15833" y="190181"/>
                  </a:cubicBezTo>
                  <a:cubicBezTo>
                    <a:pt x="5695" y="180043"/>
                    <a:pt x="0" y="166293"/>
                    <a:pt x="0" y="151956"/>
                  </a:cubicBezTo>
                  <a:lnTo>
                    <a:pt x="0" y="54057"/>
                  </a:lnTo>
                  <a:cubicBezTo>
                    <a:pt x="0" y="24202"/>
                    <a:pt x="24202" y="0"/>
                    <a:pt x="54057" y="0"/>
                  </a:cubicBezTo>
                  <a:close/>
                </a:path>
              </a:pathLst>
            </a:custGeom>
            <a:ln w="28575" cap="sq">
              <a:solidFill>
                <a:srgbClr val="424141"/>
              </a:solidFill>
              <a:prstDash val="solid"/>
              <a:miter/>
            </a:ln>
          </p:spPr>
        </p:sp>
        <p:sp>
          <p:nvSpPr>
            <p:cNvPr name="TextBox 76" id="76"/>
            <p:cNvSpPr txBox="true"/>
            <p:nvPr/>
          </p:nvSpPr>
          <p:spPr>
            <a:xfrm>
              <a:off x="0" y="-9525"/>
              <a:ext cx="890574" cy="2155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560"/>
                </a:lnSpc>
              </a:pPr>
            </a:p>
          </p:txBody>
        </p:sp>
      </p:grpSp>
      <p:sp>
        <p:nvSpPr>
          <p:cNvPr name="TextBox 77" id="77"/>
          <p:cNvSpPr txBox="true"/>
          <p:nvPr/>
        </p:nvSpPr>
        <p:spPr>
          <a:xfrm rot="0">
            <a:off x="14394969" y="1409623"/>
            <a:ext cx="2864331" cy="280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87"/>
              </a:lnSpc>
            </a:pPr>
            <a:r>
              <a:rPr lang="en-US" sz="1705" spc="-37">
                <a:solidFill>
                  <a:srgbClr val="424141"/>
                </a:solidFill>
                <a:latin typeface="Montserrat"/>
                <a:ea typeface="Montserrat"/>
                <a:cs typeface="Montserrat"/>
                <a:sym typeface="Montserrat"/>
              </a:rPr>
              <a:t>XỬ LÝ ẢNH SỐ</a:t>
            </a:r>
          </a:p>
        </p:txBody>
      </p:sp>
    </p:spTree>
  </p:cSld>
  <p:clrMapOvr>
    <a:masterClrMapping/>
  </p:clrMapOvr>
  <p:transition spd="slow">
    <p:fade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2388C">
                <a:alpha val="100000"/>
              </a:srgbClr>
            </a:gs>
            <a:gs pos="100000">
              <a:srgbClr val="3893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09814" y="167020"/>
            <a:ext cx="2323166" cy="9952960"/>
            <a:chOff x="0" y="0"/>
            <a:chExt cx="611863" cy="262135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11863" cy="2621356"/>
            </a:xfrm>
            <a:custGeom>
              <a:avLst/>
              <a:gdLst/>
              <a:ahLst/>
              <a:cxnLst/>
              <a:rect r="r" b="b" t="t" l="l"/>
              <a:pathLst>
                <a:path h="2621356" w="611863">
                  <a:moveTo>
                    <a:pt x="166624" y="0"/>
                  </a:moveTo>
                  <a:lnTo>
                    <a:pt x="445238" y="0"/>
                  </a:lnTo>
                  <a:cubicBezTo>
                    <a:pt x="537262" y="0"/>
                    <a:pt x="611863" y="74600"/>
                    <a:pt x="611863" y="166624"/>
                  </a:cubicBezTo>
                  <a:lnTo>
                    <a:pt x="611863" y="2454731"/>
                  </a:lnTo>
                  <a:cubicBezTo>
                    <a:pt x="611863" y="2546755"/>
                    <a:pt x="537262" y="2621356"/>
                    <a:pt x="445238" y="2621356"/>
                  </a:cubicBezTo>
                  <a:lnTo>
                    <a:pt x="166624" y="2621356"/>
                  </a:lnTo>
                  <a:cubicBezTo>
                    <a:pt x="74600" y="2621356"/>
                    <a:pt x="0" y="2546755"/>
                    <a:pt x="0" y="2454731"/>
                  </a:cubicBezTo>
                  <a:lnTo>
                    <a:pt x="0" y="166624"/>
                  </a:lnTo>
                  <a:cubicBezTo>
                    <a:pt x="0" y="74600"/>
                    <a:pt x="74600" y="0"/>
                    <a:pt x="166624" y="0"/>
                  </a:cubicBezTo>
                  <a:close/>
                </a:path>
              </a:pathLst>
            </a:custGeom>
            <a:solidFill>
              <a:srgbClr val="2063C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611863" cy="26594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36305" y="4662997"/>
            <a:ext cx="1387838" cy="961005"/>
            <a:chOff x="0" y="0"/>
            <a:chExt cx="365521" cy="25310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65521" cy="253104"/>
            </a:xfrm>
            <a:custGeom>
              <a:avLst/>
              <a:gdLst/>
              <a:ahLst/>
              <a:cxnLst/>
              <a:rect r="r" b="b" t="t" l="l"/>
              <a:pathLst>
                <a:path h="253104" w="365521">
                  <a:moveTo>
                    <a:pt x="126552" y="0"/>
                  </a:moveTo>
                  <a:lnTo>
                    <a:pt x="238969" y="0"/>
                  </a:lnTo>
                  <a:cubicBezTo>
                    <a:pt x="308862" y="0"/>
                    <a:pt x="365521" y="56659"/>
                    <a:pt x="365521" y="126552"/>
                  </a:cubicBezTo>
                  <a:lnTo>
                    <a:pt x="365521" y="126552"/>
                  </a:lnTo>
                  <a:cubicBezTo>
                    <a:pt x="365521" y="196445"/>
                    <a:pt x="308862" y="253104"/>
                    <a:pt x="238969" y="253104"/>
                  </a:cubicBezTo>
                  <a:lnTo>
                    <a:pt x="126552" y="253104"/>
                  </a:lnTo>
                  <a:cubicBezTo>
                    <a:pt x="56659" y="253104"/>
                    <a:pt x="0" y="196445"/>
                    <a:pt x="0" y="126552"/>
                  </a:cubicBezTo>
                  <a:lnTo>
                    <a:pt x="0" y="126552"/>
                  </a:lnTo>
                  <a:cubicBezTo>
                    <a:pt x="0" y="56659"/>
                    <a:pt x="56659" y="0"/>
                    <a:pt x="12655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65521" cy="2912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597652" y="167020"/>
            <a:ext cx="16414232" cy="9952960"/>
            <a:chOff x="0" y="0"/>
            <a:chExt cx="4323090" cy="262135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323090" cy="2621356"/>
            </a:xfrm>
            <a:custGeom>
              <a:avLst/>
              <a:gdLst/>
              <a:ahLst/>
              <a:cxnLst/>
              <a:rect r="r" b="b" t="t" l="l"/>
              <a:pathLst>
                <a:path h="2621356" w="4323090">
                  <a:moveTo>
                    <a:pt x="23583" y="0"/>
                  </a:moveTo>
                  <a:lnTo>
                    <a:pt x="4299507" y="0"/>
                  </a:lnTo>
                  <a:cubicBezTo>
                    <a:pt x="4312532" y="0"/>
                    <a:pt x="4323090" y="10558"/>
                    <a:pt x="4323090" y="23583"/>
                  </a:cubicBezTo>
                  <a:lnTo>
                    <a:pt x="4323090" y="2597773"/>
                  </a:lnTo>
                  <a:cubicBezTo>
                    <a:pt x="4323090" y="2610797"/>
                    <a:pt x="4312532" y="2621356"/>
                    <a:pt x="4299507" y="2621356"/>
                  </a:cubicBezTo>
                  <a:lnTo>
                    <a:pt x="23583" y="2621356"/>
                  </a:lnTo>
                  <a:cubicBezTo>
                    <a:pt x="10558" y="2621356"/>
                    <a:pt x="0" y="2610797"/>
                    <a:pt x="0" y="2597773"/>
                  </a:cubicBezTo>
                  <a:lnTo>
                    <a:pt x="0" y="23583"/>
                  </a:lnTo>
                  <a:cubicBezTo>
                    <a:pt x="0" y="10558"/>
                    <a:pt x="10558" y="0"/>
                    <a:pt x="2358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323090" cy="26594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2876550" y="4277534"/>
            <a:ext cx="13924870" cy="4277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 spc="-88" b="true">
                <a:solidFill>
                  <a:srgbClr val="42414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NGUYÊN LÝ TOÁN HỌC &amp; CÁC BƯỚC THỰC HIỆN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spc="-74">
                <a:solidFill>
                  <a:srgbClr val="424141"/>
                </a:solidFill>
                <a:latin typeface="Montserrat"/>
                <a:ea typeface="Montserrat"/>
                <a:cs typeface="Montserrat"/>
                <a:sym typeface="Montserrat"/>
              </a:rPr>
              <a:t>• Bước 1: Tính Histogram         : Đếm số lượng điểm ảnh       có mức xám k (k = 0..255) trên toàn bộ M x N pixel.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</a:p>
          <a:p>
            <a:pPr algn="l">
              <a:lnSpc>
                <a:spcPts val="2800"/>
              </a:lnSpc>
              <a:spcBef>
                <a:spcPct val="0"/>
              </a:spcBef>
            </a:pP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spc="-74">
                <a:solidFill>
                  <a:srgbClr val="424141"/>
                </a:solidFill>
                <a:latin typeface="Montserrat"/>
                <a:ea typeface="Montserrat"/>
                <a:cs typeface="Montserrat"/>
                <a:sym typeface="Montserrat"/>
              </a:rPr>
              <a:t>• Bước 2: Tính hàm tích lũy                                   . Biểu diễn tổng xác suất dải mức xám tích lũy.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</a:p>
          <a:p>
            <a:pPr algn="l">
              <a:lnSpc>
                <a:spcPts val="2800"/>
              </a:lnSpc>
              <a:spcBef>
                <a:spcPct val="0"/>
              </a:spcBef>
            </a:pP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spc="-74">
                <a:solidFill>
                  <a:srgbClr val="424141"/>
                </a:solidFill>
                <a:latin typeface="Montserrat"/>
                <a:ea typeface="Montserrat"/>
                <a:cs typeface="Montserrat"/>
                <a:sym typeface="Montserrat"/>
              </a:rPr>
              <a:t>• Bước 3: Ánh xạ chuẩn hóa mức xám:                                                                                     . Biến đổi dải xám về đều.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</a:p>
          <a:p>
            <a:pPr algn="l">
              <a:lnSpc>
                <a:spcPts val="2800"/>
              </a:lnSpc>
              <a:spcBef>
                <a:spcPct val="0"/>
              </a:spcBef>
            </a:pP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spc="-74">
                <a:solidFill>
                  <a:srgbClr val="424141"/>
                </a:solidFill>
                <a:latin typeface="Montserrat"/>
                <a:ea typeface="Montserrat"/>
                <a:cs typeface="Montserrat"/>
                <a:sym typeface="Montserrat"/>
              </a:rPr>
              <a:t>• Bước 4: Thay thế mức xám (LUT): Dùng bảngLookup Table thay thế giá trị từng điểm ảnh cũ bằng       tương ứng.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680211" y="4944284"/>
            <a:ext cx="550013" cy="456288"/>
          </a:xfrm>
          <a:custGeom>
            <a:avLst/>
            <a:gdLst/>
            <a:ahLst/>
            <a:cxnLst/>
            <a:rect r="r" b="b" t="t" l="l"/>
            <a:pathLst>
              <a:path h="456288" w="550013">
                <a:moveTo>
                  <a:pt x="0" y="0"/>
                </a:moveTo>
                <a:lnTo>
                  <a:pt x="550013" y="0"/>
                </a:lnTo>
                <a:lnTo>
                  <a:pt x="550013" y="456288"/>
                </a:lnTo>
                <a:lnTo>
                  <a:pt x="0" y="4562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-20013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2876550" y="809625"/>
            <a:ext cx="11055504" cy="32871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650"/>
              </a:lnSpc>
              <a:spcBef>
                <a:spcPct val="0"/>
              </a:spcBef>
            </a:pPr>
            <a:r>
              <a:rPr lang="en-US" b="true" sz="7090" spc="-439">
                <a:solidFill>
                  <a:srgbClr val="42414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THUẬT TOÁN </a:t>
            </a:r>
            <a:r>
              <a:rPr lang="en-US" b="true" sz="7090" spc="-439" strike="noStrike" u="none">
                <a:solidFill>
                  <a:srgbClr val="42414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</a:t>
            </a:r>
            <a:r>
              <a:rPr lang="en-US" b="true" sz="7090" spc="-439" strike="noStrike" u="none">
                <a:solidFill>
                  <a:srgbClr val="42414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ÂN</a:t>
            </a:r>
            <a:r>
              <a:rPr lang="en-US" b="true" sz="7090" spc="-439" strike="noStrike" u="none">
                <a:solidFill>
                  <a:srgbClr val="42414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b="true" sz="7090" spc="-439" strike="noStrike" u="none">
                <a:solidFill>
                  <a:srgbClr val="42414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BẰNG </a:t>
            </a:r>
            <a:r>
              <a:rPr lang="en-US" b="true" sz="7090" spc="-439" strike="noStrike" u="none">
                <a:solidFill>
                  <a:srgbClr val="42414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</a:t>
            </a:r>
            <a:r>
              <a:rPr lang="en-US" b="true" sz="7090" spc="-439" strike="noStrike" u="none">
                <a:solidFill>
                  <a:srgbClr val="42414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ISTOGRAM</a:t>
            </a:r>
            <a:r>
              <a:rPr lang="en-US" b="true" sz="7090" spc="-439" strike="noStrike" u="none">
                <a:solidFill>
                  <a:srgbClr val="42414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b="true" sz="7090" spc="-439" strike="noStrike" u="none">
                <a:solidFill>
                  <a:srgbClr val="42414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TOÀN </a:t>
            </a:r>
            <a:r>
              <a:rPr lang="en-US" b="true" sz="7090" spc="-439" strike="noStrike" u="none">
                <a:solidFill>
                  <a:srgbClr val="42414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</a:t>
            </a:r>
            <a:r>
              <a:rPr lang="en-US" b="true" sz="7090" spc="-439" strike="noStrike" u="none">
                <a:solidFill>
                  <a:srgbClr val="42414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ỤC</a:t>
            </a:r>
            <a:r>
              <a:rPr lang="en-US" b="true" sz="7090" spc="-439" strike="noStrike" u="none">
                <a:solidFill>
                  <a:srgbClr val="42414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b="true" sz="7090" spc="-439" strike="noStrike" u="none">
                <a:solidFill>
                  <a:srgbClr val="42414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(</a:t>
            </a:r>
            <a:r>
              <a:rPr lang="en-US" b="true" sz="7090" spc="-439" strike="noStrike" u="none">
                <a:solidFill>
                  <a:srgbClr val="42414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</a:t>
            </a:r>
            <a:r>
              <a:rPr lang="en-US" b="true" sz="7090" spc="-439" strike="noStrike" u="none">
                <a:solidFill>
                  <a:srgbClr val="42414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LOBAL</a:t>
            </a:r>
            <a:r>
              <a:rPr lang="en-US" b="true" sz="7090" spc="-439" strike="noStrike" u="none">
                <a:solidFill>
                  <a:srgbClr val="42414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b="true" sz="7090" spc="-439" strike="noStrike" u="none">
                <a:solidFill>
                  <a:srgbClr val="42414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HE)</a:t>
            </a:r>
          </a:p>
        </p:txBody>
      </p:sp>
      <p:sp>
        <p:nvSpPr>
          <p:cNvPr name="AutoShape 14" id="14"/>
          <p:cNvSpPr/>
          <p:nvPr/>
        </p:nvSpPr>
        <p:spPr>
          <a:xfrm>
            <a:off x="628726" y="1279706"/>
            <a:ext cx="550013" cy="0"/>
          </a:xfrm>
          <a:prstGeom prst="line">
            <a:avLst/>
          </a:prstGeom>
          <a:ln cap="flat" w="476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>
            <a:off x="628726" y="1427234"/>
            <a:ext cx="550013" cy="0"/>
          </a:xfrm>
          <a:prstGeom prst="line">
            <a:avLst/>
          </a:prstGeom>
          <a:ln cap="flat" w="476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>
            <a:off x="628726" y="1570109"/>
            <a:ext cx="550013" cy="0"/>
          </a:xfrm>
          <a:prstGeom prst="line">
            <a:avLst/>
          </a:prstGeom>
          <a:ln cap="flat" w="476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7" id="17"/>
          <p:cNvSpPr/>
          <p:nvPr/>
        </p:nvSpPr>
        <p:spPr>
          <a:xfrm flipH="false" flipV="false" rot="0">
            <a:off x="628726" y="6029222"/>
            <a:ext cx="652982" cy="652982"/>
          </a:xfrm>
          <a:custGeom>
            <a:avLst/>
            <a:gdLst/>
            <a:ahLst/>
            <a:cxnLst/>
            <a:rect r="r" b="b" t="t" l="l"/>
            <a:pathLst>
              <a:path h="652982" w="652982">
                <a:moveTo>
                  <a:pt x="0" y="0"/>
                </a:moveTo>
                <a:lnTo>
                  <a:pt x="652983" y="0"/>
                </a:lnTo>
                <a:lnTo>
                  <a:pt x="652983" y="652983"/>
                </a:lnTo>
                <a:lnTo>
                  <a:pt x="0" y="6529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628726" y="8621062"/>
            <a:ext cx="652982" cy="652982"/>
          </a:xfrm>
          <a:custGeom>
            <a:avLst/>
            <a:gdLst/>
            <a:ahLst/>
            <a:cxnLst/>
            <a:rect r="r" b="b" t="t" l="l"/>
            <a:pathLst>
              <a:path h="652982" w="652982">
                <a:moveTo>
                  <a:pt x="0" y="0"/>
                </a:moveTo>
                <a:lnTo>
                  <a:pt x="652983" y="0"/>
                </a:lnTo>
                <a:lnTo>
                  <a:pt x="652983" y="652982"/>
                </a:lnTo>
                <a:lnTo>
                  <a:pt x="0" y="65298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16839551" y="2894346"/>
            <a:ext cx="419749" cy="419749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424141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39013" lIns="39013" bIns="39013" rIns="39013"/>
            <a:lstStyle/>
            <a:p>
              <a:pPr algn="ctr" marL="0" indent="0" lvl="0">
                <a:lnSpc>
                  <a:spcPts val="1297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6419760" y="2894346"/>
            <a:ext cx="419749" cy="419749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424141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39013" lIns="39013" bIns="39013" rIns="39013"/>
            <a:lstStyle/>
            <a:p>
              <a:pPr algn="ctr" marL="0" indent="0" lvl="0">
                <a:lnSpc>
                  <a:spcPts val="1297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5999969" y="2894346"/>
            <a:ext cx="419749" cy="419749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E59"/>
            </a:solidFill>
            <a:ln w="19050" cap="sq">
              <a:solidFill>
                <a:srgbClr val="424141"/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39013" lIns="39013" bIns="39013" rIns="39013"/>
            <a:lstStyle/>
            <a:p>
              <a:pPr algn="ctr" marL="0" indent="0" lvl="0">
                <a:lnSpc>
                  <a:spcPts val="1297"/>
                </a:lnSpc>
              </a:pPr>
            </a:p>
          </p:txBody>
        </p:sp>
      </p:grpSp>
      <p:sp>
        <p:nvSpPr>
          <p:cNvPr name="Freeform 28" id="28"/>
          <p:cNvSpPr/>
          <p:nvPr/>
        </p:nvSpPr>
        <p:spPr>
          <a:xfrm flipH="false" flipV="false" rot="0">
            <a:off x="628726" y="7339018"/>
            <a:ext cx="652982" cy="625231"/>
          </a:xfrm>
          <a:custGeom>
            <a:avLst/>
            <a:gdLst/>
            <a:ahLst/>
            <a:cxnLst/>
            <a:rect r="r" b="b" t="t" l="l"/>
            <a:pathLst>
              <a:path h="625231" w="652982">
                <a:moveTo>
                  <a:pt x="0" y="0"/>
                </a:moveTo>
                <a:lnTo>
                  <a:pt x="652983" y="0"/>
                </a:lnTo>
                <a:lnTo>
                  <a:pt x="652983" y="625231"/>
                </a:lnTo>
                <a:lnTo>
                  <a:pt x="0" y="62523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695867" y="3769890"/>
            <a:ext cx="545744" cy="545744"/>
          </a:xfrm>
          <a:custGeom>
            <a:avLst/>
            <a:gdLst/>
            <a:ahLst/>
            <a:cxnLst/>
            <a:rect r="r" b="b" t="t" l="l"/>
            <a:pathLst>
              <a:path h="545744" w="545744">
                <a:moveTo>
                  <a:pt x="0" y="0"/>
                </a:moveTo>
                <a:lnTo>
                  <a:pt x="545743" y="0"/>
                </a:lnTo>
                <a:lnTo>
                  <a:pt x="545743" y="545744"/>
                </a:lnTo>
                <a:lnTo>
                  <a:pt x="0" y="54574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628726" y="2424196"/>
            <a:ext cx="680025" cy="680025"/>
          </a:xfrm>
          <a:custGeom>
            <a:avLst/>
            <a:gdLst/>
            <a:ahLst/>
            <a:cxnLst/>
            <a:rect r="r" b="b" t="t" l="l"/>
            <a:pathLst>
              <a:path h="680025" w="680025">
                <a:moveTo>
                  <a:pt x="0" y="0"/>
                </a:moveTo>
                <a:lnTo>
                  <a:pt x="680025" y="0"/>
                </a:lnTo>
                <a:lnTo>
                  <a:pt x="680025" y="680024"/>
                </a:lnTo>
                <a:lnTo>
                  <a:pt x="0" y="68002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true" flipV="false" rot="0">
            <a:off x="8795668" y="3104220"/>
            <a:ext cx="941613" cy="818027"/>
          </a:xfrm>
          <a:custGeom>
            <a:avLst/>
            <a:gdLst/>
            <a:ahLst/>
            <a:cxnLst/>
            <a:rect r="r" b="b" t="t" l="l"/>
            <a:pathLst>
              <a:path h="818027" w="941613">
                <a:moveTo>
                  <a:pt x="941613" y="0"/>
                </a:moveTo>
                <a:lnTo>
                  <a:pt x="0" y="0"/>
                </a:lnTo>
                <a:lnTo>
                  <a:pt x="0" y="818027"/>
                </a:lnTo>
                <a:lnTo>
                  <a:pt x="941613" y="818027"/>
                </a:lnTo>
                <a:lnTo>
                  <a:pt x="941613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8986348" y="-2749398"/>
            <a:ext cx="6556339" cy="4881741"/>
          </a:xfrm>
          <a:custGeom>
            <a:avLst/>
            <a:gdLst/>
            <a:ahLst/>
            <a:cxnLst/>
            <a:rect r="r" b="b" t="t" l="l"/>
            <a:pathLst>
              <a:path h="4881741" w="6556339">
                <a:moveTo>
                  <a:pt x="0" y="0"/>
                </a:moveTo>
                <a:lnTo>
                  <a:pt x="6556339" y="0"/>
                </a:lnTo>
                <a:lnTo>
                  <a:pt x="6556339" y="4881741"/>
                </a:lnTo>
                <a:lnTo>
                  <a:pt x="0" y="4881741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alphaModFix amt="16000"/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3" id="33"/>
          <p:cNvGrpSpPr/>
          <p:nvPr/>
        </p:nvGrpSpPr>
        <p:grpSpPr>
          <a:xfrm rot="0">
            <a:off x="14394969" y="1208043"/>
            <a:ext cx="2864331" cy="662597"/>
            <a:chOff x="0" y="0"/>
            <a:chExt cx="890574" cy="206014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90574" cy="206014"/>
            </a:xfrm>
            <a:custGeom>
              <a:avLst/>
              <a:gdLst/>
              <a:ahLst/>
              <a:cxnLst/>
              <a:rect r="r" b="b" t="t" l="l"/>
              <a:pathLst>
                <a:path h="206014" w="890574">
                  <a:moveTo>
                    <a:pt x="54057" y="0"/>
                  </a:moveTo>
                  <a:lnTo>
                    <a:pt x="836516" y="0"/>
                  </a:lnTo>
                  <a:cubicBezTo>
                    <a:pt x="850853" y="0"/>
                    <a:pt x="864603" y="5695"/>
                    <a:pt x="874741" y="15833"/>
                  </a:cubicBezTo>
                  <a:cubicBezTo>
                    <a:pt x="884878" y="25971"/>
                    <a:pt x="890574" y="39721"/>
                    <a:pt x="890574" y="54057"/>
                  </a:cubicBezTo>
                  <a:lnTo>
                    <a:pt x="890574" y="151956"/>
                  </a:lnTo>
                  <a:cubicBezTo>
                    <a:pt x="890574" y="181811"/>
                    <a:pt x="866371" y="206014"/>
                    <a:pt x="836516" y="206014"/>
                  </a:cubicBezTo>
                  <a:lnTo>
                    <a:pt x="54057" y="206014"/>
                  </a:lnTo>
                  <a:cubicBezTo>
                    <a:pt x="39721" y="206014"/>
                    <a:pt x="25971" y="200318"/>
                    <a:pt x="15833" y="190181"/>
                  </a:cubicBezTo>
                  <a:cubicBezTo>
                    <a:pt x="5695" y="180043"/>
                    <a:pt x="0" y="166293"/>
                    <a:pt x="0" y="151956"/>
                  </a:cubicBezTo>
                  <a:lnTo>
                    <a:pt x="0" y="54057"/>
                  </a:lnTo>
                  <a:cubicBezTo>
                    <a:pt x="0" y="24202"/>
                    <a:pt x="24202" y="0"/>
                    <a:pt x="54057" y="0"/>
                  </a:cubicBezTo>
                  <a:close/>
                </a:path>
              </a:pathLst>
            </a:custGeom>
            <a:ln w="28575" cap="sq">
              <a:solidFill>
                <a:srgbClr val="424141"/>
              </a:solidFill>
              <a:prstDash val="solid"/>
              <a:miter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0" y="-9525"/>
              <a:ext cx="890574" cy="2155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560"/>
                </a:lnSpc>
              </a:pP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14394969" y="1409623"/>
            <a:ext cx="2864331" cy="280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87"/>
              </a:lnSpc>
            </a:pPr>
            <a:r>
              <a:rPr lang="en-US" sz="1705" spc="-37">
                <a:solidFill>
                  <a:srgbClr val="424141"/>
                </a:solidFill>
                <a:latin typeface="Montserrat"/>
                <a:ea typeface="Montserrat"/>
                <a:cs typeface="Montserrat"/>
                <a:sym typeface="Montserrat"/>
              </a:rPr>
              <a:t>XỬ LÝ ẢNH SỐ</a:t>
            </a:r>
          </a:p>
        </p:txBody>
      </p:sp>
      <p:pic>
        <p:nvPicPr>
          <p:cNvPr name="Picture 37" id="37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8827900" y="5046451"/>
            <a:ext cx="1953737" cy="708243"/>
          </a:xfrm>
          <a:prstGeom prst="rect">
            <a:avLst/>
          </a:prstGeom>
        </p:spPr>
      </p:pic>
      <p:pic>
        <p:nvPicPr>
          <p:cNvPr name="Picture 38" id="38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5867956" y="5406697"/>
            <a:ext cx="2222225" cy="1054132"/>
          </a:xfrm>
          <a:prstGeom prst="rect">
            <a:avLst/>
          </a:prstGeom>
        </p:spPr>
      </p:pic>
      <p:pic>
        <p:nvPicPr>
          <p:cNvPr name="Picture 39" id="39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6922896" y="6195543"/>
            <a:ext cx="5725644" cy="1588765"/>
          </a:xfrm>
          <a:prstGeom prst="rect">
            <a:avLst/>
          </a:prstGeom>
        </p:spPr>
      </p:pic>
      <p:pic>
        <p:nvPicPr>
          <p:cNvPr name="Picture 40" id="40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5734640" y="4729307"/>
            <a:ext cx="562178" cy="344360"/>
          </a:xfrm>
          <a:prstGeom prst="rect">
            <a:avLst/>
          </a:prstGeom>
        </p:spPr>
      </p:pic>
      <p:pic>
        <p:nvPicPr>
          <p:cNvPr name="Picture 41" id="41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9237101" y="4788048"/>
            <a:ext cx="352492" cy="226878"/>
          </a:xfrm>
          <a:prstGeom prst="rect">
            <a:avLst/>
          </a:prstGeom>
        </p:spPr>
      </p:pic>
      <p:pic>
        <p:nvPicPr>
          <p:cNvPr name="Picture 42" id="42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 rot="0">
            <a:off x="14563780" y="7935373"/>
            <a:ext cx="346508" cy="246637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2388C">
                <a:alpha val="100000"/>
              </a:srgbClr>
            </a:gs>
            <a:gs pos="100000">
              <a:srgbClr val="3893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09814" y="167020"/>
            <a:ext cx="2323166" cy="9952960"/>
            <a:chOff x="0" y="0"/>
            <a:chExt cx="611863" cy="262135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11863" cy="2621356"/>
            </a:xfrm>
            <a:custGeom>
              <a:avLst/>
              <a:gdLst/>
              <a:ahLst/>
              <a:cxnLst/>
              <a:rect r="r" b="b" t="t" l="l"/>
              <a:pathLst>
                <a:path h="2621356" w="611863">
                  <a:moveTo>
                    <a:pt x="166624" y="0"/>
                  </a:moveTo>
                  <a:lnTo>
                    <a:pt x="445238" y="0"/>
                  </a:lnTo>
                  <a:cubicBezTo>
                    <a:pt x="537262" y="0"/>
                    <a:pt x="611863" y="74600"/>
                    <a:pt x="611863" y="166624"/>
                  </a:cubicBezTo>
                  <a:lnTo>
                    <a:pt x="611863" y="2454731"/>
                  </a:lnTo>
                  <a:cubicBezTo>
                    <a:pt x="611863" y="2546755"/>
                    <a:pt x="537262" y="2621356"/>
                    <a:pt x="445238" y="2621356"/>
                  </a:cubicBezTo>
                  <a:lnTo>
                    <a:pt x="166624" y="2621356"/>
                  </a:lnTo>
                  <a:cubicBezTo>
                    <a:pt x="74600" y="2621356"/>
                    <a:pt x="0" y="2546755"/>
                    <a:pt x="0" y="2454731"/>
                  </a:cubicBezTo>
                  <a:lnTo>
                    <a:pt x="0" y="166624"/>
                  </a:lnTo>
                  <a:cubicBezTo>
                    <a:pt x="0" y="74600"/>
                    <a:pt x="74600" y="0"/>
                    <a:pt x="166624" y="0"/>
                  </a:cubicBezTo>
                  <a:close/>
                </a:path>
              </a:pathLst>
            </a:custGeom>
            <a:solidFill>
              <a:srgbClr val="2063C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611863" cy="26594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36305" y="4662997"/>
            <a:ext cx="1387838" cy="961005"/>
            <a:chOff x="0" y="0"/>
            <a:chExt cx="365521" cy="25310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65521" cy="253104"/>
            </a:xfrm>
            <a:custGeom>
              <a:avLst/>
              <a:gdLst/>
              <a:ahLst/>
              <a:cxnLst/>
              <a:rect r="r" b="b" t="t" l="l"/>
              <a:pathLst>
                <a:path h="253104" w="365521">
                  <a:moveTo>
                    <a:pt x="126552" y="0"/>
                  </a:moveTo>
                  <a:lnTo>
                    <a:pt x="238969" y="0"/>
                  </a:lnTo>
                  <a:cubicBezTo>
                    <a:pt x="308862" y="0"/>
                    <a:pt x="365521" y="56659"/>
                    <a:pt x="365521" y="126552"/>
                  </a:cubicBezTo>
                  <a:lnTo>
                    <a:pt x="365521" y="126552"/>
                  </a:lnTo>
                  <a:cubicBezTo>
                    <a:pt x="365521" y="196445"/>
                    <a:pt x="308862" y="253104"/>
                    <a:pt x="238969" y="253104"/>
                  </a:cubicBezTo>
                  <a:lnTo>
                    <a:pt x="126552" y="253104"/>
                  </a:lnTo>
                  <a:cubicBezTo>
                    <a:pt x="56659" y="253104"/>
                    <a:pt x="0" y="196445"/>
                    <a:pt x="0" y="126552"/>
                  </a:cubicBezTo>
                  <a:lnTo>
                    <a:pt x="0" y="126552"/>
                  </a:lnTo>
                  <a:cubicBezTo>
                    <a:pt x="0" y="56659"/>
                    <a:pt x="56659" y="0"/>
                    <a:pt x="12655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65521" cy="2912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597652" y="167020"/>
            <a:ext cx="16414232" cy="9952960"/>
            <a:chOff x="0" y="0"/>
            <a:chExt cx="4323090" cy="262135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323090" cy="2621356"/>
            </a:xfrm>
            <a:custGeom>
              <a:avLst/>
              <a:gdLst/>
              <a:ahLst/>
              <a:cxnLst/>
              <a:rect r="r" b="b" t="t" l="l"/>
              <a:pathLst>
                <a:path h="2621356" w="4323090">
                  <a:moveTo>
                    <a:pt x="23583" y="0"/>
                  </a:moveTo>
                  <a:lnTo>
                    <a:pt x="4299507" y="0"/>
                  </a:lnTo>
                  <a:cubicBezTo>
                    <a:pt x="4312532" y="0"/>
                    <a:pt x="4323090" y="10558"/>
                    <a:pt x="4323090" y="23583"/>
                  </a:cubicBezTo>
                  <a:lnTo>
                    <a:pt x="4323090" y="2597773"/>
                  </a:lnTo>
                  <a:cubicBezTo>
                    <a:pt x="4323090" y="2610797"/>
                    <a:pt x="4312532" y="2621356"/>
                    <a:pt x="4299507" y="2621356"/>
                  </a:cubicBezTo>
                  <a:lnTo>
                    <a:pt x="23583" y="2621356"/>
                  </a:lnTo>
                  <a:cubicBezTo>
                    <a:pt x="10558" y="2621356"/>
                    <a:pt x="0" y="2610797"/>
                    <a:pt x="0" y="2597773"/>
                  </a:cubicBezTo>
                  <a:lnTo>
                    <a:pt x="0" y="23583"/>
                  </a:lnTo>
                  <a:cubicBezTo>
                    <a:pt x="0" y="10558"/>
                    <a:pt x="10558" y="0"/>
                    <a:pt x="2358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323090" cy="26594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680211" y="4944284"/>
            <a:ext cx="550013" cy="456288"/>
          </a:xfrm>
          <a:custGeom>
            <a:avLst/>
            <a:gdLst/>
            <a:ahLst/>
            <a:cxnLst/>
            <a:rect r="r" b="b" t="t" l="l"/>
            <a:pathLst>
              <a:path h="456288" w="550013">
                <a:moveTo>
                  <a:pt x="0" y="0"/>
                </a:moveTo>
                <a:lnTo>
                  <a:pt x="550013" y="0"/>
                </a:lnTo>
                <a:lnTo>
                  <a:pt x="550013" y="456288"/>
                </a:lnTo>
                <a:lnTo>
                  <a:pt x="0" y="4562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-20013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876550" y="809625"/>
            <a:ext cx="11055504" cy="2286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016"/>
              </a:lnSpc>
              <a:spcBef>
                <a:spcPct val="0"/>
              </a:spcBef>
            </a:pPr>
            <a:r>
              <a:rPr lang="en-US" b="true" sz="7390" spc="-458">
                <a:solidFill>
                  <a:srgbClr val="42414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THUẬT TOÁN </a:t>
            </a:r>
            <a:r>
              <a:rPr lang="en-US" b="true" sz="7390" spc="-458" strike="noStrike" u="none">
                <a:solidFill>
                  <a:srgbClr val="42414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CLAHE (</a:t>
            </a:r>
            <a:r>
              <a:rPr lang="en-US" b="true" sz="7390" spc="-458" strike="noStrike" u="none">
                <a:solidFill>
                  <a:srgbClr val="42414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</a:t>
            </a:r>
            <a:r>
              <a:rPr lang="en-US" b="true" sz="7390" spc="-458" strike="noStrike" u="none">
                <a:solidFill>
                  <a:srgbClr val="42414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</a:t>
            </a:r>
            <a:r>
              <a:rPr lang="en-US" b="true" sz="7390" spc="-458" strike="noStrike" u="none">
                <a:solidFill>
                  <a:srgbClr val="42414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</a:t>
            </a:r>
            <a:r>
              <a:rPr lang="en-US" b="true" sz="7390" spc="-458" strike="noStrike" u="none">
                <a:solidFill>
                  <a:srgbClr val="42414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AL</a:t>
            </a:r>
            <a:r>
              <a:rPr lang="en-US" b="true" sz="7390" spc="-458" strike="noStrike" u="none">
                <a:solidFill>
                  <a:srgbClr val="42414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ADAPTIVE</a:t>
            </a:r>
            <a:r>
              <a:rPr lang="en-US" b="true" sz="7390" spc="-458" strike="noStrike" u="none">
                <a:solidFill>
                  <a:srgbClr val="42414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HE)</a:t>
            </a:r>
          </a:p>
        </p:txBody>
      </p:sp>
      <p:sp>
        <p:nvSpPr>
          <p:cNvPr name="AutoShape 13" id="13"/>
          <p:cNvSpPr/>
          <p:nvPr/>
        </p:nvSpPr>
        <p:spPr>
          <a:xfrm>
            <a:off x="628726" y="1279706"/>
            <a:ext cx="550013" cy="0"/>
          </a:xfrm>
          <a:prstGeom prst="line">
            <a:avLst/>
          </a:prstGeom>
          <a:ln cap="flat" w="476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>
            <a:off x="628726" y="1427234"/>
            <a:ext cx="550013" cy="0"/>
          </a:xfrm>
          <a:prstGeom prst="line">
            <a:avLst/>
          </a:prstGeom>
          <a:ln cap="flat" w="476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>
            <a:off x="628726" y="1570109"/>
            <a:ext cx="550013" cy="0"/>
          </a:xfrm>
          <a:prstGeom prst="line">
            <a:avLst/>
          </a:prstGeom>
          <a:ln cap="flat" w="476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6" id="16"/>
          <p:cNvSpPr/>
          <p:nvPr/>
        </p:nvSpPr>
        <p:spPr>
          <a:xfrm flipH="false" flipV="false" rot="0">
            <a:off x="628726" y="6029222"/>
            <a:ext cx="652982" cy="652982"/>
          </a:xfrm>
          <a:custGeom>
            <a:avLst/>
            <a:gdLst/>
            <a:ahLst/>
            <a:cxnLst/>
            <a:rect r="r" b="b" t="t" l="l"/>
            <a:pathLst>
              <a:path h="652982" w="652982">
                <a:moveTo>
                  <a:pt x="0" y="0"/>
                </a:moveTo>
                <a:lnTo>
                  <a:pt x="652983" y="0"/>
                </a:lnTo>
                <a:lnTo>
                  <a:pt x="652983" y="652983"/>
                </a:lnTo>
                <a:lnTo>
                  <a:pt x="0" y="6529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628726" y="8621062"/>
            <a:ext cx="652982" cy="652982"/>
          </a:xfrm>
          <a:custGeom>
            <a:avLst/>
            <a:gdLst/>
            <a:ahLst/>
            <a:cxnLst/>
            <a:rect r="r" b="b" t="t" l="l"/>
            <a:pathLst>
              <a:path h="652982" w="652982">
                <a:moveTo>
                  <a:pt x="0" y="0"/>
                </a:moveTo>
                <a:lnTo>
                  <a:pt x="652983" y="0"/>
                </a:lnTo>
                <a:lnTo>
                  <a:pt x="652983" y="652982"/>
                </a:lnTo>
                <a:lnTo>
                  <a:pt x="0" y="65298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16839551" y="2894346"/>
            <a:ext cx="419749" cy="419749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424141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39013" lIns="39013" bIns="39013" rIns="39013"/>
            <a:lstStyle/>
            <a:p>
              <a:pPr algn="ctr" marL="0" indent="0" lvl="0">
                <a:lnSpc>
                  <a:spcPts val="1297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6419760" y="2894346"/>
            <a:ext cx="419749" cy="419749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424141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39013" lIns="39013" bIns="39013" rIns="39013"/>
            <a:lstStyle/>
            <a:p>
              <a:pPr algn="ctr" marL="0" indent="0" lvl="0">
                <a:lnSpc>
                  <a:spcPts val="1297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5999969" y="2894346"/>
            <a:ext cx="419749" cy="419749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E59"/>
            </a:solidFill>
            <a:ln w="19050" cap="sq">
              <a:solidFill>
                <a:srgbClr val="424141"/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39013" lIns="39013" bIns="39013" rIns="39013"/>
            <a:lstStyle/>
            <a:p>
              <a:pPr algn="ctr" marL="0" indent="0" lvl="0">
                <a:lnSpc>
                  <a:spcPts val="1297"/>
                </a:lnSpc>
              </a:pPr>
            </a:p>
          </p:txBody>
        </p:sp>
      </p:grpSp>
      <p:sp>
        <p:nvSpPr>
          <p:cNvPr name="Freeform 27" id="27"/>
          <p:cNvSpPr/>
          <p:nvPr/>
        </p:nvSpPr>
        <p:spPr>
          <a:xfrm flipH="false" flipV="false" rot="0">
            <a:off x="628726" y="7339018"/>
            <a:ext cx="652982" cy="625231"/>
          </a:xfrm>
          <a:custGeom>
            <a:avLst/>
            <a:gdLst/>
            <a:ahLst/>
            <a:cxnLst/>
            <a:rect r="r" b="b" t="t" l="l"/>
            <a:pathLst>
              <a:path h="625231" w="652982">
                <a:moveTo>
                  <a:pt x="0" y="0"/>
                </a:moveTo>
                <a:lnTo>
                  <a:pt x="652983" y="0"/>
                </a:lnTo>
                <a:lnTo>
                  <a:pt x="652983" y="625231"/>
                </a:lnTo>
                <a:lnTo>
                  <a:pt x="0" y="62523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695867" y="3769890"/>
            <a:ext cx="545744" cy="545744"/>
          </a:xfrm>
          <a:custGeom>
            <a:avLst/>
            <a:gdLst/>
            <a:ahLst/>
            <a:cxnLst/>
            <a:rect r="r" b="b" t="t" l="l"/>
            <a:pathLst>
              <a:path h="545744" w="545744">
                <a:moveTo>
                  <a:pt x="0" y="0"/>
                </a:moveTo>
                <a:lnTo>
                  <a:pt x="545743" y="0"/>
                </a:lnTo>
                <a:lnTo>
                  <a:pt x="545743" y="545744"/>
                </a:lnTo>
                <a:lnTo>
                  <a:pt x="0" y="54574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628726" y="2424196"/>
            <a:ext cx="680025" cy="680025"/>
          </a:xfrm>
          <a:custGeom>
            <a:avLst/>
            <a:gdLst/>
            <a:ahLst/>
            <a:cxnLst/>
            <a:rect r="r" b="b" t="t" l="l"/>
            <a:pathLst>
              <a:path h="680025" w="680025">
                <a:moveTo>
                  <a:pt x="0" y="0"/>
                </a:moveTo>
                <a:lnTo>
                  <a:pt x="680025" y="0"/>
                </a:lnTo>
                <a:lnTo>
                  <a:pt x="680025" y="680024"/>
                </a:lnTo>
                <a:lnTo>
                  <a:pt x="0" y="68002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true" flipV="false" rot="0">
            <a:off x="12856554" y="2132343"/>
            <a:ext cx="941613" cy="818027"/>
          </a:xfrm>
          <a:custGeom>
            <a:avLst/>
            <a:gdLst/>
            <a:ahLst/>
            <a:cxnLst/>
            <a:rect r="r" b="b" t="t" l="l"/>
            <a:pathLst>
              <a:path h="818027" w="941613">
                <a:moveTo>
                  <a:pt x="941613" y="0"/>
                </a:moveTo>
                <a:lnTo>
                  <a:pt x="0" y="0"/>
                </a:lnTo>
                <a:lnTo>
                  <a:pt x="0" y="818026"/>
                </a:lnTo>
                <a:lnTo>
                  <a:pt x="941613" y="818026"/>
                </a:lnTo>
                <a:lnTo>
                  <a:pt x="941613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8986348" y="-2749398"/>
            <a:ext cx="6556339" cy="4881741"/>
          </a:xfrm>
          <a:custGeom>
            <a:avLst/>
            <a:gdLst/>
            <a:ahLst/>
            <a:cxnLst/>
            <a:rect r="r" b="b" t="t" l="l"/>
            <a:pathLst>
              <a:path h="4881741" w="6556339">
                <a:moveTo>
                  <a:pt x="0" y="0"/>
                </a:moveTo>
                <a:lnTo>
                  <a:pt x="6556339" y="0"/>
                </a:lnTo>
                <a:lnTo>
                  <a:pt x="6556339" y="4881741"/>
                </a:lnTo>
                <a:lnTo>
                  <a:pt x="0" y="4881741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alphaModFix amt="16000"/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2" id="32"/>
          <p:cNvGrpSpPr/>
          <p:nvPr/>
        </p:nvGrpSpPr>
        <p:grpSpPr>
          <a:xfrm rot="0">
            <a:off x="14394969" y="1208043"/>
            <a:ext cx="2864331" cy="662597"/>
            <a:chOff x="0" y="0"/>
            <a:chExt cx="890574" cy="206014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90574" cy="206014"/>
            </a:xfrm>
            <a:custGeom>
              <a:avLst/>
              <a:gdLst/>
              <a:ahLst/>
              <a:cxnLst/>
              <a:rect r="r" b="b" t="t" l="l"/>
              <a:pathLst>
                <a:path h="206014" w="890574">
                  <a:moveTo>
                    <a:pt x="54057" y="0"/>
                  </a:moveTo>
                  <a:lnTo>
                    <a:pt x="836516" y="0"/>
                  </a:lnTo>
                  <a:cubicBezTo>
                    <a:pt x="850853" y="0"/>
                    <a:pt x="864603" y="5695"/>
                    <a:pt x="874741" y="15833"/>
                  </a:cubicBezTo>
                  <a:cubicBezTo>
                    <a:pt x="884878" y="25971"/>
                    <a:pt x="890574" y="39721"/>
                    <a:pt x="890574" y="54057"/>
                  </a:cubicBezTo>
                  <a:lnTo>
                    <a:pt x="890574" y="151956"/>
                  </a:lnTo>
                  <a:cubicBezTo>
                    <a:pt x="890574" y="181811"/>
                    <a:pt x="866371" y="206014"/>
                    <a:pt x="836516" y="206014"/>
                  </a:cubicBezTo>
                  <a:lnTo>
                    <a:pt x="54057" y="206014"/>
                  </a:lnTo>
                  <a:cubicBezTo>
                    <a:pt x="39721" y="206014"/>
                    <a:pt x="25971" y="200318"/>
                    <a:pt x="15833" y="190181"/>
                  </a:cubicBezTo>
                  <a:cubicBezTo>
                    <a:pt x="5695" y="180043"/>
                    <a:pt x="0" y="166293"/>
                    <a:pt x="0" y="151956"/>
                  </a:cubicBezTo>
                  <a:lnTo>
                    <a:pt x="0" y="54057"/>
                  </a:lnTo>
                  <a:cubicBezTo>
                    <a:pt x="0" y="24202"/>
                    <a:pt x="24202" y="0"/>
                    <a:pt x="54057" y="0"/>
                  </a:cubicBezTo>
                  <a:close/>
                </a:path>
              </a:pathLst>
            </a:custGeom>
            <a:ln w="28575" cap="sq">
              <a:solidFill>
                <a:srgbClr val="424141"/>
              </a:solidFill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9525"/>
              <a:ext cx="890574" cy="2155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560"/>
                </a:lnSpc>
              </a:pP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14394969" y="1409623"/>
            <a:ext cx="2864331" cy="280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87"/>
              </a:lnSpc>
            </a:pPr>
            <a:r>
              <a:rPr lang="en-US" sz="1705" spc="-37">
                <a:solidFill>
                  <a:srgbClr val="424141"/>
                </a:solidFill>
                <a:latin typeface="Montserrat"/>
                <a:ea typeface="Montserrat"/>
                <a:cs typeface="Montserrat"/>
                <a:sym typeface="Montserrat"/>
              </a:rPr>
              <a:t>XỬ LÝ ẢNH SỐ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2876550" y="3771162"/>
            <a:ext cx="11518419" cy="4277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399" spc="-88">
                <a:solidFill>
                  <a:srgbClr val="42414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CƠ CHẾ XỬ LÝ CỤC BỘ &amp; GIỚI HẠN TƯƠNG PHẢN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spc="-74">
                <a:solidFill>
                  <a:srgbClr val="424141"/>
                </a:solidFill>
                <a:latin typeface="Montserrat"/>
                <a:ea typeface="Montserrat"/>
                <a:cs typeface="Montserrat"/>
                <a:sym typeface="Montserrat"/>
              </a:rPr>
              <a:t>• Chia lưới Tile cục bộ: Chia ảnh gốc thành lưới các ô vuông nhỏ (ví dụ 8x8 tileGridSize) để xử lý tương phản riêng.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spc="-74">
                <a:solidFill>
                  <a:srgbClr val="424141"/>
                </a:solidFill>
                <a:latin typeface="Montserrat"/>
                <a:ea typeface="Montserrat"/>
                <a:cs typeface="Montserrat"/>
                <a:sym typeface="Montserrat"/>
              </a:rPr>
              <a:t>• Giới hạn tương phản (Clip Limit): Cắt bỏ phần histogram vượt ngưỡng clipLimit và phân phối lại đều cho 256 bin -&gt; Chống khuếch đại nhiễu.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spc="-74">
                <a:solidFill>
                  <a:srgbClr val="424141"/>
                </a:solidFill>
                <a:latin typeface="Montserrat"/>
                <a:ea typeface="Montserrat"/>
                <a:cs typeface="Montserrat"/>
                <a:sym typeface="Montserrat"/>
              </a:rPr>
              <a:t>• Cân bằng cục bộ từng Tile: Tính toán CDF và ánh xạ cân bằng độc lập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spc="-74">
                <a:solidFill>
                  <a:srgbClr val="424141"/>
                </a:solidFill>
                <a:latin typeface="Montserrat"/>
                <a:ea typeface="Montserrat"/>
                <a:cs typeface="Montserrat"/>
                <a:sym typeface="Montserrat"/>
              </a:rPr>
              <a:t>cho từng khu vực nhỏ.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spc="-74">
                <a:solidFill>
                  <a:srgbClr val="424141"/>
                </a:solidFill>
                <a:latin typeface="Montserrat"/>
                <a:ea typeface="Montserrat"/>
                <a:cs typeface="Montserrat"/>
                <a:sym typeface="Montserrat"/>
              </a:rPr>
              <a:t>• Nội suy song tuyến tính (Bilinear): Nội suy mịn ranh giới giữa 4 tile lân cận -&gt; Loại bỏ hoàn toàn hiệu ứng phân khối (block artifacts).</a:t>
            </a:r>
          </a:p>
        </p:txBody>
      </p:sp>
    </p:spTree>
  </p:cSld>
  <p:clrMapOvr>
    <a:masterClrMapping/>
  </p:clrMapOvr>
  <p:transition spd="slow">
    <p:fade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2388C">
                <a:alpha val="100000"/>
              </a:srgbClr>
            </a:gs>
            <a:gs pos="100000">
              <a:srgbClr val="3893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09814" y="167020"/>
            <a:ext cx="2323166" cy="9952960"/>
            <a:chOff x="0" y="0"/>
            <a:chExt cx="611863" cy="262135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11863" cy="2621356"/>
            </a:xfrm>
            <a:custGeom>
              <a:avLst/>
              <a:gdLst/>
              <a:ahLst/>
              <a:cxnLst/>
              <a:rect r="r" b="b" t="t" l="l"/>
              <a:pathLst>
                <a:path h="2621356" w="611863">
                  <a:moveTo>
                    <a:pt x="166624" y="0"/>
                  </a:moveTo>
                  <a:lnTo>
                    <a:pt x="445238" y="0"/>
                  </a:lnTo>
                  <a:cubicBezTo>
                    <a:pt x="537262" y="0"/>
                    <a:pt x="611863" y="74600"/>
                    <a:pt x="611863" y="166624"/>
                  </a:cubicBezTo>
                  <a:lnTo>
                    <a:pt x="611863" y="2454731"/>
                  </a:lnTo>
                  <a:cubicBezTo>
                    <a:pt x="611863" y="2546755"/>
                    <a:pt x="537262" y="2621356"/>
                    <a:pt x="445238" y="2621356"/>
                  </a:cubicBezTo>
                  <a:lnTo>
                    <a:pt x="166624" y="2621356"/>
                  </a:lnTo>
                  <a:cubicBezTo>
                    <a:pt x="74600" y="2621356"/>
                    <a:pt x="0" y="2546755"/>
                    <a:pt x="0" y="2454731"/>
                  </a:cubicBezTo>
                  <a:lnTo>
                    <a:pt x="0" y="166624"/>
                  </a:lnTo>
                  <a:cubicBezTo>
                    <a:pt x="0" y="74600"/>
                    <a:pt x="74600" y="0"/>
                    <a:pt x="166624" y="0"/>
                  </a:cubicBezTo>
                  <a:close/>
                </a:path>
              </a:pathLst>
            </a:custGeom>
            <a:solidFill>
              <a:srgbClr val="2063C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611863" cy="26594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36305" y="4662997"/>
            <a:ext cx="1387838" cy="961005"/>
            <a:chOff x="0" y="0"/>
            <a:chExt cx="365521" cy="25310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65521" cy="253104"/>
            </a:xfrm>
            <a:custGeom>
              <a:avLst/>
              <a:gdLst/>
              <a:ahLst/>
              <a:cxnLst/>
              <a:rect r="r" b="b" t="t" l="l"/>
              <a:pathLst>
                <a:path h="253104" w="365521">
                  <a:moveTo>
                    <a:pt x="126552" y="0"/>
                  </a:moveTo>
                  <a:lnTo>
                    <a:pt x="238969" y="0"/>
                  </a:lnTo>
                  <a:cubicBezTo>
                    <a:pt x="308862" y="0"/>
                    <a:pt x="365521" y="56659"/>
                    <a:pt x="365521" y="126552"/>
                  </a:cubicBezTo>
                  <a:lnTo>
                    <a:pt x="365521" y="126552"/>
                  </a:lnTo>
                  <a:cubicBezTo>
                    <a:pt x="365521" y="196445"/>
                    <a:pt x="308862" y="253104"/>
                    <a:pt x="238969" y="253104"/>
                  </a:cubicBezTo>
                  <a:lnTo>
                    <a:pt x="126552" y="253104"/>
                  </a:lnTo>
                  <a:cubicBezTo>
                    <a:pt x="56659" y="253104"/>
                    <a:pt x="0" y="196445"/>
                    <a:pt x="0" y="126552"/>
                  </a:cubicBezTo>
                  <a:lnTo>
                    <a:pt x="0" y="126552"/>
                  </a:lnTo>
                  <a:cubicBezTo>
                    <a:pt x="0" y="56659"/>
                    <a:pt x="56659" y="0"/>
                    <a:pt x="12655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65521" cy="2912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597652" y="167020"/>
            <a:ext cx="16414232" cy="9952960"/>
            <a:chOff x="0" y="0"/>
            <a:chExt cx="4323090" cy="262135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323090" cy="2621356"/>
            </a:xfrm>
            <a:custGeom>
              <a:avLst/>
              <a:gdLst/>
              <a:ahLst/>
              <a:cxnLst/>
              <a:rect r="r" b="b" t="t" l="l"/>
              <a:pathLst>
                <a:path h="2621356" w="4323090">
                  <a:moveTo>
                    <a:pt x="23583" y="0"/>
                  </a:moveTo>
                  <a:lnTo>
                    <a:pt x="4299507" y="0"/>
                  </a:lnTo>
                  <a:cubicBezTo>
                    <a:pt x="4312532" y="0"/>
                    <a:pt x="4323090" y="10558"/>
                    <a:pt x="4323090" y="23583"/>
                  </a:cubicBezTo>
                  <a:lnTo>
                    <a:pt x="4323090" y="2597773"/>
                  </a:lnTo>
                  <a:cubicBezTo>
                    <a:pt x="4323090" y="2610797"/>
                    <a:pt x="4312532" y="2621356"/>
                    <a:pt x="4299507" y="2621356"/>
                  </a:cubicBezTo>
                  <a:lnTo>
                    <a:pt x="23583" y="2621356"/>
                  </a:lnTo>
                  <a:cubicBezTo>
                    <a:pt x="10558" y="2621356"/>
                    <a:pt x="0" y="2610797"/>
                    <a:pt x="0" y="2597773"/>
                  </a:cubicBezTo>
                  <a:lnTo>
                    <a:pt x="0" y="23583"/>
                  </a:lnTo>
                  <a:cubicBezTo>
                    <a:pt x="0" y="10558"/>
                    <a:pt x="10558" y="0"/>
                    <a:pt x="2358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323090" cy="26594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680211" y="4944284"/>
            <a:ext cx="550013" cy="456288"/>
          </a:xfrm>
          <a:custGeom>
            <a:avLst/>
            <a:gdLst/>
            <a:ahLst/>
            <a:cxnLst/>
            <a:rect r="r" b="b" t="t" l="l"/>
            <a:pathLst>
              <a:path h="456288" w="550013">
                <a:moveTo>
                  <a:pt x="0" y="0"/>
                </a:moveTo>
                <a:lnTo>
                  <a:pt x="550013" y="0"/>
                </a:lnTo>
                <a:lnTo>
                  <a:pt x="550013" y="456288"/>
                </a:lnTo>
                <a:lnTo>
                  <a:pt x="0" y="4562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-20013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876550" y="809625"/>
            <a:ext cx="11518419" cy="2286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016"/>
              </a:lnSpc>
              <a:spcBef>
                <a:spcPct val="0"/>
              </a:spcBef>
            </a:pPr>
            <a:r>
              <a:rPr lang="en-US" b="true" sz="7390" spc="-458">
                <a:solidFill>
                  <a:srgbClr val="42414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XỬ LÝ TĂNG </a:t>
            </a:r>
            <a:r>
              <a:rPr lang="en-US" b="true" sz="7390" spc="-458" strike="noStrike" u="none">
                <a:solidFill>
                  <a:srgbClr val="42414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CƯỜNG ẢNH MÀU (YCRCB </a:t>
            </a:r>
            <a:r>
              <a:rPr lang="en-US" b="true" sz="7390" spc="-458" strike="noStrike" u="none">
                <a:solidFill>
                  <a:srgbClr val="42414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SP</a:t>
            </a:r>
            <a:r>
              <a:rPr lang="en-US" b="true" sz="7390" spc="-458" strike="noStrike" u="none">
                <a:solidFill>
                  <a:srgbClr val="42414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</a:t>
            </a:r>
            <a:r>
              <a:rPr lang="en-US" b="true" sz="7390" spc="-458" strike="noStrike" u="none">
                <a:solidFill>
                  <a:srgbClr val="42414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</a:t>
            </a:r>
            <a:r>
              <a:rPr lang="en-US" b="true" sz="7390" spc="-458" strike="noStrike" u="none">
                <a:solidFill>
                  <a:srgbClr val="42414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E)</a:t>
            </a:r>
          </a:p>
        </p:txBody>
      </p:sp>
      <p:sp>
        <p:nvSpPr>
          <p:cNvPr name="AutoShape 13" id="13"/>
          <p:cNvSpPr/>
          <p:nvPr/>
        </p:nvSpPr>
        <p:spPr>
          <a:xfrm>
            <a:off x="628726" y="1279706"/>
            <a:ext cx="550013" cy="0"/>
          </a:xfrm>
          <a:prstGeom prst="line">
            <a:avLst/>
          </a:prstGeom>
          <a:ln cap="flat" w="476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>
            <a:off x="628726" y="1427234"/>
            <a:ext cx="550013" cy="0"/>
          </a:xfrm>
          <a:prstGeom prst="line">
            <a:avLst/>
          </a:prstGeom>
          <a:ln cap="flat" w="476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>
            <a:off x="628726" y="1570109"/>
            <a:ext cx="550013" cy="0"/>
          </a:xfrm>
          <a:prstGeom prst="line">
            <a:avLst/>
          </a:prstGeom>
          <a:ln cap="flat" w="476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6" id="16"/>
          <p:cNvSpPr/>
          <p:nvPr/>
        </p:nvSpPr>
        <p:spPr>
          <a:xfrm flipH="false" flipV="false" rot="0">
            <a:off x="628726" y="6029222"/>
            <a:ext cx="652982" cy="652982"/>
          </a:xfrm>
          <a:custGeom>
            <a:avLst/>
            <a:gdLst/>
            <a:ahLst/>
            <a:cxnLst/>
            <a:rect r="r" b="b" t="t" l="l"/>
            <a:pathLst>
              <a:path h="652982" w="652982">
                <a:moveTo>
                  <a:pt x="0" y="0"/>
                </a:moveTo>
                <a:lnTo>
                  <a:pt x="652983" y="0"/>
                </a:lnTo>
                <a:lnTo>
                  <a:pt x="652983" y="652983"/>
                </a:lnTo>
                <a:lnTo>
                  <a:pt x="0" y="6529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628726" y="8621062"/>
            <a:ext cx="652982" cy="652982"/>
          </a:xfrm>
          <a:custGeom>
            <a:avLst/>
            <a:gdLst/>
            <a:ahLst/>
            <a:cxnLst/>
            <a:rect r="r" b="b" t="t" l="l"/>
            <a:pathLst>
              <a:path h="652982" w="652982">
                <a:moveTo>
                  <a:pt x="0" y="0"/>
                </a:moveTo>
                <a:lnTo>
                  <a:pt x="652983" y="0"/>
                </a:lnTo>
                <a:lnTo>
                  <a:pt x="652983" y="652982"/>
                </a:lnTo>
                <a:lnTo>
                  <a:pt x="0" y="65298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16839551" y="2894346"/>
            <a:ext cx="419749" cy="419749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424141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39013" lIns="39013" bIns="39013" rIns="39013"/>
            <a:lstStyle/>
            <a:p>
              <a:pPr algn="ctr" marL="0" indent="0" lvl="0">
                <a:lnSpc>
                  <a:spcPts val="1297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6419760" y="2894346"/>
            <a:ext cx="419749" cy="419749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424141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39013" lIns="39013" bIns="39013" rIns="39013"/>
            <a:lstStyle/>
            <a:p>
              <a:pPr algn="ctr" marL="0" indent="0" lvl="0">
                <a:lnSpc>
                  <a:spcPts val="1297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5999969" y="2894346"/>
            <a:ext cx="419749" cy="419749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E59"/>
            </a:solidFill>
            <a:ln w="19050" cap="sq">
              <a:solidFill>
                <a:srgbClr val="424141"/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39013" lIns="39013" bIns="39013" rIns="39013"/>
            <a:lstStyle/>
            <a:p>
              <a:pPr algn="ctr" marL="0" indent="0" lvl="0">
                <a:lnSpc>
                  <a:spcPts val="1297"/>
                </a:lnSpc>
              </a:pPr>
            </a:p>
          </p:txBody>
        </p:sp>
      </p:grpSp>
      <p:sp>
        <p:nvSpPr>
          <p:cNvPr name="Freeform 27" id="27"/>
          <p:cNvSpPr/>
          <p:nvPr/>
        </p:nvSpPr>
        <p:spPr>
          <a:xfrm flipH="false" flipV="false" rot="0">
            <a:off x="628726" y="7339018"/>
            <a:ext cx="652982" cy="625231"/>
          </a:xfrm>
          <a:custGeom>
            <a:avLst/>
            <a:gdLst/>
            <a:ahLst/>
            <a:cxnLst/>
            <a:rect r="r" b="b" t="t" l="l"/>
            <a:pathLst>
              <a:path h="625231" w="652982">
                <a:moveTo>
                  <a:pt x="0" y="0"/>
                </a:moveTo>
                <a:lnTo>
                  <a:pt x="652983" y="0"/>
                </a:lnTo>
                <a:lnTo>
                  <a:pt x="652983" y="625231"/>
                </a:lnTo>
                <a:lnTo>
                  <a:pt x="0" y="62523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695867" y="3769890"/>
            <a:ext cx="545744" cy="545744"/>
          </a:xfrm>
          <a:custGeom>
            <a:avLst/>
            <a:gdLst/>
            <a:ahLst/>
            <a:cxnLst/>
            <a:rect r="r" b="b" t="t" l="l"/>
            <a:pathLst>
              <a:path h="545744" w="545744">
                <a:moveTo>
                  <a:pt x="0" y="0"/>
                </a:moveTo>
                <a:lnTo>
                  <a:pt x="545743" y="0"/>
                </a:lnTo>
                <a:lnTo>
                  <a:pt x="545743" y="545744"/>
                </a:lnTo>
                <a:lnTo>
                  <a:pt x="0" y="54574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628726" y="2424196"/>
            <a:ext cx="680025" cy="680025"/>
          </a:xfrm>
          <a:custGeom>
            <a:avLst/>
            <a:gdLst/>
            <a:ahLst/>
            <a:cxnLst/>
            <a:rect r="r" b="b" t="t" l="l"/>
            <a:pathLst>
              <a:path h="680025" w="680025">
                <a:moveTo>
                  <a:pt x="0" y="0"/>
                </a:moveTo>
                <a:lnTo>
                  <a:pt x="680025" y="0"/>
                </a:lnTo>
                <a:lnTo>
                  <a:pt x="680025" y="680024"/>
                </a:lnTo>
                <a:lnTo>
                  <a:pt x="0" y="68002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true" flipV="false" rot="0">
            <a:off x="12385747" y="2132343"/>
            <a:ext cx="941613" cy="818027"/>
          </a:xfrm>
          <a:custGeom>
            <a:avLst/>
            <a:gdLst/>
            <a:ahLst/>
            <a:cxnLst/>
            <a:rect r="r" b="b" t="t" l="l"/>
            <a:pathLst>
              <a:path h="818027" w="941613">
                <a:moveTo>
                  <a:pt x="941614" y="0"/>
                </a:moveTo>
                <a:lnTo>
                  <a:pt x="0" y="0"/>
                </a:lnTo>
                <a:lnTo>
                  <a:pt x="0" y="818026"/>
                </a:lnTo>
                <a:lnTo>
                  <a:pt x="941614" y="818026"/>
                </a:lnTo>
                <a:lnTo>
                  <a:pt x="941614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8986348" y="-2749398"/>
            <a:ext cx="6556339" cy="4881741"/>
          </a:xfrm>
          <a:custGeom>
            <a:avLst/>
            <a:gdLst/>
            <a:ahLst/>
            <a:cxnLst/>
            <a:rect r="r" b="b" t="t" l="l"/>
            <a:pathLst>
              <a:path h="4881741" w="6556339">
                <a:moveTo>
                  <a:pt x="0" y="0"/>
                </a:moveTo>
                <a:lnTo>
                  <a:pt x="6556339" y="0"/>
                </a:lnTo>
                <a:lnTo>
                  <a:pt x="6556339" y="4881741"/>
                </a:lnTo>
                <a:lnTo>
                  <a:pt x="0" y="4881741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alphaModFix amt="16000"/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2" id="32"/>
          <p:cNvGrpSpPr/>
          <p:nvPr/>
        </p:nvGrpSpPr>
        <p:grpSpPr>
          <a:xfrm rot="0">
            <a:off x="14394969" y="1208043"/>
            <a:ext cx="2864331" cy="662597"/>
            <a:chOff x="0" y="0"/>
            <a:chExt cx="890574" cy="206014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90574" cy="206014"/>
            </a:xfrm>
            <a:custGeom>
              <a:avLst/>
              <a:gdLst/>
              <a:ahLst/>
              <a:cxnLst/>
              <a:rect r="r" b="b" t="t" l="l"/>
              <a:pathLst>
                <a:path h="206014" w="890574">
                  <a:moveTo>
                    <a:pt x="54057" y="0"/>
                  </a:moveTo>
                  <a:lnTo>
                    <a:pt x="836516" y="0"/>
                  </a:lnTo>
                  <a:cubicBezTo>
                    <a:pt x="850853" y="0"/>
                    <a:pt x="864603" y="5695"/>
                    <a:pt x="874741" y="15833"/>
                  </a:cubicBezTo>
                  <a:cubicBezTo>
                    <a:pt x="884878" y="25971"/>
                    <a:pt x="890574" y="39721"/>
                    <a:pt x="890574" y="54057"/>
                  </a:cubicBezTo>
                  <a:lnTo>
                    <a:pt x="890574" y="151956"/>
                  </a:lnTo>
                  <a:cubicBezTo>
                    <a:pt x="890574" y="181811"/>
                    <a:pt x="866371" y="206014"/>
                    <a:pt x="836516" y="206014"/>
                  </a:cubicBezTo>
                  <a:lnTo>
                    <a:pt x="54057" y="206014"/>
                  </a:lnTo>
                  <a:cubicBezTo>
                    <a:pt x="39721" y="206014"/>
                    <a:pt x="25971" y="200318"/>
                    <a:pt x="15833" y="190181"/>
                  </a:cubicBezTo>
                  <a:cubicBezTo>
                    <a:pt x="5695" y="180043"/>
                    <a:pt x="0" y="166293"/>
                    <a:pt x="0" y="151956"/>
                  </a:cubicBezTo>
                  <a:lnTo>
                    <a:pt x="0" y="54057"/>
                  </a:lnTo>
                  <a:cubicBezTo>
                    <a:pt x="0" y="24202"/>
                    <a:pt x="24202" y="0"/>
                    <a:pt x="54057" y="0"/>
                  </a:cubicBezTo>
                  <a:close/>
                </a:path>
              </a:pathLst>
            </a:custGeom>
            <a:ln w="28575" cap="sq">
              <a:solidFill>
                <a:srgbClr val="424141"/>
              </a:solidFill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9525"/>
              <a:ext cx="890574" cy="2155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560"/>
                </a:lnSpc>
              </a:pP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14394969" y="1409623"/>
            <a:ext cx="2864331" cy="280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87"/>
              </a:lnSpc>
            </a:pPr>
            <a:r>
              <a:rPr lang="en-US" sz="1705" spc="-37">
                <a:solidFill>
                  <a:srgbClr val="424141"/>
                </a:solidFill>
                <a:latin typeface="Montserrat"/>
                <a:ea typeface="Montserrat"/>
                <a:cs typeface="Montserrat"/>
                <a:sym typeface="Montserrat"/>
              </a:rPr>
              <a:t>XỬ LÝ ẢNH SỐ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2876550" y="3771162"/>
            <a:ext cx="11518419" cy="4630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399" spc="-88">
                <a:solidFill>
                  <a:srgbClr val="42414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GIẢI PHÁP TRÁNH SAI LỆCH MÀU SẮC (COLOR DISTORTION)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spc="-74">
                <a:solidFill>
                  <a:srgbClr val="424141"/>
                </a:solidFill>
                <a:latin typeface="Montserrat"/>
                <a:ea typeface="Montserrat"/>
                <a:cs typeface="Montserrat"/>
                <a:sym typeface="Montserrat"/>
              </a:rPr>
              <a:t>• Vấn đề không gian màu RGB: Nếu áp dụng HE/CLAHE riêng trên 3 kênh R, G, B sẽ làm thay đổi tỷ lệ màu gốc -&gt; Gây méo màu nghiêm trọng.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spc="-74">
                <a:solidFill>
                  <a:srgbClr val="424141"/>
                </a:solidFill>
                <a:latin typeface="Montserrat"/>
                <a:ea typeface="Montserrat"/>
                <a:cs typeface="Montserrat"/>
                <a:sym typeface="Montserrat"/>
              </a:rPr>
              <a:t>• Bước 1: Chuyển BGR -&gt; YCrCb: Kênh Y chứa thông tin Độ sáng (Luminance). Kênh Cr và Cb chứa thông tin Màu sắc (Chrominance).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spc="-74">
                <a:solidFill>
                  <a:srgbClr val="424141"/>
                </a:solidFill>
                <a:latin typeface="Montserrat"/>
                <a:ea typeface="Montserrat"/>
                <a:cs typeface="Montserrat"/>
                <a:sym typeface="Montserrat"/>
              </a:rPr>
              <a:t>• Bước 2: Tăng cường trên kênh Y: Áp dụng Global HE hoặc CLAHE duy nhất trên kênh Y để nâng tương phản độ sáng.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spc="-74">
                <a:solidFill>
                  <a:srgbClr val="424141"/>
                </a:solidFill>
                <a:latin typeface="Montserrat"/>
                <a:ea typeface="Montserrat"/>
                <a:cs typeface="Montserrat"/>
                <a:sym typeface="Montserrat"/>
              </a:rPr>
              <a:t>• Bước 3: Chuyển YCrCb -&gt; BGR: Gộp kênh Y đã xử lý với Cr, Cb giữ nguyên -&gt; Giữ màu tự nhiên tuyệt đối.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</a:p>
        </p:txBody>
      </p:sp>
    </p:spTree>
  </p:cSld>
  <p:clrMapOvr>
    <a:masterClrMapping/>
  </p:clrMapOvr>
  <p:transition spd="slow">
    <p:fade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2388C">
                <a:alpha val="100000"/>
              </a:srgbClr>
            </a:gs>
            <a:gs pos="100000">
              <a:srgbClr val="3893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09814" y="167020"/>
            <a:ext cx="2323166" cy="9952960"/>
            <a:chOff x="0" y="0"/>
            <a:chExt cx="611863" cy="262135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11863" cy="2621356"/>
            </a:xfrm>
            <a:custGeom>
              <a:avLst/>
              <a:gdLst/>
              <a:ahLst/>
              <a:cxnLst/>
              <a:rect r="r" b="b" t="t" l="l"/>
              <a:pathLst>
                <a:path h="2621356" w="611863">
                  <a:moveTo>
                    <a:pt x="166624" y="0"/>
                  </a:moveTo>
                  <a:lnTo>
                    <a:pt x="445238" y="0"/>
                  </a:lnTo>
                  <a:cubicBezTo>
                    <a:pt x="537262" y="0"/>
                    <a:pt x="611863" y="74600"/>
                    <a:pt x="611863" y="166624"/>
                  </a:cubicBezTo>
                  <a:lnTo>
                    <a:pt x="611863" y="2454731"/>
                  </a:lnTo>
                  <a:cubicBezTo>
                    <a:pt x="611863" y="2546755"/>
                    <a:pt x="537262" y="2621356"/>
                    <a:pt x="445238" y="2621356"/>
                  </a:cubicBezTo>
                  <a:lnTo>
                    <a:pt x="166624" y="2621356"/>
                  </a:lnTo>
                  <a:cubicBezTo>
                    <a:pt x="74600" y="2621356"/>
                    <a:pt x="0" y="2546755"/>
                    <a:pt x="0" y="2454731"/>
                  </a:cubicBezTo>
                  <a:lnTo>
                    <a:pt x="0" y="166624"/>
                  </a:lnTo>
                  <a:cubicBezTo>
                    <a:pt x="0" y="74600"/>
                    <a:pt x="74600" y="0"/>
                    <a:pt x="166624" y="0"/>
                  </a:cubicBezTo>
                  <a:close/>
                </a:path>
              </a:pathLst>
            </a:custGeom>
            <a:solidFill>
              <a:srgbClr val="2063C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611863" cy="26594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36305" y="5845989"/>
            <a:ext cx="1387838" cy="961005"/>
            <a:chOff x="0" y="0"/>
            <a:chExt cx="365521" cy="25310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65521" cy="253104"/>
            </a:xfrm>
            <a:custGeom>
              <a:avLst/>
              <a:gdLst/>
              <a:ahLst/>
              <a:cxnLst/>
              <a:rect r="r" b="b" t="t" l="l"/>
              <a:pathLst>
                <a:path h="253104" w="365521">
                  <a:moveTo>
                    <a:pt x="126552" y="0"/>
                  </a:moveTo>
                  <a:lnTo>
                    <a:pt x="238969" y="0"/>
                  </a:lnTo>
                  <a:cubicBezTo>
                    <a:pt x="308862" y="0"/>
                    <a:pt x="365521" y="56659"/>
                    <a:pt x="365521" y="126552"/>
                  </a:cubicBezTo>
                  <a:lnTo>
                    <a:pt x="365521" y="126552"/>
                  </a:lnTo>
                  <a:cubicBezTo>
                    <a:pt x="365521" y="196445"/>
                    <a:pt x="308862" y="253104"/>
                    <a:pt x="238969" y="253104"/>
                  </a:cubicBezTo>
                  <a:lnTo>
                    <a:pt x="126552" y="253104"/>
                  </a:lnTo>
                  <a:cubicBezTo>
                    <a:pt x="56659" y="253104"/>
                    <a:pt x="0" y="196445"/>
                    <a:pt x="0" y="126552"/>
                  </a:cubicBezTo>
                  <a:lnTo>
                    <a:pt x="0" y="126552"/>
                  </a:lnTo>
                  <a:cubicBezTo>
                    <a:pt x="0" y="56659"/>
                    <a:pt x="56659" y="0"/>
                    <a:pt x="12655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65521" cy="2912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597652" y="167020"/>
            <a:ext cx="16414232" cy="9952960"/>
            <a:chOff x="0" y="0"/>
            <a:chExt cx="4323090" cy="262135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323090" cy="2621356"/>
            </a:xfrm>
            <a:custGeom>
              <a:avLst/>
              <a:gdLst/>
              <a:ahLst/>
              <a:cxnLst/>
              <a:rect r="r" b="b" t="t" l="l"/>
              <a:pathLst>
                <a:path h="2621356" w="4323090">
                  <a:moveTo>
                    <a:pt x="23583" y="0"/>
                  </a:moveTo>
                  <a:lnTo>
                    <a:pt x="4299507" y="0"/>
                  </a:lnTo>
                  <a:cubicBezTo>
                    <a:pt x="4312532" y="0"/>
                    <a:pt x="4323090" y="10558"/>
                    <a:pt x="4323090" y="23583"/>
                  </a:cubicBezTo>
                  <a:lnTo>
                    <a:pt x="4323090" y="2597773"/>
                  </a:lnTo>
                  <a:cubicBezTo>
                    <a:pt x="4323090" y="2610797"/>
                    <a:pt x="4312532" y="2621356"/>
                    <a:pt x="4299507" y="2621356"/>
                  </a:cubicBezTo>
                  <a:lnTo>
                    <a:pt x="23583" y="2621356"/>
                  </a:lnTo>
                  <a:cubicBezTo>
                    <a:pt x="10558" y="2621356"/>
                    <a:pt x="0" y="2610797"/>
                    <a:pt x="0" y="2597773"/>
                  </a:cubicBezTo>
                  <a:lnTo>
                    <a:pt x="0" y="23583"/>
                  </a:lnTo>
                  <a:cubicBezTo>
                    <a:pt x="0" y="10558"/>
                    <a:pt x="10558" y="0"/>
                    <a:pt x="2358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323090" cy="26594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680211" y="4944284"/>
            <a:ext cx="550013" cy="456288"/>
          </a:xfrm>
          <a:custGeom>
            <a:avLst/>
            <a:gdLst/>
            <a:ahLst/>
            <a:cxnLst/>
            <a:rect r="r" b="b" t="t" l="l"/>
            <a:pathLst>
              <a:path h="456288" w="550013">
                <a:moveTo>
                  <a:pt x="0" y="0"/>
                </a:moveTo>
                <a:lnTo>
                  <a:pt x="550013" y="0"/>
                </a:lnTo>
                <a:lnTo>
                  <a:pt x="550013" y="456288"/>
                </a:lnTo>
                <a:lnTo>
                  <a:pt x="0" y="4562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-20013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628726" y="2424196"/>
            <a:ext cx="680025" cy="680025"/>
          </a:xfrm>
          <a:custGeom>
            <a:avLst/>
            <a:gdLst/>
            <a:ahLst/>
            <a:cxnLst/>
            <a:rect r="r" b="b" t="t" l="l"/>
            <a:pathLst>
              <a:path h="680025" w="680025">
                <a:moveTo>
                  <a:pt x="0" y="0"/>
                </a:moveTo>
                <a:lnTo>
                  <a:pt x="680025" y="0"/>
                </a:lnTo>
                <a:lnTo>
                  <a:pt x="680025" y="680024"/>
                </a:lnTo>
                <a:lnTo>
                  <a:pt x="0" y="6800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2745908" y="3769890"/>
            <a:ext cx="4513392" cy="5474233"/>
            <a:chOff x="0" y="0"/>
            <a:chExt cx="2702880" cy="327828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702880" cy="3278287"/>
            </a:xfrm>
            <a:custGeom>
              <a:avLst/>
              <a:gdLst/>
              <a:ahLst/>
              <a:cxnLst/>
              <a:rect r="r" b="b" t="t" l="l"/>
              <a:pathLst>
                <a:path h="3278287" w="2702880">
                  <a:moveTo>
                    <a:pt x="54890" y="0"/>
                  </a:moveTo>
                  <a:lnTo>
                    <a:pt x="2647990" y="0"/>
                  </a:lnTo>
                  <a:cubicBezTo>
                    <a:pt x="2678305" y="0"/>
                    <a:pt x="2702880" y="24575"/>
                    <a:pt x="2702880" y="54890"/>
                  </a:cubicBezTo>
                  <a:lnTo>
                    <a:pt x="2702880" y="3223397"/>
                  </a:lnTo>
                  <a:cubicBezTo>
                    <a:pt x="2702880" y="3237955"/>
                    <a:pt x="2697097" y="3251917"/>
                    <a:pt x="2686803" y="3262211"/>
                  </a:cubicBezTo>
                  <a:cubicBezTo>
                    <a:pt x="2676509" y="3272505"/>
                    <a:pt x="2662548" y="3278287"/>
                    <a:pt x="2647990" y="3278287"/>
                  </a:cubicBezTo>
                  <a:lnTo>
                    <a:pt x="54890" y="3278287"/>
                  </a:lnTo>
                  <a:cubicBezTo>
                    <a:pt x="24575" y="3278287"/>
                    <a:pt x="0" y="3253712"/>
                    <a:pt x="0" y="3223397"/>
                  </a:cubicBezTo>
                  <a:lnTo>
                    <a:pt x="0" y="54890"/>
                  </a:lnTo>
                  <a:cubicBezTo>
                    <a:pt x="0" y="24575"/>
                    <a:pt x="24575" y="0"/>
                    <a:pt x="54890" y="0"/>
                  </a:cubicBezTo>
                  <a:close/>
                </a:path>
              </a:pathLst>
            </a:custGeom>
            <a:solidFill>
              <a:srgbClr val="EB574C"/>
            </a:solidFill>
            <a:ln w="9525" cap="rnd">
              <a:solidFill>
                <a:srgbClr val="424141"/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2702880" cy="33163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540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3027429" y="810140"/>
            <a:ext cx="11112931" cy="2616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362"/>
              </a:lnSpc>
            </a:pPr>
            <a:r>
              <a:rPr lang="en-US" b="true" sz="8493" spc="-526">
                <a:solidFill>
                  <a:srgbClr val="42414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CẤU TRÚC MÔ - ĐU</a:t>
            </a:r>
            <a:r>
              <a:rPr lang="en-US" b="true" sz="8493" spc="-526">
                <a:solidFill>
                  <a:srgbClr val="42414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 MÃ NGUỒN </a:t>
            </a:r>
          </a:p>
        </p:txBody>
      </p:sp>
      <p:sp>
        <p:nvSpPr>
          <p:cNvPr name="Freeform 17" id="17"/>
          <p:cNvSpPr/>
          <p:nvPr/>
        </p:nvSpPr>
        <p:spPr>
          <a:xfrm flipH="true" flipV="false" rot="0">
            <a:off x="9215459" y="2355195"/>
            <a:ext cx="941613" cy="818027"/>
          </a:xfrm>
          <a:custGeom>
            <a:avLst/>
            <a:gdLst/>
            <a:ahLst/>
            <a:cxnLst/>
            <a:rect r="r" b="b" t="t" l="l"/>
            <a:pathLst>
              <a:path h="818027" w="941613">
                <a:moveTo>
                  <a:pt x="941613" y="0"/>
                </a:moveTo>
                <a:lnTo>
                  <a:pt x="0" y="0"/>
                </a:lnTo>
                <a:lnTo>
                  <a:pt x="0" y="818026"/>
                </a:lnTo>
                <a:lnTo>
                  <a:pt x="941613" y="818026"/>
                </a:lnTo>
                <a:lnTo>
                  <a:pt x="941613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8" id="18"/>
          <p:cNvSpPr/>
          <p:nvPr/>
        </p:nvSpPr>
        <p:spPr>
          <a:xfrm>
            <a:off x="628726" y="1279706"/>
            <a:ext cx="550013" cy="0"/>
          </a:xfrm>
          <a:prstGeom prst="line">
            <a:avLst/>
          </a:prstGeom>
          <a:ln cap="flat" w="476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9" id="19"/>
          <p:cNvSpPr/>
          <p:nvPr/>
        </p:nvSpPr>
        <p:spPr>
          <a:xfrm>
            <a:off x="628726" y="1427234"/>
            <a:ext cx="550013" cy="0"/>
          </a:xfrm>
          <a:prstGeom prst="line">
            <a:avLst/>
          </a:prstGeom>
          <a:ln cap="flat" w="476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0" id="20"/>
          <p:cNvSpPr/>
          <p:nvPr/>
        </p:nvSpPr>
        <p:spPr>
          <a:xfrm>
            <a:off x="628726" y="1570109"/>
            <a:ext cx="550013" cy="0"/>
          </a:xfrm>
          <a:prstGeom prst="line">
            <a:avLst/>
          </a:prstGeom>
          <a:ln cap="flat" w="476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1" id="21"/>
          <p:cNvSpPr/>
          <p:nvPr/>
        </p:nvSpPr>
        <p:spPr>
          <a:xfrm flipH="false" flipV="false" rot="0">
            <a:off x="628726" y="7339018"/>
            <a:ext cx="652982" cy="625231"/>
          </a:xfrm>
          <a:custGeom>
            <a:avLst/>
            <a:gdLst/>
            <a:ahLst/>
            <a:cxnLst/>
            <a:rect r="r" b="b" t="t" l="l"/>
            <a:pathLst>
              <a:path h="625231" w="652982">
                <a:moveTo>
                  <a:pt x="0" y="0"/>
                </a:moveTo>
                <a:lnTo>
                  <a:pt x="652983" y="0"/>
                </a:lnTo>
                <a:lnTo>
                  <a:pt x="652983" y="625231"/>
                </a:lnTo>
                <a:lnTo>
                  <a:pt x="0" y="62523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628726" y="6029222"/>
            <a:ext cx="652982" cy="652982"/>
          </a:xfrm>
          <a:custGeom>
            <a:avLst/>
            <a:gdLst/>
            <a:ahLst/>
            <a:cxnLst/>
            <a:rect r="r" b="b" t="t" l="l"/>
            <a:pathLst>
              <a:path h="652982" w="652982">
                <a:moveTo>
                  <a:pt x="0" y="0"/>
                </a:moveTo>
                <a:lnTo>
                  <a:pt x="652983" y="0"/>
                </a:lnTo>
                <a:lnTo>
                  <a:pt x="652983" y="652983"/>
                </a:lnTo>
                <a:lnTo>
                  <a:pt x="0" y="65298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628726" y="8621062"/>
            <a:ext cx="652982" cy="652982"/>
          </a:xfrm>
          <a:custGeom>
            <a:avLst/>
            <a:gdLst/>
            <a:ahLst/>
            <a:cxnLst/>
            <a:rect r="r" b="b" t="t" l="l"/>
            <a:pathLst>
              <a:path h="652982" w="652982">
                <a:moveTo>
                  <a:pt x="0" y="0"/>
                </a:moveTo>
                <a:lnTo>
                  <a:pt x="652983" y="0"/>
                </a:lnTo>
                <a:lnTo>
                  <a:pt x="652983" y="652982"/>
                </a:lnTo>
                <a:lnTo>
                  <a:pt x="0" y="65298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4" id="24"/>
          <p:cNvGrpSpPr/>
          <p:nvPr/>
        </p:nvGrpSpPr>
        <p:grpSpPr>
          <a:xfrm rot="0">
            <a:off x="16839551" y="2894346"/>
            <a:ext cx="419749" cy="419749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424141"/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39013" lIns="39013" bIns="39013" rIns="39013"/>
            <a:lstStyle/>
            <a:p>
              <a:pPr algn="ctr" marL="0" indent="0" lvl="0">
                <a:lnSpc>
                  <a:spcPts val="1297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6419760" y="2894346"/>
            <a:ext cx="419749" cy="419749"/>
            <a:chOff x="0" y="0"/>
            <a:chExt cx="812800" cy="812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424141"/>
              </a:solidFill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39013" lIns="39013" bIns="39013" rIns="39013"/>
            <a:lstStyle/>
            <a:p>
              <a:pPr algn="ctr" marL="0" indent="0" lvl="0">
                <a:lnSpc>
                  <a:spcPts val="1297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5999969" y="2894346"/>
            <a:ext cx="419749" cy="419749"/>
            <a:chOff x="0" y="0"/>
            <a:chExt cx="812800" cy="8128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E59"/>
            </a:solidFill>
            <a:ln w="19050" cap="sq">
              <a:solidFill>
                <a:srgbClr val="424141"/>
              </a:solidFill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39013" lIns="39013" bIns="39013" rIns="39013"/>
            <a:lstStyle/>
            <a:p>
              <a:pPr algn="ctr" marL="0" indent="0" lvl="0">
                <a:lnSpc>
                  <a:spcPts val="1297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3073621" y="4119045"/>
            <a:ext cx="3857966" cy="4414892"/>
            <a:chOff x="0" y="0"/>
            <a:chExt cx="1756195" cy="2009715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756195" cy="2009715"/>
            </a:xfrm>
            <a:custGeom>
              <a:avLst/>
              <a:gdLst/>
              <a:ahLst/>
              <a:cxnLst/>
              <a:rect r="r" b="b" t="t" l="l"/>
              <a:pathLst>
                <a:path h="2009715" w="1756195">
                  <a:moveTo>
                    <a:pt x="34115" y="0"/>
                  </a:moveTo>
                  <a:lnTo>
                    <a:pt x="1722081" y="0"/>
                  </a:lnTo>
                  <a:cubicBezTo>
                    <a:pt x="1740922" y="0"/>
                    <a:pt x="1756195" y="15274"/>
                    <a:pt x="1756195" y="34115"/>
                  </a:cubicBezTo>
                  <a:lnTo>
                    <a:pt x="1756195" y="1975601"/>
                  </a:lnTo>
                  <a:cubicBezTo>
                    <a:pt x="1756195" y="1984648"/>
                    <a:pt x="1752601" y="1993325"/>
                    <a:pt x="1746203" y="1999723"/>
                  </a:cubicBezTo>
                  <a:cubicBezTo>
                    <a:pt x="1739805" y="2006121"/>
                    <a:pt x="1731128" y="2009715"/>
                    <a:pt x="1722081" y="2009715"/>
                  </a:cubicBezTo>
                  <a:lnTo>
                    <a:pt x="34115" y="2009715"/>
                  </a:lnTo>
                  <a:cubicBezTo>
                    <a:pt x="25067" y="2009715"/>
                    <a:pt x="16390" y="2006121"/>
                    <a:pt x="9992" y="1999723"/>
                  </a:cubicBezTo>
                  <a:cubicBezTo>
                    <a:pt x="3594" y="1993325"/>
                    <a:pt x="0" y="1984648"/>
                    <a:pt x="0" y="1975601"/>
                  </a:cubicBezTo>
                  <a:lnTo>
                    <a:pt x="0" y="34115"/>
                  </a:lnTo>
                  <a:cubicBezTo>
                    <a:pt x="0" y="25067"/>
                    <a:pt x="3594" y="16390"/>
                    <a:pt x="9992" y="9992"/>
                  </a:cubicBezTo>
                  <a:cubicBezTo>
                    <a:pt x="16390" y="3594"/>
                    <a:pt x="25067" y="0"/>
                    <a:pt x="34115" y="0"/>
                  </a:cubicBezTo>
                  <a:close/>
                </a:path>
              </a:pathLst>
            </a:custGeom>
            <a:blipFill>
              <a:blip r:embed="rId14"/>
              <a:stretch>
                <a:fillRect l="-51695" t="0" r="-51695" b="0"/>
              </a:stretch>
            </a:blipFill>
            <a:ln w="9525" cap="sq">
              <a:solidFill>
                <a:srgbClr val="424141"/>
              </a:solidFill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3027429" y="4214265"/>
            <a:ext cx="8845603" cy="4537396"/>
            <a:chOff x="0" y="0"/>
            <a:chExt cx="5297259" cy="2717255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297258" cy="2717255"/>
            </a:xfrm>
            <a:custGeom>
              <a:avLst/>
              <a:gdLst/>
              <a:ahLst/>
              <a:cxnLst/>
              <a:rect r="r" b="b" t="t" l="l"/>
              <a:pathLst>
                <a:path h="2717255" w="5297258">
                  <a:moveTo>
                    <a:pt x="28007" y="0"/>
                  </a:moveTo>
                  <a:lnTo>
                    <a:pt x="5269251" y="0"/>
                  </a:lnTo>
                  <a:cubicBezTo>
                    <a:pt x="5284719" y="0"/>
                    <a:pt x="5297258" y="12539"/>
                    <a:pt x="5297258" y="28007"/>
                  </a:cubicBezTo>
                  <a:lnTo>
                    <a:pt x="5297258" y="2689248"/>
                  </a:lnTo>
                  <a:cubicBezTo>
                    <a:pt x="5297258" y="2696676"/>
                    <a:pt x="5294308" y="2703799"/>
                    <a:pt x="5289055" y="2709052"/>
                  </a:cubicBezTo>
                  <a:cubicBezTo>
                    <a:pt x="5283803" y="2714304"/>
                    <a:pt x="5276679" y="2717255"/>
                    <a:pt x="5269251" y="2717255"/>
                  </a:cubicBezTo>
                  <a:lnTo>
                    <a:pt x="28007" y="2717255"/>
                  </a:lnTo>
                  <a:cubicBezTo>
                    <a:pt x="12539" y="2717255"/>
                    <a:pt x="0" y="2704716"/>
                    <a:pt x="0" y="2689248"/>
                  </a:cubicBezTo>
                  <a:lnTo>
                    <a:pt x="0" y="28007"/>
                  </a:lnTo>
                  <a:cubicBezTo>
                    <a:pt x="0" y="12539"/>
                    <a:pt x="12539" y="0"/>
                    <a:pt x="28007" y="0"/>
                  </a:cubicBezTo>
                  <a:close/>
                </a:path>
              </a:pathLst>
            </a:custGeom>
            <a:solidFill>
              <a:srgbClr val="2063CD"/>
            </a:solidFill>
            <a:ln w="9525" cap="rnd">
              <a:solidFill>
                <a:srgbClr val="424141"/>
              </a:solidFill>
              <a:prstDash val="solid"/>
              <a:round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5297259" cy="27553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540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3278786" y="4094557"/>
            <a:ext cx="2933893" cy="653335"/>
            <a:chOff x="0" y="0"/>
            <a:chExt cx="2037821" cy="453793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037821" cy="453793"/>
            </a:xfrm>
            <a:custGeom>
              <a:avLst/>
              <a:gdLst/>
              <a:ahLst/>
              <a:cxnLst/>
              <a:rect r="r" b="b" t="t" l="l"/>
              <a:pathLst>
                <a:path h="453793" w="2037821">
                  <a:moveTo>
                    <a:pt x="34304" y="0"/>
                  </a:moveTo>
                  <a:lnTo>
                    <a:pt x="2003516" y="0"/>
                  </a:lnTo>
                  <a:cubicBezTo>
                    <a:pt x="2012614" y="0"/>
                    <a:pt x="2021340" y="3614"/>
                    <a:pt x="2027773" y="10047"/>
                  </a:cubicBezTo>
                  <a:cubicBezTo>
                    <a:pt x="2034206" y="16481"/>
                    <a:pt x="2037821" y="25206"/>
                    <a:pt x="2037821" y="34304"/>
                  </a:cubicBezTo>
                  <a:lnTo>
                    <a:pt x="2037821" y="419488"/>
                  </a:lnTo>
                  <a:cubicBezTo>
                    <a:pt x="2037821" y="438434"/>
                    <a:pt x="2022462" y="453793"/>
                    <a:pt x="2003516" y="453793"/>
                  </a:cubicBezTo>
                  <a:lnTo>
                    <a:pt x="34304" y="453793"/>
                  </a:lnTo>
                  <a:cubicBezTo>
                    <a:pt x="15359" y="453793"/>
                    <a:pt x="0" y="438434"/>
                    <a:pt x="0" y="419488"/>
                  </a:cubicBezTo>
                  <a:lnTo>
                    <a:pt x="0" y="34304"/>
                  </a:lnTo>
                  <a:cubicBezTo>
                    <a:pt x="0" y="15359"/>
                    <a:pt x="15359" y="0"/>
                    <a:pt x="34304" y="0"/>
                  </a:cubicBezTo>
                  <a:close/>
                </a:path>
              </a:pathLst>
            </a:custGeom>
            <a:solidFill>
              <a:srgbClr val="FFDE59"/>
            </a:solidFill>
            <a:ln w="9525" cap="sq">
              <a:solidFill>
                <a:srgbClr val="424141"/>
              </a:solidFill>
              <a:prstDash val="solid"/>
              <a:miter/>
            </a:ln>
          </p:spPr>
        </p:sp>
        <p:sp>
          <p:nvSpPr>
            <p:cNvPr name="TextBox 40" id="40"/>
            <p:cNvSpPr txBox="true"/>
            <p:nvPr/>
          </p:nvSpPr>
          <p:spPr>
            <a:xfrm>
              <a:off x="0" y="28575"/>
              <a:ext cx="2037821" cy="425218"/>
            </a:xfrm>
            <a:prstGeom prst="rect">
              <a:avLst/>
            </a:prstGeom>
          </p:spPr>
          <p:txBody>
            <a:bodyPr anchor="ctr" rtlCol="false" tIns="39013" lIns="39013" bIns="39013" rIns="39013"/>
            <a:lstStyle/>
            <a:p>
              <a:pPr algn="ctr" marL="0" indent="0" lvl="0">
                <a:lnSpc>
                  <a:spcPts val="1297"/>
                </a:lnSpc>
              </a:pPr>
            </a:p>
          </p:txBody>
        </p:sp>
      </p:grpSp>
      <p:sp>
        <p:nvSpPr>
          <p:cNvPr name="Freeform 41" id="41"/>
          <p:cNvSpPr/>
          <p:nvPr/>
        </p:nvSpPr>
        <p:spPr>
          <a:xfrm flipH="false" flipV="false" rot="0">
            <a:off x="695867" y="3769890"/>
            <a:ext cx="545744" cy="545744"/>
          </a:xfrm>
          <a:custGeom>
            <a:avLst/>
            <a:gdLst/>
            <a:ahLst/>
            <a:cxnLst/>
            <a:rect r="r" b="b" t="t" l="l"/>
            <a:pathLst>
              <a:path h="545744" w="545744">
                <a:moveTo>
                  <a:pt x="0" y="0"/>
                </a:moveTo>
                <a:lnTo>
                  <a:pt x="545743" y="0"/>
                </a:lnTo>
                <a:lnTo>
                  <a:pt x="545743" y="545744"/>
                </a:lnTo>
                <a:lnTo>
                  <a:pt x="0" y="545744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2" id="42"/>
          <p:cNvGrpSpPr/>
          <p:nvPr/>
        </p:nvGrpSpPr>
        <p:grpSpPr>
          <a:xfrm rot="0">
            <a:off x="14394969" y="1208043"/>
            <a:ext cx="2864331" cy="662597"/>
            <a:chOff x="0" y="0"/>
            <a:chExt cx="890574" cy="206014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890574" cy="206014"/>
            </a:xfrm>
            <a:custGeom>
              <a:avLst/>
              <a:gdLst/>
              <a:ahLst/>
              <a:cxnLst/>
              <a:rect r="r" b="b" t="t" l="l"/>
              <a:pathLst>
                <a:path h="206014" w="890574">
                  <a:moveTo>
                    <a:pt x="54057" y="0"/>
                  </a:moveTo>
                  <a:lnTo>
                    <a:pt x="836516" y="0"/>
                  </a:lnTo>
                  <a:cubicBezTo>
                    <a:pt x="850853" y="0"/>
                    <a:pt x="864603" y="5695"/>
                    <a:pt x="874741" y="15833"/>
                  </a:cubicBezTo>
                  <a:cubicBezTo>
                    <a:pt x="884878" y="25971"/>
                    <a:pt x="890574" y="39721"/>
                    <a:pt x="890574" y="54057"/>
                  </a:cubicBezTo>
                  <a:lnTo>
                    <a:pt x="890574" y="151956"/>
                  </a:lnTo>
                  <a:cubicBezTo>
                    <a:pt x="890574" y="181811"/>
                    <a:pt x="866371" y="206014"/>
                    <a:pt x="836516" y="206014"/>
                  </a:cubicBezTo>
                  <a:lnTo>
                    <a:pt x="54057" y="206014"/>
                  </a:lnTo>
                  <a:cubicBezTo>
                    <a:pt x="39721" y="206014"/>
                    <a:pt x="25971" y="200318"/>
                    <a:pt x="15833" y="190181"/>
                  </a:cubicBezTo>
                  <a:cubicBezTo>
                    <a:pt x="5695" y="180043"/>
                    <a:pt x="0" y="166293"/>
                    <a:pt x="0" y="151956"/>
                  </a:cubicBezTo>
                  <a:lnTo>
                    <a:pt x="0" y="54057"/>
                  </a:lnTo>
                  <a:cubicBezTo>
                    <a:pt x="0" y="24202"/>
                    <a:pt x="24202" y="0"/>
                    <a:pt x="54057" y="0"/>
                  </a:cubicBezTo>
                  <a:close/>
                </a:path>
              </a:pathLst>
            </a:custGeom>
            <a:ln w="28575" cap="sq">
              <a:solidFill>
                <a:srgbClr val="424141"/>
              </a:solidFill>
              <a:prstDash val="solid"/>
              <a:miter/>
            </a:ln>
          </p:spPr>
        </p:sp>
        <p:sp>
          <p:nvSpPr>
            <p:cNvPr name="TextBox 44" id="44"/>
            <p:cNvSpPr txBox="true"/>
            <p:nvPr/>
          </p:nvSpPr>
          <p:spPr>
            <a:xfrm>
              <a:off x="0" y="-9525"/>
              <a:ext cx="890574" cy="2155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560"/>
                </a:lnSpc>
              </a:pPr>
            </a:p>
          </p:txBody>
        </p:sp>
      </p:grpSp>
      <p:sp>
        <p:nvSpPr>
          <p:cNvPr name="TextBox 45" id="45"/>
          <p:cNvSpPr txBox="true"/>
          <p:nvPr/>
        </p:nvSpPr>
        <p:spPr>
          <a:xfrm rot="0">
            <a:off x="3485626" y="4266031"/>
            <a:ext cx="2520213" cy="3199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94"/>
              </a:lnSpc>
            </a:pPr>
            <a:r>
              <a:rPr lang="en-US" b="true" sz="2198" spc="-15">
                <a:solidFill>
                  <a:srgbClr val="42414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Danh sách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4394969" y="1409623"/>
            <a:ext cx="2864331" cy="280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87"/>
              </a:lnSpc>
            </a:pPr>
            <a:r>
              <a:rPr lang="en-US" sz="1705" spc="-37">
                <a:solidFill>
                  <a:srgbClr val="424141"/>
                </a:solidFill>
                <a:latin typeface="Montserrat"/>
                <a:ea typeface="Montserrat"/>
                <a:cs typeface="Montserrat"/>
                <a:sym typeface="Montserrat"/>
              </a:rPr>
              <a:t>XỬ LÝ ẢNH SỐ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3275328" y="4915709"/>
            <a:ext cx="8349805" cy="3754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59"/>
              </a:lnSpc>
              <a:spcBef>
                <a:spcPct val="0"/>
              </a:spcBef>
            </a:pPr>
            <a:r>
              <a:rPr lang="en-US" sz="1999" spc="-73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• utils.py: Xử lý I/O</a:t>
            </a:r>
            <a:r>
              <a:rPr lang="en-US" sz="1999" spc="-73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Unicod</a:t>
            </a:r>
            <a:r>
              <a:rPr lang="en-US" sz="1999" spc="-73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 tiế</a:t>
            </a:r>
            <a:r>
              <a:rPr lang="en-US" sz="1999" spc="-73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ng Việt (im</a:t>
            </a:r>
            <a:r>
              <a:rPr lang="en-US" sz="1999" spc="-73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read_u</a:t>
            </a:r>
            <a:r>
              <a:rPr lang="en-US" sz="1999" spc="-73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nicode, imwrite_unicode), tính histo</a:t>
            </a:r>
            <a:r>
              <a:rPr lang="en-US" sz="1999" spc="-73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gram &amp; CDF.</a:t>
            </a:r>
          </a:p>
          <a:p>
            <a:pPr algn="l" marL="0" indent="0" lvl="0">
              <a:lnSpc>
                <a:spcPts val="2759"/>
              </a:lnSpc>
              <a:spcBef>
                <a:spcPct val="0"/>
              </a:spcBef>
            </a:pPr>
            <a:r>
              <a:rPr lang="en-US" sz="1999" spc="-73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• global_e</a:t>
            </a:r>
            <a:r>
              <a:rPr lang="en-US" sz="1999" spc="-73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nhancement.py: Hàm Global HE thủ công (</a:t>
            </a:r>
            <a:r>
              <a:rPr lang="en-US" sz="1999" spc="-73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Manual) &amp; OpenCV </a:t>
            </a:r>
            <a:r>
              <a:rPr lang="en-US" sz="1999" spc="-73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</a:t>
            </a:r>
            <a:r>
              <a:rPr lang="en-US" sz="1999" spc="-73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rên</a:t>
            </a:r>
            <a:r>
              <a:rPr lang="en-US" sz="1999" spc="-73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ảnh xám và màu YCrCb.</a:t>
            </a:r>
          </a:p>
          <a:p>
            <a:pPr algn="l" marL="0" indent="0" lvl="0">
              <a:lnSpc>
                <a:spcPts val="2759"/>
              </a:lnSpc>
              <a:spcBef>
                <a:spcPct val="0"/>
              </a:spcBef>
            </a:pPr>
            <a:r>
              <a:rPr lang="en-US" sz="1999" spc="-73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• local_enhancement</a:t>
            </a:r>
            <a:r>
              <a:rPr lang="en-US" sz="1999" spc="-73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.py:</a:t>
            </a:r>
            <a:r>
              <a:rPr lang="en-US" sz="1999" spc="-73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Hàm CLAHE thủ công &amp; OpenCV</a:t>
            </a:r>
            <a:r>
              <a:rPr lang="en-US" sz="1999" spc="-73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, thực nghiệm đa tham số (experiment_clahe_params</a:t>
            </a:r>
            <a:r>
              <a:rPr lang="en-US" sz="1999" spc="-73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).</a:t>
            </a:r>
          </a:p>
          <a:p>
            <a:pPr algn="l" marL="0" indent="0" lvl="0">
              <a:lnSpc>
                <a:spcPts val="2759"/>
              </a:lnSpc>
              <a:spcBef>
                <a:spcPct val="0"/>
              </a:spcBef>
            </a:pPr>
            <a:r>
              <a:rPr lang="en-US" sz="1999" spc="-73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• comparison.py: Tính toán 5 chỉ số metrics (Mean, Std, Entropy, PSNR, SSIM) &amp; vẽ chart Matplotlib.</a:t>
            </a:r>
          </a:p>
          <a:p>
            <a:pPr algn="l" marL="0" indent="0" lvl="0">
              <a:lnSpc>
                <a:spcPts val="2759"/>
              </a:lnSpc>
              <a:spcBef>
                <a:spcPct val="0"/>
              </a:spcBef>
            </a:pPr>
            <a:r>
              <a:rPr lang="en-US" sz="1999" spc="-73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• app.py: Giao diện Web tương tác Streamlit (Upload, Slider tuning, Tab compare &amp; Download).</a:t>
            </a:r>
          </a:p>
          <a:p>
            <a:pPr algn="l" marL="0" indent="0" lvl="0">
              <a:lnSpc>
                <a:spcPts val="2759"/>
              </a:lnSpc>
              <a:spcBef>
                <a:spcPct val="0"/>
              </a:spcBef>
            </a:pPr>
          </a:p>
        </p:txBody>
      </p:sp>
      <p:sp>
        <p:nvSpPr>
          <p:cNvPr name="Freeform 48" id="48"/>
          <p:cNvSpPr/>
          <p:nvPr/>
        </p:nvSpPr>
        <p:spPr>
          <a:xfrm flipH="false" flipV="false" rot="0">
            <a:off x="8986348" y="-2749398"/>
            <a:ext cx="6556339" cy="4881741"/>
          </a:xfrm>
          <a:custGeom>
            <a:avLst/>
            <a:gdLst/>
            <a:ahLst/>
            <a:cxnLst/>
            <a:rect r="r" b="b" t="t" l="l"/>
            <a:pathLst>
              <a:path h="4881741" w="6556339">
                <a:moveTo>
                  <a:pt x="0" y="0"/>
                </a:moveTo>
                <a:lnTo>
                  <a:pt x="6556339" y="0"/>
                </a:lnTo>
                <a:lnTo>
                  <a:pt x="6556339" y="4881741"/>
                </a:lnTo>
                <a:lnTo>
                  <a:pt x="0" y="4881741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alphaModFix amt="16000"/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fade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2388C">
                <a:alpha val="100000"/>
              </a:srgbClr>
            </a:gs>
            <a:gs pos="100000">
              <a:srgbClr val="3893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09814" y="167020"/>
            <a:ext cx="2323166" cy="9952960"/>
            <a:chOff x="0" y="0"/>
            <a:chExt cx="611863" cy="262135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11863" cy="2621356"/>
            </a:xfrm>
            <a:custGeom>
              <a:avLst/>
              <a:gdLst/>
              <a:ahLst/>
              <a:cxnLst/>
              <a:rect r="r" b="b" t="t" l="l"/>
              <a:pathLst>
                <a:path h="2621356" w="611863">
                  <a:moveTo>
                    <a:pt x="166624" y="0"/>
                  </a:moveTo>
                  <a:lnTo>
                    <a:pt x="445238" y="0"/>
                  </a:lnTo>
                  <a:cubicBezTo>
                    <a:pt x="537262" y="0"/>
                    <a:pt x="611863" y="74600"/>
                    <a:pt x="611863" y="166624"/>
                  </a:cubicBezTo>
                  <a:lnTo>
                    <a:pt x="611863" y="2454731"/>
                  </a:lnTo>
                  <a:cubicBezTo>
                    <a:pt x="611863" y="2546755"/>
                    <a:pt x="537262" y="2621356"/>
                    <a:pt x="445238" y="2621356"/>
                  </a:cubicBezTo>
                  <a:lnTo>
                    <a:pt x="166624" y="2621356"/>
                  </a:lnTo>
                  <a:cubicBezTo>
                    <a:pt x="74600" y="2621356"/>
                    <a:pt x="0" y="2546755"/>
                    <a:pt x="0" y="2454731"/>
                  </a:cubicBezTo>
                  <a:lnTo>
                    <a:pt x="0" y="166624"/>
                  </a:lnTo>
                  <a:cubicBezTo>
                    <a:pt x="0" y="74600"/>
                    <a:pt x="74600" y="0"/>
                    <a:pt x="166624" y="0"/>
                  </a:cubicBezTo>
                  <a:close/>
                </a:path>
              </a:pathLst>
            </a:custGeom>
            <a:solidFill>
              <a:srgbClr val="2063C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611863" cy="26594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60665" y="5889292"/>
            <a:ext cx="1539118" cy="961005"/>
            <a:chOff x="0" y="0"/>
            <a:chExt cx="405364" cy="25310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5364" cy="253104"/>
            </a:xfrm>
            <a:custGeom>
              <a:avLst/>
              <a:gdLst/>
              <a:ahLst/>
              <a:cxnLst/>
              <a:rect r="r" b="b" t="t" l="l"/>
              <a:pathLst>
                <a:path h="253104" w="405364">
                  <a:moveTo>
                    <a:pt x="126552" y="0"/>
                  </a:moveTo>
                  <a:lnTo>
                    <a:pt x="278812" y="0"/>
                  </a:lnTo>
                  <a:cubicBezTo>
                    <a:pt x="312376" y="0"/>
                    <a:pt x="344565" y="13333"/>
                    <a:pt x="368298" y="37066"/>
                  </a:cubicBezTo>
                  <a:cubicBezTo>
                    <a:pt x="392031" y="60799"/>
                    <a:pt x="405364" y="92988"/>
                    <a:pt x="405364" y="126552"/>
                  </a:cubicBezTo>
                  <a:lnTo>
                    <a:pt x="405364" y="126552"/>
                  </a:lnTo>
                  <a:cubicBezTo>
                    <a:pt x="405364" y="196445"/>
                    <a:pt x="348705" y="253104"/>
                    <a:pt x="278812" y="253104"/>
                  </a:cubicBezTo>
                  <a:lnTo>
                    <a:pt x="126552" y="253104"/>
                  </a:lnTo>
                  <a:cubicBezTo>
                    <a:pt x="56659" y="253104"/>
                    <a:pt x="0" y="196445"/>
                    <a:pt x="0" y="126552"/>
                  </a:cubicBezTo>
                  <a:lnTo>
                    <a:pt x="0" y="126552"/>
                  </a:lnTo>
                  <a:cubicBezTo>
                    <a:pt x="0" y="56659"/>
                    <a:pt x="56659" y="0"/>
                    <a:pt x="12655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05364" cy="2912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597652" y="167020"/>
            <a:ext cx="16414232" cy="9952960"/>
            <a:chOff x="0" y="0"/>
            <a:chExt cx="4323090" cy="262135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323090" cy="2621356"/>
            </a:xfrm>
            <a:custGeom>
              <a:avLst/>
              <a:gdLst/>
              <a:ahLst/>
              <a:cxnLst/>
              <a:rect r="r" b="b" t="t" l="l"/>
              <a:pathLst>
                <a:path h="2621356" w="4323090">
                  <a:moveTo>
                    <a:pt x="23583" y="0"/>
                  </a:moveTo>
                  <a:lnTo>
                    <a:pt x="4299507" y="0"/>
                  </a:lnTo>
                  <a:cubicBezTo>
                    <a:pt x="4312532" y="0"/>
                    <a:pt x="4323090" y="10558"/>
                    <a:pt x="4323090" y="23583"/>
                  </a:cubicBezTo>
                  <a:lnTo>
                    <a:pt x="4323090" y="2597773"/>
                  </a:lnTo>
                  <a:cubicBezTo>
                    <a:pt x="4323090" y="2610797"/>
                    <a:pt x="4312532" y="2621356"/>
                    <a:pt x="4299507" y="2621356"/>
                  </a:cubicBezTo>
                  <a:lnTo>
                    <a:pt x="23583" y="2621356"/>
                  </a:lnTo>
                  <a:cubicBezTo>
                    <a:pt x="10558" y="2621356"/>
                    <a:pt x="0" y="2610797"/>
                    <a:pt x="0" y="2597773"/>
                  </a:cubicBezTo>
                  <a:lnTo>
                    <a:pt x="0" y="23583"/>
                  </a:lnTo>
                  <a:cubicBezTo>
                    <a:pt x="0" y="10558"/>
                    <a:pt x="10558" y="0"/>
                    <a:pt x="2358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323090" cy="26594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680211" y="4944284"/>
            <a:ext cx="550013" cy="456288"/>
          </a:xfrm>
          <a:custGeom>
            <a:avLst/>
            <a:gdLst/>
            <a:ahLst/>
            <a:cxnLst/>
            <a:rect r="r" b="b" t="t" l="l"/>
            <a:pathLst>
              <a:path h="456288" w="550013">
                <a:moveTo>
                  <a:pt x="0" y="0"/>
                </a:moveTo>
                <a:lnTo>
                  <a:pt x="550013" y="0"/>
                </a:lnTo>
                <a:lnTo>
                  <a:pt x="550013" y="456288"/>
                </a:lnTo>
                <a:lnTo>
                  <a:pt x="0" y="4562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-20013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771557" y="807737"/>
            <a:ext cx="11782643" cy="2616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357"/>
              </a:lnSpc>
            </a:pPr>
            <a:r>
              <a:rPr lang="en-US" b="true" sz="8490" spc="-526">
                <a:solidFill>
                  <a:srgbClr val="42414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BỘ</a:t>
            </a:r>
            <a:r>
              <a:rPr lang="en-US" b="true" sz="8490" spc="-526">
                <a:solidFill>
                  <a:srgbClr val="42414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CHỈ SỐ ĐÁNH GIÁ &amp; ĐỊNH LƯỢNG</a:t>
            </a:r>
          </a:p>
        </p:txBody>
      </p:sp>
      <p:sp>
        <p:nvSpPr>
          <p:cNvPr name="AutoShape 13" id="13"/>
          <p:cNvSpPr/>
          <p:nvPr/>
        </p:nvSpPr>
        <p:spPr>
          <a:xfrm>
            <a:off x="628726" y="1279706"/>
            <a:ext cx="550013" cy="0"/>
          </a:xfrm>
          <a:prstGeom prst="line">
            <a:avLst/>
          </a:prstGeom>
          <a:ln cap="flat" w="476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>
            <a:off x="628726" y="1427234"/>
            <a:ext cx="550013" cy="0"/>
          </a:xfrm>
          <a:prstGeom prst="line">
            <a:avLst/>
          </a:prstGeom>
          <a:ln cap="flat" w="476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>
            <a:off x="628726" y="1570109"/>
            <a:ext cx="550013" cy="0"/>
          </a:xfrm>
          <a:prstGeom prst="line">
            <a:avLst/>
          </a:prstGeom>
          <a:ln cap="flat" w="476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6" id="16"/>
          <p:cNvSpPr/>
          <p:nvPr/>
        </p:nvSpPr>
        <p:spPr>
          <a:xfrm flipH="false" flipV="false" rot="0">
            <a:off x="628726" y="8621062"/>
            <a:ext cx="652982" cy="652982"/>
          </a:xfrm>
          <a:custGeom>
            <a:avLst/>
            <a:gdLst/>
            <a:ahLst/>
            <a:cxnLst/>
            <a:rect r="r" b="b" t="t" l="l"/>
            <a:pathLst>
              <a:path h="652982" w="652982">
                <a:moveTo>
                  <a:pt x="0" y="0"/>
                </a:moveTo>
                <a:lnTo>
                  <a:pt x="652983" y="0"/>
                </a:lnTo>
                <a:lnTo>
                  <a:pt x="652983" y="652982"/>
                </a:lnTo>
                <a:lnTo>
                  <a:pt x="0" y="6529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16666716" y="8605127"/>
            <a:ext cx="419749" cy="419749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424141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39013" lIns="39013" bIns="39013" rIns="39013"/>
            <a:lstStyle/>
            <a:p>
              <a:pPr algn="ctr" marL="0" indent="0" lvl="0">
                <a:lnSpc>
                  <a:spcPts val="1297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6246925" y="8605127"/>
            <a:ext cx="419749" cy="419749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424141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39013" lIns="39013" bIns="39013" rIns="39013"/>
            <a:lstStyle/>
            <a:p>
              <a:pPr algn="ctr" marL="0" indent="0" lvl="0">
                <a:lnSpc>
                  <a:spcPts val="1297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5827134" y="8605127"/>
            <a:ext cx="419749" cy="419749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B574C"/>
            </a:solidFill>
            <a:ln w="19050" cap="sq">
              <a:solidFill>
                <a:srgbClr val="424141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39013" lIns="39013" bIns="39013" rIns="39013"/>
            <a:lstStyle/>
            <a:p>
              <a:pPr algn="ctr" marL="0" indent="0" lvl="0">
                <a:lnSpc>
                  <a:spcPts val="1297"/>
                </a:lnSpc>
              </a:pP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0">
            <a:off x="628726" y="7339018"/>
            <a:ext cx="652982" cy="625231"/>
          </a:xfrm>
          <a:custGeom>
            <a:avLst/>
            <a:gdLst/>
            <a:ahLst/>
            <a:cxnLst/>
            <a:rect r="r" b="b" t="t" l="l"/>
            <a:pathLst>
              <a:path h="625231" w="652982">
                <a:moveTo>
                  <a:pt x="0" y="0"/>
                </a:moveTo>
                <a:lnTo>
                  <a:pt x="652983" y="0"/>
                </a:lnTo>
                <a:lnTo>
                  <a:pt x="652983" y="625231"/>
                </a:lnTo>
                <a:lnTo>
                  <a:pt x="0" y="62523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695867" y="3769890"/>
            <a:ext cx="545744" cy="545744"/>
          </a:xfrm>
          <a:custGeom>
            <a:avLst/>
            <a:gdLst/>
            <a:ahLst/>
            <a:cxnLst/>
            <a:rect r="r" b="b" t="t" l="l"/>
            <a:pathLst>
              <a:path h="545744" w="545744">
                <a:moveTo>
                  <a:pt x="0" y="0"/>
                </a:moveTo>
                <a:lnTo>
                  <a:pt x="545743" y="0"/>
                </a:lnTo>
                <a:lnTo>
                  <a:pt x="545743" y="545744"/>
                </a:lnTo>
                <a:lnTo>
                  <a:pt x="0" y="54574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628726" y="2424196"/>
            <a:ext cx="680025" cy="680025"/>
          </a:xfrm>
          <a:custGeom>
            <a:avLst/>
            <a:gdLst/>
            <a:ahLst/>
            <a:cxnLst/>
            <a:rect r="r" b="b" t="t" l="l"/>
            <a:pathLst>
              <a:path h="680025" w="680025">
                <a:moveTo>
                  <a:pt x="0" y="0"/>
                </a:moveTo>
                <a:lnTo>
                  <a:pt x="680025" y="0"/>
                </a:lnTo>
                <a:lnTo>
                  <a:pt x="680025" y="680024"/>
                </a:lnTo>
                <a:lnTo>
                  <a:pt x="0" y="68002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0939196" y="2232882"/>
            <a:ext cx="1128979" cy="1062651"/>
          </a:xfrm>
          <a:custGeom>
            <a:avLst/>
            <a:gdLst/>
            <a:ahLst/>
            <a:cxnLst/>
            <a:rect r="r" b="b" t="t" l="l"/>
            <a:pathLst>
              <a:path h="1062651" w="1128979">
                <a:moveTo>
                  <a:pt x="0" y="0"/>
                </a:moveTo>
                <a:lnTo>
                  <a:pt x="1128979" y="0"/>
                </a:lnTo>
                <a:lnTo>
                  <a:pt x="1128979" y="1062652"/>
                </a:lnTo>
                <a:lnTo>
                  <a:pt x="0" y="1062652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628726" y="6029222"/>
            <a:ext cx="652982" cy="652982"/>
          </a:xfrm>
          <a:custGeom>
            <a:avLst/>
            <a:gdLst/>
            <a:ahLst/>
            <a:cxnLst/>
            <a:rect r="r" b="b" t="t" l="l"/>
            <a:pathLst>
              <a:path h="652982" w="652982">
                <a:moveTo>
                  <a:pt x="0" y="0"/>
                </a:moveTo>
                <a:lnTo>
                  <a:pt x="652983" y="0"/>
                </a:lnTo>
                <a:lnTo>
                  <a:pt x="652983" y="652983"/>
                </a:lnTo>
                <a:lnTo>
                  <a:pt x="0" y="652983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893496">
            <a:off x="4089454" y="8143875"/>
            <a:ext cx="6556339" cy="4881741"/>
          </a:xfrm>
          <a:custGeom>
            <a:avLst/>
            <a:gdLst/>
            <a:ahLst/>
            <a:cxnLst/>
            <a:rect r="r" b="b" t="t" l="l"/>
            <a:pathLst>
              <a:path h="4881741" w="6556339">
                <a:moveTo>
                  <a:pt x="0" y="0"/>
                </a:moveTo>
                <a:lnTo>
                  <a:pt x="6556339" y="0"/>
                </a:lnTo>
                <a:lnTo>
                  <a:pt x="6556339" y="4881741"/>
                </a:lnTo>
                <a:lnTo>
                  <a:pt x="0" y="4881741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alphaModFix amt="16000"/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2" id="32"/>
          <p:cNvGrpSpPr/>
          <p:nvPr/>
        </p:nvGrpSpPr>
        <p:grpSpPr>
          <a:xfrm rot="0">
            <a:off x="14394969" y="1208043"/>
            <a:ext cx="2864331" cy="662597"/>
            <a:chOff x="0" y="0"/>
            <a:chExt cx="890574" cy="206014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90574" cy="206014"/>
            </a:xfrm>
            <a:custGeom>
              <a:avLst/>
              <a:gdLst/>
              <a:ahLst/>
              <a:cxnLst/>
              <a:rect r="r" b="b" t="t" l="l"/>
              <a:pathLst>
                <a:path h="206014" w="890574">
                  <a:moveTo>
                    <a:pt x="54057" y="0"/>
                  </a:moveTo>
                  <a:lnTo>
                    <a:pt x="836516" y="0"/>
                  </a:lnTo>
                  <a:cubicBezTo>
                    <a:pt x="850853" y="0"/>
                    <a:pt x="864603" y="5695"/>
                    <a:pt x="874741" y="15833"/>
                  </a:cubicBezTo>
                  <a:cubicBezTo>
                    <a:pt x="884878" y="25971"/>
                    <a:pt x="890574" y="39721"/>
                    <a:pt x="890574" y="54057"/>
                  </a:cubicBezTo>
                  <a:lnTo>
                    <a:pt x="890574" y="151956"/>
                  </a:lnTo>
                  <a:cubicBezTo>
                    <a:pt x="890574" y="181811"/>
                    <a:pt x="866371" y="206014"/>
                    <a:pt x="836516" y="206014"/>
                  </a:cubicBezTo>
                  <a:lnTo>
                    <a:pt x="54057" y="206014"/>
                  </a:lnTo>
                  <a:cubicBezTo>
                    <a:pt x="39721" y="206014"/>
                    <a:pt x="25971" y="200318"/>
                    <a:pt x="15833" y="190181"/>
                  </a:cubicBezTo>
                  <a:cubicBezTo>
                    <a:pt x="5695" y="180043"/>
                    <a:pt x="0" y="166293"/>
                    <a:pt x="0" y="151956"/>
                  </a:cubicBezTo>
                  <a:lnTo>
                    <a:pt x="0" y="54057"/>
                  </a:lnTo>
                  <a:cubicBezTo>
                    <a:pt x="0" y="24202"/>
                    <a:pt x="24202" y="0"/>
                    <a:pt x="54057" y="0"/>
                  </a:cubicBezTo>
                  <a:close/>
                </a:path>
              </a:pathLst>
            </a:custGeom>
            <a:ln w="28575" cap="sq">
              <a:solidFill>
                <a:srgbClr val="424141"/>
              </a:solidFill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9525"/>
              <a:ext cx="890574" cy="2155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560"/>
                </a:lnSpc>
              </a:pP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14394969" y="1409623"/>
            <a:ext cx="2864331" cy="280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87"/>
              </a:lnSpc>
            </a:pPr>
            <a:r>
              <a:rPr lang="en-US" sz="1705" spc="-37">
                <a:solidFill>
                  <a:srgbClr val="424141"/>
                </a:solidFill>
                <a:latin typeface="Montserrat"/>
                <a:ea typeface="Montserrat"/>
                <a:cs typeface="Montserrat"/>
                <a:sym typeface="Montserrat"/>
              </a:rPr>
              <a:t>XỬ LÝ ẢNH SỐ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2773732" y="4049847"/>
            <a:ext cx="4100858" cy="2243954"/>
            <a:chOff x="0" y="0"/>
            <a:chExt cx="2848370" cy="1558603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848370" cy="1558603"/>
            </a:xfrm>
            <a:custGeom>
              <a:avLst/>
              <a:gdLst/>
              <a:ahLst/>
              <a:cxnLst/>
              <a:rect r="r" b="b" t="t" l="l"/>
              <a:pathLst>
                <a:path h="1558603" w="2848370">
                  <a:moveTo>
                    <a:pt x="24542" y="0"/>
                  </a:moveTo>
                  <a:lnTo>
                    <a:pt x="2823827" y="0"/>
                  </a:lnTo>
                  <a:cubicBezTo>
                    <a:pt x="2837381" y="0"/>
                    <a:pt x="2848370" y="10988"/>
                    <a:pt x="2848370" y="24542"/>
                  </a:cubicBezTo>
                  <a:lnTo>
                    <a:pt x="2848370" y="1534061"/>
                  </a:lnTo>
                  <a:cubicBezTo>
                    <a:pt x="2848370" y="1540570"/>
                    <a:pt x="2845784" y="1546812"/>
                    <a:pt x="2841181" y="1551415"/>
                  </a:cubicBezTo>
                  <a:cubicBezTo>
                    <a:pt x="2836579" y="1556017"/>
                    <a:pt x="2830336" y="1558603"/>
                    <a:pt x="2823827" y="1558603"/>
                  </a:cubicBezTo>
                  <a:lnTo>
                    <a:pt x="24542" y="1558603"/>
                  </a:lnTo>
                  <a:cubicBezTo>
                    <a:pt x="18033" y="1558603"/>
                    <a:pt x="11791" y="1556017"/>
                    <a:pt x="7188" y="1551415"/>
                  </a:cubicBezTo>
                  <a:cubicBezTo>
                    <a:pt x="2586" y="1546812"/>
                    <a:pt x="0" y="1540570"/>
                    <a:pt x="0" y="1534061"/>
                  </a:cubicBezTo>
                  <a:lnTo>
                    <a:pt x="0" y="24542"/>
                  </a:lnTo>
                  <a:cubicBezTo>
                    <a:pt x="0" y="18033"/>
                    <a:pt x="2586" y="11791"/>
                    <a:pt x="7188" y="7188"/>
                  </a:cubicBezTo>
                  <a:cubicBezTo>
                    <a:pt x="11791" y="2586"/>
                    <a:pt x="18033" y="0"/>
                    <a:pt x="24542" y="0"/>
                  </a:cubicBezTo>
                  <a:close/>
                </a:path>
              </a:pathLst>
            </a:custGeom>
            <a:solidFill>
              <a:srgbClr val="EB574C"/>
            </a:solidFill>
            <a:ln w="9525" cap="sq">
              <a:solidFill>
                <a:srgbClr val="424141"/>
              </a:solidFill>
              <a:prstDash val="solid"/>
              <a:miter/>
            </a:ln>
          </p:spPr>
        </p:sp>
        <p:sp>
          <p:nvSpPr>
            <p:cNvPr name="TextBox 38" id="38"/>
            <p:cNvSpPr txBox="true"/>
            <p:nvPr/>
          </p:nvSpPr>
          <p:spPr>
            <a:xfrm>
              <a:off x="0" y="28575"/>
              <a:ext cx="2848370" cy="1530028"/>
            </a:xfrm>
            <a:prstGeom prst="rect">
              <a:avLst/>
            </a:prstGeom>
          </p:spPr>
          <p:txBody>
            <a:bodyPr anchor="ctr" rtlCol="false" tIns="39013" lIns="39013" bIns="39013" rIns="39013"/>
            <a:lstStyle/>
            <a:p>
              <a:pPr algn="ctr" marL="0" indent="0" lvl="0">
                <a:lnSpc>
                  <a:spcPts val="1297"/>
                </a:lnSpc>
              </a:pP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2952598" y="4158677"/>
            <a:ext cx="2933893" cy="585514"/>
            <a:chOff x="0" y="0"/>
            <a:chExt cx="2037821" cy="406686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037821" cy="406686"/>
            </a:xfrm>
            <a:custGeom>
              <a:avLst/>
              <a:gdLst/>
              <a:ahLst/>
              <a:cxnLst/>
              <a:rect r="r" b="b" t="t" l="l"/>
              <a:pathLst>
                <a:path h="406686" w="2037821">
                  <a:moveTo>
                    <a:pt x="34304" y="0"/>
                  </a:moveTo>
                  <a:lnTo>
                    <a:pt x="2003516" y="0"/>
                  </a:lnTo>
                  <a:cubicBezTo>
                    <a:pt x="2012614" y="0"/>
                    <a:pt x="2021340" y="3614"/>
                    <a:pt x="2027773" y="10047"/>
                  </a:cubicBezTo>
                  <a:cubicBezTo>
                    <a:pt x="2034206" y="16481"/>
                    <a:pt x="2037821" y="25206"/>
                    <a:pt x="2037821" y="34304"/>
                  </a:cubicBezTo>
                  <a:lnTo>
                    <a:pt x="2037821" y="372382"/>
                  </a:lnTo>
                  <a:cubicBezTo>
                    <a:pt x="2037821" y="391327"/>
                    <a:pt x="2022462" y="406686"/>
                    <a:pt x="2003516" y="406686"/>
                  </a:cubicBezTo>
                  <a:lnTo>
                    <a:pt x="34304" y="406686"/>
                  </a:lnTo>
                  <a:cubicBezTo>
                    <a:pt x="25206" y="406686"/>
                    <a:pt x="16481" y="403072"/>
                    <a:pt x="10047" y="396639"/>
                  </a:cubicBezTo>
                  <a:cubicBezTo>
                    <a:pt x="3614" y="390205"/>
                    <a:pt x="0" y="381480"/>
                    <a:pt x="0" y="372382"/>
                  </a:cubicBezTo>
                  <a:lnTo>
                    <a:pt x="0" y="34304"/>
                  </a:lnTo>
                  <a:cubicBezTo>
                    <a:pt x="0" y="15359"/>
                    <a:pt x="15359" y="0"/>
                    <a:pt x="34304" y="0"/>
                  </a:cubicBezTo>
                  <a:close/>
                </a:path>
              </a:pathLst>
            </a:custGeom>
            <a:solidFill>
              <a:srgbClr val="FFDE59"/>
            </a:solidFill>
            <a:ln w="9525" cap="sq">
              <a:solidFill>
                <a:srgbClr val="424141"/>
              </a:solidFill>
              <a:prstDash val="solid"/>
              <a:miter/>
            </a:ln>
          </p:spPr>
        </p:sp>
        <p:sp>
          <p:nvSpPr>
            <p:cNvPr name="TextBox 41" id="41"/>
            <p:cNvSpPr txBox="true"/>
            <p:nvPr/>
          </p:nvSpPr>
          <p:spPr>
            <a:xfrm>
              <a:off x="0" y="28575"/>
              <a:ext cx="2037821" cy="378111"/>
            </a:xfrm>
            <a:prstGeom prst="rect">
              <a:avLst/>
            </a:prstGeom>
          </p:spPr>
          <p:txBody>
            <a:bodyPr anchor="ctr" rtlCol="false" tIns="39013" lIns="39013" bIns="39013" rIns="39013"/>
            <a:lstStyle/>
            <a:p>
              <a:pPr algn="ctr" marL="0" indent="0" lvl="0">
                <a:lnSpc>
                  <a:spcPts val="1297"/>
                </a:lnSpc>
              </a:pP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6141714" y="3896425"/>
            <a:ext cx="1025142" cy="1025142"/>
            <a:chOff x="0" y="0"/>
            <a:chExt cx="812800" cy="8128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063CD"/>
            </a:solidFill>
            <a:ln w="19050" cap="sq">
              <a:solidFill>
                <a:srgbClr val="424141"/>
              </a:solidFill>
              <a:prstDash val="solid"/>
              <a:miter/>
            </a:ln>
          </p:spPr>
        </p:sp>
        <p:sp>
          <p:nvSpPr>
            <p:cNvPr name="TextBox 44" id="44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39013" lIns="39013" bIns="39013" rIns="39013"/>
            <a:lstStyle/>
            <a:p>
              <a:pPr algn="ctr" marL="0" indent="0" lvl="0">
                <a:lnSpc>
                  <a:spcPts val="1297"/>
                </a:lnSpc>
              </a:pPr>
            </a:p>
          </p:txBody>
        </p:sp>
      </p:grpSp>
      <p:sp>
        <p:nvSpPr>
          <p:cNvPr name="Freeform 45" id="45"/>
          <p:cNvSpPr/>
          <p:nvPr/>
        </p:nvSpPr>
        <p:spPr>
          <a:xfrm flipH="false" flipV="false" rot="0">
            <a:off x="6387001" y="4095937"/>
            <a:ext cx="487589" cy="626118"/>
          </a:xfrm>
          <a:custGeom>
            <a:avLst/>
            <a:gdLst/>
            <a:ahLst/>
            <a:cxnLst/>
            <a:rect r="r" b="b" t="t" l="l"/>
            <a:pathLst>
              <a:path h="626118" w="487589">
                <a:moveTo>
                  <a:pt x="0" y="0"/>
                </a:moveTo>
                <a:lnTo>
                  <a:pt x="487589" y="0"/>
                </a:lnTo>
                <a:lnTo>
                  <a:pt x="487589" y="626118"/>
                </a:lnTo>
                <a:lnTo>
                  <a:pt x="0" y="626118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6" id="46"/>
          <p:cNvGrpSpPr/>
          <p:nvPr/>
        </p:nvGrpSpPr>
        <p:grpSpPr>
          <a:xfrm rot="0">
            <a:off x="7585955" y="4049847"/>
            <a:ext cx="4100858" cy="2243954"/>
            <a:chOff x="0" y="0"/>
            <a:chExt cx="2848370" cy="1558603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848370" cy="1558603"/>
            </a:xfrm>
            <a:custGeom>
              <a:avLst/>
              <a:gdLst/>
              <a:ahLst/>
              <a:cxnLst/>
              <a:rect r="r" b="b" t="t" l="l"/>
              <a:pathLst>
                <a:path h="1558603" w="2848370">
                  <a:moveTo>
                    <a:pt x="24542" y="0"/>
                  </a:moveTo>
                  <a:lnTo>
                    <a:pt x="2823827" y="0"/>
                  </a:lnTo>
                  <a:cubicBezTo>
                    <a:pt x="2837381" y="0"/>
                    <a:pt x="2848370" y="10988"/>
                    <a:pt x="2848370" y="24542"/>
                  </a:cubicBezTo>
                  <a:lnTo>
                    <a:pt x="2848370" y="1534061"/>
                  </a:lnTo>
                  <a:cubicBezTo>
                    <a:pt x="2848370" y="1540570"/>
                    <a:pt x="2845784" y="1546812"/>
                    <a:pt x="2841181" y="1551415"/>
                  </a:cubicBezTo>
                  <a:cubicBezTo>
                    <a:pt x="2836579" y="1556017"/>
                    <a:pt x="2830336" y="1558603"/>
                    <a:pt x="2823827" y="1558603"/>
                  </a:cubicBezTo>
                  <a:lnTo>
                    <a:pt x="24542" y="1558603"/>
                  </a:lnTo>
                  <a:cubicBezTo>
                    <a:pt x="18033" y="1558603"/>
                    <a:pt x="11791" y="1556017"/>
                    <a:pt x="7188" y="1551415"/>
                  </a:cubicBezTo>
                  <a:cubicBezTo>
                    <a:pt x="2586" y="1546812"/>
                    <a:pt x="0" y="1540570"/>
                    <a:pt x="0" y="1534061"/>
                  </a:cubicBezTo>
                  <a:lnTo>
                    <a:pt x="0" y="24542"/>
                  </a:lnTo>
                  <a:cubicBezTo>
                    <a:pt x="0" y="18033"/>
                    <a:pt x="2586" y="11791"/>
                    <a:pt x="7188" y="7188"/>
                  </a:cubicBezTo>
                  <a:cubicBezTo>
                    <a:pt x="11791" y="2586"/>
                    <a:pt x="18033" y="0"/>
                    <a:pt x="24542" y="0"/>
                  </a:cubicBezTo>
                  <a:close/>
                </a:path>
              </a:pathLst>
            </a:custGeom>
            <a:solidFill>
              <a:srgbClr val="2063CD"/>
            </a:solidFill>
            <a:ln w="9525" cap="sq">
              <a:solidFill>
                <a:srgbClr val="424141"/>
              </a:solidFill>
              <a:prstDash val="solid"/>
              <a:miter/>
            </a:ln>
          </p:spPr>
        </p:sp>
        <p:sp>
          <p:nvSpPr>
            <p:cNvPr name="TextBox 48" id="48"/>
            <p:cNvSpPr txBox="true"/>
            <p:nvPr/>
          </p:nvSpPr>
          <p:spPr>
            <a:xfrm>
              <a:off x="0" y="28575"/>
              <a:ext cx="2848370" cy="1530028"/>
            </a:xfrm>
            <a:prstGeom prst="rect">
              <a:avLst/>
            </a:prstGeom>
          </p:spPr>
          <p:txBody>
            <a:bodyPr anchor="ctr" rtlCol="false" tIns="39013" lIns="39013" bIns="39013" rIns="39013"/>
            <a:lstStyle/>
            <a:p>
              <a:pPr algn="ctr" marL="0" indent="0" lvl="0">
                <a:lnSpc>
                  <a:spcPts val="1297"/>
                </a:lnSpc>
              </a:pP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7764821" y="4158677"/>
            <a:ext cx="2933893" cy="585514"/>
            <a:chOff x="0" y="0"/>
            <a:chExt cx="2037821" cy="406686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2037821" cy="406686"/>
            </a:xfrm>
            <a:custGeom>
              <a:avLst/>
              <a:gdLst/>
              <a:ahLst/>
              <a:cxnLst/>
              <a:rect r="r" b="b" t="t" l="l"/>
              <a:pathLst>
                <a:path h="406686" w="2037821">
                  <a:moveTo>
                    <a:pt x="34304" y="0"/>
                  </a:moveTo>
                  <a:lnTo>
                    <a:pt x="2003516" y="0"/>
                  </a:lnTo>
                  <a:cubicBezTo>
                    <a:pt x="2012614" y="0"/>
                    <a:pt x="2021340" y="3614"/>
                    <a:pt x="2027773" y="10047"/>
                  </a:cubicBezTo>
                  <a:cubicBezTo>
                    <a:pt x="2034206" y="16481"/>
                    <a:pt x="2037821" y="25206"/>
                    <a:pt x="2037821" y="34304"/>
                  </a:cubicBezTo>
                  <a:lnTo>
                    <a:pt x="2037821" y="372382"/>
                  </a:lnTo>
                  <a:cubicBezTo>
                    <a:pt x="2037821" y="391327"/>
                    <a:pt x="2022462" y="406686"/>
                    <a:pt x="2003516" y="406686"/>
                  </a:cubicBezTo>
                  <a:lnTo>
                    <a:pt x="34304" y="406686"/>
                  </a:lnTo>
                  <a:cubicBezTo>
                    <a:pt x="25206" y="406686"/>
                    <a:pt x="16481" y="403072"/>
                    <a:pt x="10047" y="396639"/>
                  </a:cubicBezTo>
                  <a:cubicBezTo>
                    <a:pt x="3614" y="390205"/>
                    <a:pt x="0" y="381480"/>
                    <a:pt x="0" y="372382"/>
                  </a:cubicBezTo>
                  <a:lnTo>
                    <a:pt x="0" y="34304"/>
                  </a:lnTo>
                  <a:cubicBezTo>
                    <a:pt x="0" y="15359"/>
                    <a:pt x="15359" y="0"/>
                    <a:pt x="34304" y="0"/>
                  </a:cubicBezTo>
                  <a:close/>
                </a:path>
              </a:pathLst>
            </a:custGeom>
            <a:solidFill>
              <a:srgbClr val="FFDE59"/>
            </a:solidFill>
            <a:ln w="9525" cap="sq">
              <a:solidFill>
                <a:srgbClr val="424141"/>
              </a:solidFill>
              <a:prstDash val="solid"/>
              <a:miter/>
            </a:ln>
          </p:spPr>
        </p:sp>
        <p:sp>
          <p:nvSpPr>
            <p:cNvPr name="TextBox 51" id="51"/>
            <p:cNvSpPr txBox="true"/>
            <p:nvPr/>
          </p:nvSpPr>
          <p:spPr>
            <a:xfrm>
              <a:off x="0" y="28575"/>
              <a:ext cx="2037821" cy="378111"/>
            </a:xfrm>
            <a:prstGeom prst="rect">
              <a:avLst/>
            </a:prstGeom>
          </p:spPr>
          <p:txBody>
            <a:bodyPr anchor="ctr" rtlCol="false" tIns="39013" lIns="39013" bIns="39013" rIns="39013"/>
            <a:lstStyle/>
            <a:p>
              <a:pPr algn="ctr" marL="0" indent="0" lvl="0">
                <a:lnSpc>
                  <a:spcPts val="1297"/>
                </a:lnSpc>
              </a:pP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0955890" y="3896425"/>
            <a:ext cx="1025142" cy="1025142"/>
            <a:chOff x="0" y="0"/>
            <a:chExt cx="812800" cy="8128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B574C"/>
            </a:solidFill>
            <a:ln w="19050" cap="sq">
              <a:solidFill>
                <a:srgbClr val="424141"/>
              </a:solidFill>
              <a:prstDash val="solid"/>
              <a:miter/>
            </a:ln>
          </p:spPr>
        </p:sp>
        <p:sp>
          <p:nvSpPr>
            <p:cNvPr name="TextBox 54" id="54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39013" lIns="39013" bIns="39013" rIns="39013"/>
            <a:lstStyle/>
            <a:p>
              <a:pPr algn="ctr" marL="0" indent="0" lvl="0">
                <a:lnSpc>
                  <a:spcPts val="1297"/>
                </a:lnSpc>
              </a:pPr>
            </a:p>
          </p:txBody>
        </p:sp>
      </p:grpSp>
      <p:sp>
        <p:nvSpPr>
          <p:cNvPr name="Freeform 55" id="55"/>
          <p:cNvSpPr/>
          <p:nvPr/>
        </p:nvSpPr>
        <p:spPr>
          <a:xfrm flipH="false" flipV="false" rot="0">
            <a:off x="11175017" y="4137927"/>
            <a:ext cx="586888" cy="542138"/>
          </a:xfrm>
          <a:custGeom>
            <a:avLst/>
            <a:gdLst/>
            <a:ahLst/>
            <a:cxnLst/>
            <a:rect r="r" b="b" t="t" l="l"/>
            <a:pathLst>
              <a:path h="542138" w="586888">
                <a:moveTo>
                  <a:pt x="0" y="0"/>
                </a:moveTo>
                <a:lnTo>
                  <a:pt x="586887" y="0"/>
                </a:lnTo>
                <a:lnTo>
                  <a:pt x="586887" y="542137"/>
                </a:lnTo>
                <a:lnTo>
                  <a:pt x="0" y="542137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6" id="56"/>
          <p:cNvGrpSpPr/>
          <p:nvPr/>
        </p:nvGrpSpPr>
        <p:grpSpPr>
          <a:xfrm rot="0">
            <a:off x="2771749" y="6571048"/>
            <a:ext cx="4100858" cy="2243954"/>
            <a:chOff x="0" y="0"/>
            <a:chExt cx="2848370" cy="1558603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2848370" cy="1558603"/>
            </a:xfrm>
            <a:custGeom>
              <a:avLst/>
              <a:gdLst/>
              <a:ahLst/>
              <a:cxnLst/>
              <a:rect r="r" b="b" t="t" l="l"/>
              <a:pathLst>
                <a:path h="1558603" w="2848370">
                  <a:moveTo>
                    <a:pt x="24542" y="0"/>
                  </a:moveTo>
                  <a:lnTo>
                    <a:pt x="2823827" y="0"/>
                  </a:lnTo>
                  <a:cubicBezTo>
                    <a:pt x="2837381" y="0"/>
                    <a:pt x="2848370" y="10988"/>
                    <a:pt x="2848370" y="24542"/>
                  </a:cubicBezTo>
                  <a:lnTo>
                    <a:pt x="2848370" y="1534061"/>
                  </a:lnTo>
                  <a:cubicBezTo>
                    <a:pt x="2848370" y="1540570"/>
                    <a:pt x="2845784" y="1546812"/>
                    <a:pt x="2841181" y="1551415"/>
                  </a:cubicBezTo>
                  <a:cubicBezTo>
                    <a:pt x="2836579" y="1556017"/>
                    <a:pt x="2830336" y="1558603"/>
                    <a:pt x="2823827" y="1558603"/>
                  </a:cubicBezTo>
                  <a:lnTo>
                    <a:pt x="24542" y="1558603"/>
                  </a:lnTo>
                  <a:cubicBezTo>
                    <a:pt x="18033" y="1558603"/>
                    <a:pt x="11791" y="1556017"/>
                    <a:pt x="7188" y="1551415"/>
                  </a:cubicBezTo>
                  <a:cubicBezTo>
                    <a:pt x="2586" y="1546812"/>
                    <a:pt x="0" y="1540570"/>
                    <a:pt x="0" y="1534061"/>
                  </a:cubicBezTo>
                  <a:lnTo>
                    <a:pt x="0" y="24542"/>
                  </a:lnTo>
                  <a:cubicBezTo>
                    <a:pt x="0" y="18033"/>
                    <a:pt x="2586" y="11791"/>
                    <a:pt x="7188" y="7188"/>
                  </a:cubicBezTo>
                  <a:cubicBezTo>
                    <a:pt x="11791" y="2586"/>
                    <a:pt x="18033" y="0"/>
                    <a:pt x="2454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2388C">
                    <a:alpha val="100000"/>
                  </a:srgbClr>
                </a:gs>
                <a:gs pos="100000">
                  <a:srgbClr val="3893FF">
                    <a:alpha val="100000"/>
                  </a:srgbClr>
                </a:gs>
              </a:gsLst>
              <a:lin ang="0"/>
            </a:gradFill>
            <a:ln w="9525" cap="sq">
              <a:solidFill>
                <a:srgbClr val="424141"/>
              </a:solidFill>
              <a:prstDash val="solid"/>
              <a:miter/>
            </a:ln>
          </p:spPr>
        </p:sp>
        <p:sp>
          <p:nvSpPr>
            <p:cNvPr name="TextBox 58" id="58"/>
            <p:cNvSpPr txBox="true"/>
            <p:nvPr/>
          </p:nvSpPr>
          <p:spPr>
            <a:xfrm>
              <a:off x="0" y="28575"/>
              <a:ext cx="2848370" cy="1530028"/>
            </a:xfrm>
            <a:prstGeom prst="rect">
              <a:avLst/>
            </a:prstGeom>
          </p:spPr>
          <p:txBody>
            <a:bodyPr anchor="ctr" rtlCol="false" tIns="39013" lIns="39013" bIns="39013" rIns="39013"/>
            <a:lstStyle/>
            <a:p>
              <a:pPr algn="ctr" marL="0" indent="0" lvl="0">
                <a:lnSpc>
                  <a:spcPts val="1297"/>
                </a:lnSpc>
              </a:pP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2950615" y="6692327"/>
            <a:ext cx="2933893" cy="585514"/>
            <a:chOff x="0" y="0"/>
            <a:chExt cx="2037821" cy="406686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2037821" cy="406686"/>
            </a:xfrm>
            <a:custGeom>
              <a:avLst/>
              <a:gdLst/>
              <a:ahLst/>
              <a:cxnLst/>
              <a:rect r="r" b="b" t="t" l="l"/>
              <a:pathLst>
                <a:path h="406686" w="2037821">
                  <a:moveTo>
                    <a:pt x="34304" y="0"/>
                  </a:moveTo>
                  <a:lnTo>
                    <a:pt x="2003516" y="0"/>
                  </a:lnTo>
                  <a:cubicBezTo>
                    <a:pt x="2012614" y="0"/>
                    <a:pt x="2021340" y="3614"/>
                    <a:pt x="2027773" y="10047"/>
                  </a:cubicBezTo>
                  <a:cubicBezTo>
                    <a:pt x="2034206" y="16481"/>
                    <a:pt x="2037821" y="25206"/>
                    <a:pt x="2037821" y="34304"/>
                  </a:cubicBezTo>
                  <a:lnTo>
                    <a:pt x="2037821" y="372382"/>
                  </a:lnTo>
                  <a:cubicBezTo>
                    <a:pt x="2037821" y="391327"/>
                    <a:pt x="2022462" y="406686"/>
                    <a:pt x="2003516" y="406686"/>
                  </a:cubicBezTo>
                  <a:lnTo>
                    <a:pt x="34304" y="406686"/>
                  </a:lnTo>
                  <a:cubicBezTo>
                    <a:pt x="25206" y="406686"/>
                    <a:pt x="16481" y="403072"/>
                    <a:pt x="10047" y="396639"/>
                  </a:cubicBezTo>
                  <a:cubicBezTo>
                    <a:pt x="3614" y="390205"/>
                    <a:pt x="0" y="381480"/>
                    <a:pt x="0" y="372382"/>
                  </a:cubicBezTo>
                  <a:lnTo>
                    <a:pt x="0" y="34304"/>
                  </a:lnTo>
                  <a:cubicBezTo>
                    <a:pt x="0" y="15359"/>
                    <a:pt x="15359" y="0"/>
                    <a:pt x="34304" y="0"/>
                  </a:cubicBezTo>
                  <a:close/>
                </a:path>
              </a:pathLst>
            </a:custGeom>
            <a:solidFill>
              <a:srgbClr val="FFDE59"/>
            </a:solidFill>
            <a:ln w="9525" cap="sq">
              <a:solidFill>
                <a:srgbClr val="424141"/>
              </a:solidFill>
              <a:prstDash val="solid"/>
              <a:miter/>
            </a:ln>
          </p:spPr>
        </p:sp>
        <p:sp>
          <p:nvSpPr>
            <p:cNvPr name="TextBox 61" id="61"/>
            <p:cNvSpPr txBox="true"/>
            <p:nvPr/>
          </p:nvSpPr>
          <p:spPr>
            <a:xfrm>
              <a:off x="0" y="28575"/>
              <a:ext cx="2037821" cy="378111"/>
            </a:xfrm>
            <a:prstGeom prst="rect">
              <a:avLst/>
            </a:prstGeom>
          </p:spPr>
          <p:txBody>
            <a:bodyPr anchor="ctr" rtlCol="false" tIns="39013" lIns="39013" bIns="39013" rIns="39013"/>
            <a:lstStyle/>
            <a:p>
              <a:pPr algn="ctr" marL="0" indent="0" lvl="0">
                <a:lnSpc>
                  <a:spcPts val="1297"/>
                </a:lnSpc>
              </a:pP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6139731" y="6417626"/>
            <a:ext cx="1025142" cy="1025142"/>
            <a:chOff x="0" y="0"/>
            <a:chExt cx="812800" cy="81280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063CD"/>
            </a:solidFill>
            <a:ln w="19050" cap="sq">
              <a:solidFill>
                <a:srgbClr val="424141"/>
              </a:solidFill>
              <a:prstDash val="solid"/>
              <a:miter/>
            </a:ln>
          </p:spPr>
        </p:sp>
        <p:sp>
          <p:nvSpPr>
            <p:cNvPr name="TextBox 64" id="64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39013" lIns="39013" bIns="39013" rIns="39013"/>
            <a:lstStyle/>
            <a:p>
              <a:pPr algn="ctr" marL="0" indent="0" lvl="0">
                <a:lnSpc>
                  <a:spcPts val="1297"/>
                </a:lnSpc>
              </a:pP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7583973" y="6571048"/>
            <a:ext cx="4100858" cy="2243954"/>
            <a:chOff x="0" y="0"/>
            <a:chExt cx="2848370" cy="1558603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2848370" cy="1558603"/>
            </a:xfrm>
            <a:custGeom>
              <a:avLst/>
              <a:gdLst/>
              <a:ahLst/>
              <a:cxnLst/>
              <a:rect r="r" b="b" t="t" l="l"/>
              <a:pathLst>
                <a:path h="1558603" w="2848370">
                  <a:moveTo>
                    <a:pt x="24542" y="0"/>
                  </a:moveTo>
                  <a:lnTo>
                    <a:pt x="2823827" y="0"/>
                  </a:lnTo>
                  <a:cubicBezTo>
                    <a:pt x="2837381" y="0"/>
                    <a:pt x="2848370" y="10988"/>
                    <a:pt x="2848370" y="24542"/>
                  </a:cubicBezTo>
                  <a:lnTo>
                    <a:pt x="2848370" y="1534061"/>
                  </a:lnTo>
                  <a:cubicBezTo>
                    <a:pt x="2848370" y="1540570"/>
                    <a:pt x="2845784" y="1546812"/>
                    <a:pt x="2841181" y="1551415"/>
                  </a:cubicBezTo>
                  <a:cubicBezTo>
                    <a:pt x="2836579" y="1556017"/>
                    <a:pt x="2830336" y="1558603"/>
                    <a:pt x="2823827" y="1558603"/>
                  </a:cubicBezTo>
                  <a:lnTo>
                    <a:pt x="24542" y="1558603"/>
                  </a:lnTo>
                  <a:cubicBezTo>
                    <a:pt x="18033" y="1558603"/>
                    <a:pt x="11791" y="1556017"/>
                    <a:pt x="7188" y="1551415"/>
                  </a:cubicBezTo>
                  <a:cubicBezTo>
                    <a:pt x="2586" y="1546812"/>
                    <a:pt x="0" y="1540570"/>
                    <a:pt x="0" y="1534061"/>
                  </a:cubicBezTo>
                  <a:lnTo>
                    <a:pt x="0" y="24542"/>
                  </a:lnTo>
                  <a:cubicBezTo>
                    <a:pt x="0" y="18033"/>
                    <a:pt x="2586" y="11791"/>
                    <a:pt x="7188" y="7188"/>
                  </a:cubicBezTo>
                  <a:cubicBezTo>
                    <a:pt x="11791" y="2586"/>
                    <a:pt x="18033" y="0"/>
                    <a:pt x="24542" y="0"/>
                  </a:cubicBezTo>
                  <a:close/>
                </a:path>
              </a:pathLst>
            </a:custGeom>
            <a:solidFill>
              <a:srgbClr val="EB574C"/>
            </a:solidFill>
            <a:ln w="9525" cap="sq">
              <a:solidFill>
                <a:srgbClr val="424141"/>
              </a:solidFill>
              <a:prstDash val="solid"/>
              <a:miter/>
            </a:ln>
          </p:spPr>
        </p:sp>
        <p:sp>
          <p:nvSpPr>
            <p:cNvPr name="TextBox 67" id="67"/>
            <p:cNvSpPr txBox="true"/>
            <p:nvPr/>
          </p:nvSpPr>
          <p:spPr>
            <a:xfrm>
              <a:off x="0" y="28575"/>
              <a:ext cx="2848370" cy="1530028"/>
            </a:xfrm>
            <a:prstGeom prst="rect">
              <a:avLst/>
            </a:prstGeom>
          </p:spPr>
          <p:txBody>
            <a:bodyPr anchor="ctr" rtlCol="false" tIns="39013" lIns="39013" bIns="39013" rIns="39013"/>
            <a:lstStyle/>
            <a:p>
              <a:pPr algn="ctr" marL="0" indent="0" lvl="0">
                <a:lnSpc>
                  <a:spcPts val="1297"/>
                </a:lnSpc>
              </a:pP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7762839" y="6692327"/>
            <a:ext cx="2933893" cy="585514"/>
            <a:chOff x="0" y="0"/>
            <a:chExt cx="2037821" cy="406686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2037821" cy="406686"/>
            </a:xfrm>
            <a:custGeom>
              <a:avLst/>
              <a:gdLst/>
              <a:ahLst/>
              <a:cxnLst/>
              <a:rect r="r" b="b" t="t" l="l"/>
              <a:pathLst>
                <a:path h="406686" w="2037821">
                  <a:moveTo>
                    <a:pt x="34304" y="0"/>
                  </a:moveTo>
                  <a:lnTo>
                    <a:pt x="2003516" y="0"/>
                  </a:lnTo>
                  <a:cubicBezTo>
                    <a:pt x="2012614" y="0"/>
                    <a:pt x="2021340" y="3614"/>
                    <a:pt x="2027773" y="10047"/>
                  </a:cubicBezTo>
                  <a:cubicBezTo>
                    <a:pt x="2034206" y="16481"/>
                    <a:pt x="2037821" y="25206"/>
                    <a:pt x="2037821" y="34304"/>
                  </a:cubicBezTo>
                  <a:lnTo>
                    <a:pt x="2037821" y="372382"/>
                  </a:lnTo>
                  <a:cubicBezTo>
                    <a:pt x="2037821" y="391327"/>
                    <a:pt x="2022462" y="406686"/>
                    <a:pt x="2003516" y="406686"/>
                  </a:cubicBezTo>
                  <a:lnTo>
                    <a:pt x="34304" y="406686"/>
                  </a:lnTo>
                  <a:cubicBezTo>
                    <a:pt x="25206" y="406686"/>
                    <a:pt x="16481" y="403072"/>
                    <a:pt x="10047" y="396639"/>
                  </a:cubicBezTo>
                  <a:cubicBezTo>
                    <a:pt x="3614" y="390205"/>
                    <a:pt x="0" y="381480"/>
                    <a:pt x="0" y="372382"/>
                  </a:cubicBezTo>
                  <a:lnTo>
                    <a:pt x="0" y="34304"/>
                  </a:lnTo>
                  <a:cubicBezTo>
                    <a:pt x="0" y="15359"/>
                    <a:pt x="15359" y="0"/>
                    <a:pt x="34304" y="0"/>
                  </a:cubicBezTo>
                  <a:close/>
                </a:path>
              </a:pathLst>
            </a:custGeom>
            <a:solidFill>
              <a:srgbClr val="FFDE59"/>
            </a:solidFill>
            <a:ln w="9525" cap="sq">
              <a:solidFill>
                <a:srgbClr val="424141"/>
              </a:solidFill>
              <a:prstDash val="solid"/>
              <a:miter/>
            </a:ln>
          </p:spPr>
        </p:sp>
        <p:sp>
          <p:nvSpPr>
            <p:cNvPr name="TextBox 70" id="70"/>
            <p:cNvSpPr txBox="true"/>
            <p:nvPr/>
          </p:nvSpPr>
          <p:spPr>
            <a:xfrm>
              <a:off x="0" y="28575"/>
              <a:ext cx="2037821" cy="378111"/>
            </a:xfrm>
            <a:prstGeom prst="rect">
              <a:avLst/>
            </a:prstGeom>
          </p:spPr>
          <p:txBody>
            <a:bodyPr anchor="ctr" rtlCol="false" tIns="39013" lIns="39013" bIns="39013" rIns="39013"/>
            <a:lstStyle/>
            <a:p>
              <a:pPr algn="ctr" marL="0" indent="0" lvl="0">
                <a:lnSpc>
                  <a:spcPts val="1297"/>
                </a:lnSpc>
              </a:pP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0953907" y="6417626"/>
            <a:ext cx="1025142" cy="1025142"/>
            <a:chOff x="0" y="0"/>
            <a:chExt cx="812800" cy="81280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2388C">
                    <a:alpha val="100000"/>
                  </a:srgbClr>
                </a:gs>
                <a:gs pos="100000">
                  <a:srgbClr val="3893FF">
                    <a:alpha val="100000"/>
                  </a:srgbClr>
                </a:gs>
              </a:gsLst>
              <a:lin ang="0"/>
            </a:gradFill>
            <a:ln w="19050" cap="sq">
              <a:solidFill>
                <a:srgbClr val="424141"/>
              </a:solidFill>
              <a:prstDash val="solid"/>
              <a:miter/>
            </a:ln>
          </p:spPr>
        </p:sp>
        <p:sp>
          <p:nvSpPr>
            <p:cNvPr name="TextBox 73" id="73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39013" lIns="39013" bIns="39013" rIns="39013"/>
            <a:lstStyle/>
            <a:p>
              <a:pPr algn="ctr" marL="0" indent="0" lvl="0">
                <a:lnSpc>
                  <a:spcPts val="1297"/>
                </a:lnSpc>
              </a:pPr>
            </a:p>
          </p:txBody>
        </p:sp>
      </p:grpSp>
      <p:sp>
        <p:nvSpPr>
          <p:cNvPr name="Freeform 74" id="74"/>
          <p:cNvSpPr/>
          <p:nvPr/>
        </p:nvSpPr>
        <p:spPr>
          <a:xfrm flipH="false" flipV="false" rot="0">
            <a:off x="11128359" y="6592077"/>
            <a:ext cx="676239" cy="676239"/>
          </a:xfrm>
          <a:custGeom>
            <a:avLst/>
            <a:gdLst/>
            <a:ahLst/>
            <a:cxnLst/>
            <a:rect r="r" b="b" t="t" l="l"/>
            <a:pathLst>
              <a:path h="676239" w="676239">
                <a:moveTo>
                  <a:pt x="0" y="0"/>
                </a:moveTo>
                <a:lnTo>
                  <a:pt x="676238" y="0"/>
                </a:lnTo>
                <a:lnTo>
                  <a:pt x="676238" y="676239"/>
                </a:lnTo>
                <a:lnTo>
                  <a:pt x="0" y="676239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5" id="75"/>
          <p:cNvSpPr/>
          <p:nvPr/>
        </p:nvSpPr>
        <p:spPr>
          <a:xfrm flipH="false" flipV="false" rot="0">
            <a:off x="6360490" y="6670849"/>
            <a:ext cx="583624" cy="518695"/>
          </a:xfrm>
          <a:custGeom>
            <a:avLst/>
            <a:gdLst/>
            <a:ahLst/>
            <a:cxnLst/>
            <a:rect r="r" b="b" t="t" l="l"/>
            <a:pathLst>
              <a:path h="518695" w="583624">
                <a:moveTo>
                  <a:pt x="0" y="0"/>
                </a:moveTo>
                <a:lnTo>
                  <a:pt x="583624" y="0"/>
                </a:lnTo>
                <a:lnTo>
                  <a:pt x="583624" y="518695"/>
                </a:lnTo>
                <a:lnTo>
                  <a:pt x="0" y="518695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6" id="76"/>
          <p:cNvSpPr txBox="true"/>
          <p:nvPr/>
        </p:nvSpPr>
        <p:spPr>
          <a:xfrm rot="0">
            <a:off x="3000375" y="4892991"/>
            <a:ext cx="3629025" cy="668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759"/>
              </a:lnSpc>
              <a:spcBef>
                <a:spcPct val="0"/>
              </a:spcBef>
            </a:pPr>
            <a:r>
              <a:rPr lang="en-US" sz="1999" spc="-73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Độ</a:t>
            </a:r>
            <a:r>
              <a:rPr lang="en-US" sz="1999" spc="-73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sáng trung bình của ảnh (0 - 255).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3162300" y="4296240"/>
            <a:ext cx="2524125" cy="319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95"/>
              </a:lnSpc>
              <a:spcBef>
                <a:spcPct val="0"/>
              </a:spcBef>
            </a:pPr>
            <a:r>
              <a:rPr lang="en-US" b="true" sz="2199" spc="-15">
                <a:solidFill>
                  <a:srgbClr val="42414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Mean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7820025" y="4892991"/>
            <a:ext cx="3629025" cy="668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759"/>
              </a:lnSpc>
              <a:spcBef>
                <a:spcPct val="0"/>
              </a:spcBef>
            </a:pPr>
            <a:r>
              <a:rPr lang="en-US" sz="1999" spc="-73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Độ lệch</a:t>
            </a:r>
            <a:r>
              <a:rPr lang="en-US" sz="1999" spc="-73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chuẩn đại diện cho độ tương phản t</a:t>
            </a:r>
            <a:r>
              <a:rPr lang="en-US" sz="1999" spc="-73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ổng</a:t>
            </a:r>
            <a:r>
              <a:rPr lang="en-US" sz="1999" spc="-73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thể.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7972425" y="4296240"/>
            <a:ext cx="2524125" cy="319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95"/>
              </a:lnSpc>
              <a:spcBef>
                <a:spcPct val="0"/>
              </a:spcBef>
            </a:pPr>
            <a:r>
              <a:rPr lang="en-US" b="true" sz="2199" spc="-15">
                <a:solidFill>
                  <a:srgbClr val="42414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Std Dev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3000375" y="7407591"/>
            <a:ext cx="3629025" cy="668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759"/>
              </a:lnSpc>
              <a:spcBef>
                <a:spcPct val="0"/>
              </a:spcBef>
            </a:pPr>
            <a:r>
              <a:rPr lang="en-US" sz="1999" spc="-73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Độ trung</a:t>
            </a:r>
            <a:r>
              <a:rPr lang="en-US" sz="1999" spc="-73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thực s</a:t>
            </a:r>
            <a:r>
              <a:rPr lang="en-US" sz="1999" spc="-73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</a:t>
            </a:r>
            <a:r>
              <a:rPr lang="en-US" sz="1999" spc="-73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v</a:t>
            </a:r>
            <a:r>
              <a:rPr lang="en-US" sz="1999" spc="-73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ới</a:t>
            </a:r>
            <a:r>
              <a:rPr lang="en-US" sz="1999" spc="-73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ảnh gốc (PSNR cao = ít méo ảnh).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3152775" y="6810840"/>
            <a:ext cx="2524125" cy="319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95"/>
              </a:lnSpc>
              <a:spcBef>
                <a:spcPct val="0"/>
              </a:spcBef>
            </a:pPr>
            <a:r>
              <a:rPr lang="en-US" b="true" sz="2199" spc="-15">
                <a:solidFill>
                  <a:srgbClr val="42414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PSNR (dB)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7810500" y="7407591"/>
            <a:ext cx="3629025" cy="1011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759"/>
              </a:lnSpc>
              <a:spcBef>
                <a:spcPct val="0"/>
              </a:spcBef>
            </a:pPr>
            <a:r>
              <a:rPr lang="en-US" sz="1999" spc="-73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Độ bảo</a:t>
            </a:r>
            <a:r>
              <a:rPr lang="en-US" sz="1999" spc="-73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t</a:t>
            </a:r>
            <a:r>
              <a:rPr lang="en-US" sz="1999" spc="-73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oà</a:t>
            </a:r>
            <a:r>
              <a:rPr lang="en-US" sz="1999" spc="-73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 cấu trúc không gian (-1 đến 1, gần 1.0 là tố</a:t>
            </a:r>
            <a:r>
              <a:rPr lang="en-US" sz="1999" spc="-73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</a:t>
            </a:r>
            <a:r>
              <a:rPr lang="en-US" sz="1999" spc="-73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nhất</a:t>
            </a:r>
            <a:r>
              <a:rPr lang="en-US" sz="1999" spc="-73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)</a:t>
            </a:r>
            <a:r>
              <a:rPr lang="en-US" sz="1999" spc="-73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</p:txBody>
      </p:sp>
      <p:sp>
        <p:nvSpPr>
          <p:cNvPr name="TextBox 83" id="83"/>
          <p:cNvSpPr txBox="true"/>
          <p:nvPr/>
        </p:nvSpPr>
        <p:spPr>
          <a:xfrm rot="0">
            <a:off x="7772243" y="6810840"/>
            <a:ext cx="2924489" cy="319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95"/>
              </a:lnSpc>
              <a:spcBef>
                <a:spcPct val="0"/>
              </a:spcBef>
            </a:pPr>
            <a:r>
              <a:rPr lang="en-US" b="true" sz="2199" spc="-15">
                <a:solidFill>
                  <a:srgbClr val="42414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SSIM</a:t>
            </a:r>
          </a:p>
        </p:txBody>
      </p:sp>
      <p:grpSp>
        <p:nvGrpSpPr>
          <p:cNvPr name="Group 84" id="84"/>
          <p:cNvGrpSpPr/>
          <p:nvPr/>
        </p:nvGrpSpPr>
        <p:grpSpPr>
          <a:xfrm rot="0">
            <a:off x="12581106" y="4098234"/>
            <a:ext cx="4100858" cy="2243954"/>
            <a:chOff x="0" y="0"/>
            <a:chExt cx="2848370" cy="1558603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2848370" cy="1558603"/>
            </a:xfrm>
            <a:custGeom>
              <a:avLst/>
              <a:gdLst/>
              <a:ahLst/>
              <a:cxnLst/>
              <a:rect r="r" b="b" t="t" l="l"/>
              <a:pathLst>
                <a:path h="1558603" w="2848370">
                  <a:moveTo>
                    <a:pt x="24542" y="0"/>
                  </a:moveTo>
                  <a:lnTo>
                    <a:pt x="2823827" y="0"/>
                  </a:lnTo>
                  <a:cubicBezTo>
                    <a:pt x="2837381" y="0"/>
                    <a:pt x="2848370" y="10988"/>
                    <a:pt x="2848370" y="24542"/>
                  </a:cubicBezTo>
                  <a:lnTo>
                    <a:pt x="2848370" y="1534061"/>
                  </a:lnTo>
                  <a:cubicBezTo>
                    <a:pt x="2848370" y="1540570"/>
                    <a:pt x="2845784" y="1546812"/>
                    <a:pt x="2841181" y="1551415"/>
                  </a:cubicBezTo>
                  <a:cubicBezTo>
                    <a:pt x="2836579" y="1556017"/>
                    <a:pt x="2830336" y="1558603"/>
                    <a:pt x="2823827" y="1558603"/>
                  </a:cubicBezTo>
                  <a:lnTo>
                    <a:pt x="24542" y="1558603"/>
                  </a:lnTo>
                  <a:cubicBezTo>
                    <a:pt x="18033" y="1558603"/>
                    <a:pt x="11791" y="1556017"/>
                    <a:pt x="7188" y="1551415"/>
                  </a:cubicBezTo>
                  <a:cubicBezTo>
                    <a:pt x="2586" y="1546812"/>
                    <a:pt x="0" y="1540570"/>
                    <a:pt x="0" y="1534061"/>
                  </a:cubicBezTo>
                  <a:lnTo>
                    <a:pt x="0" y="24542"/>
                  </a:lnTo>
                  <a:cubicBezTo>
                    <a:pt x="0" y="18033"/>
                    <a:pt x="2586" y="11791"/>
                    <a:pt x="7188" y="7188"/>
                  </a:cubicBezTo>
                  <a:cubicBezTo>
                    <a:pt x="11791" y="2586"/>
                    <a:pt x="18033" y="0"/>
                    <a:pt x="24542" y="0"/>
                  </a:cubicBezTo>
                  <a:close/>
                </a:path>
              </a:pathLst>
            </a:custGeom>
            <a:solidFill>
              <a:srgbClr val="EB574C"/>
            </a:solidFill>
            <a:ln w="9525" cap="sq">
              <a:solidFill>
                <a:srgbClr val="424141"/>
              </a:solidFill>
              <a:prstDash val="solid"/>
              <a:miter/>
            </a:ln>
          </p:spPr>
        </p:sp>
        <p:sp>
          <p:nvSpPr>
            <p:cNvPr name="TextBox 86" id="86"/>
            <p:cNvSpPr txBox="true"/>
            <p:nvPr/>
          </p:nvSpPr>
          <p:spPr>
            <a:xfrm>
              <a:off x="0" y="28575"/>
              <a:ext cx="2848370" cy="1530028"/>
            </a:xfrm>
            <a:prstGeom prst="rect">
              <a:avLst/>
            </a:prstGeom>
          </p:spPr>
          <p:txBody>
            <a:bodyPr anchor="ctr" rtlCol="false" tIns="39013" lIns="39013" bIns="39013" rIns="39013"/>
            <a:lstStyle/>
            <a:p>
              <a:pPr algn="ctr" marL="0" indent="0" lvl="0">
                <a:lnSpc>
                  <a:spcPts val="1297"/>
                </a:lnSpc>
              </a:pP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12759972" y="4219513"/>
            <a:ext cx="2933893" cy="585514"/>
            <a:chOff x="0" y="0"/>
            <a:chExt cx="2037821" cy="406686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2037821" cy="406686"/>
            </a:xfrm>
            <a:custGeom>
              <a:avLst/>
              <a:gdLst/>
              <a:ahLst/>
              <a:cxnLst/>
              <a:rect r="r" b="b" t="t" l="l"/>
              <a:pathLst>
                <a:path h="406686" w="2037821">
                  <a:moveTo>
                    <a:pt x="34304" y="0"/>
                  </a:moveTo>
                  <a:lnTo>
                    <a:pt x="2003516" y="0"/>
                  </a:lnTo>
                  <a:cubicBezTo>
                    <a:pt x="2012614" y="0"/>
                    <a:pt x="2021340" y="3614"/>
                    <a:pt x="2027773" y="10047"/>
                  </a:cubicBezTo>
                  <a:cubicBezTo>
                    <a:pt x="2034206" y="16481"/>
                    <a:pt x="2037821" y="25206"/>
                    <a:pt x="2037821" y="34304"/>
                  </a:cubicBezTo>
                  <a:lnTo>
                    <a:pt x="2037821" y="372382"/>
                  </a:lnTo>
                  <a:cubicBezTo>
                    <a:pt x="2037821" y="391327"/>
                    <a:pt x="2022462" y="406686"/>
                    <a:pt x="2003516" y="406686"/>
                  </a:cubicBezTo>
                  <a:lnTo>
                    <a:pt x="34304" y="406686"/>
                  </a:lnTo>
                  <a:cubicBezTo>
                    <a:pt x="25206" y="406686"/>
                    <a:pt x="16481" y="403072"/>
                    <a:pt x="10047" y="396639"/>
                  </a:cubicBezTo>
                  <a:cubicBezTo>
                    <a:pt x="3614" y="390205"/>
                    <a:pt x="0" y="381480"/>
                    <a:pt x="0" y="372382"/>
                  </a:cubicBezTo>
                  <a:lnTo>
                    <a:pt x="0" y="34304"/>
                  </a:lnTo>
                  <a:cubicBezTo>
                    <a:pt x="0" y="15359"/>
                    <a:pt x="15359" y="0"/>
                    <a:pt x="34304" y="0"/>
                  </a:cubicBezTo>
                  <a:close/>
                </a:path>
              </a:pathLst>
            </a:custGeom>
            <a:solidFill>
              <a:srgbClr val="FFDE59"/>
            </a:solidFill>
            <a:ln w="9525" cap="sq">
              <a:solidFill>
                <a:srgbClr val="424141"/>
              </a:solidFill>
              <a:prstDash val="solid"/>
              <a:miter/>
            </a:ln>
          </p:spPr>
        </p:sp>
        <p:sp>
          <p:nvSpPr>
            <p:cNvPr name="TextBox 89" id="89"/>
            <p:cNvSpPr txBox="true"/>
            <p:nvPr/>
          </p:nvSpPr>
          <p:spPr>
            <a:xfrm>
              <a:off x="0" y="28575"/>
              <a:ext cx="2037821" cy="378111"/>
            </a:xfrm>
            <a:prstGeom prst="rect">
              <a:avLst/>
            </a:prstGeom>
          </p:spPr>
          <p:txBody>
            <a:bodyPr anchor="ctr" rtlCol="false" tIns="39013" lIns="39013" bIns="39013" rIns="39013"/>
            <a:lstStyle/>
            <a:p>
              <a:pPr algn="ctr" marL="0" indent="0" lvl="0">
                <a:lnSpc>
                  <a:spcPts val="1297"/>
                </a:lnSpc>
              </a:pP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15951041" y="3944812"/>
            <a:ext cx="1025142" cy="1025142"/>
            <a:chOff x="0" y="0"/>
            <a:chExt cx="812800" cy="812800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2388C">
                    <a:alpha val="100000"/>
                  </a:srgbClr>
                </a:gs>
                <a:gs pos="100000">
                  <a:srgbClr val="3893FF">
                    <a:alpha val="100000"/>
                  </a:srgbClr>
                </a:gs>
              </a:gsLst>
              <a:lin ang="0"/>
            </a:gradFill>
            <a:ln w="19050" cap="sq">
              <a:solidFill>
                <a:srgbClr val="424141"/>
              </a:solidFill>
              <a:prstDash val="solid"/>
              <a:miter/>
            </a:ln>
          </p:spPr>
        </p:sp>
        <p:sp>
          <p:nvSpPr>
            <p:cNvPr name="TextBox 92" id="92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39013" lIns="39013" bIns="39013" rIns="39013"/>
            <a:lstStyle/>
            <a:p>
              <a:pPr algn="ctr" marL="0" indent="0" lvl="0">
                <a:lnSpc>
                  <a:spcPts val="1297"/>
                </a:lnSpc>
              </a:pPr>
            </a:p>
          </p:txBody>
        </p:sp>
      </p:grpSp>
      <p:sp>
        <p:nvSpPr>
          <p:cNvPr name="Freeform 93" id="93"/>
          <p:cNvSpPr/>
          <p:nvPr/>
        </p:nvSpPr>
        <p:spPr>
          <a:xfrm flipH="false" flipV="false" rot="0">
            <a:off x="16125492" y="4119263"/>
            <a:ext cx="676239" cy="676239"/>
          </a:xfrm>
          <a:custGeom>
            <a:avLst/>
            <a:gdLst/>
            <a:ahLst/>
            <a:cxnLst/>
            <a:rect r="r" b="b" t="t" l="l"/>
            <a:pathLst>
              <a:path h="676239" w="676239">
                <a:moveTo>
                  <a:pt x="0" y="0"/>
                </a:moveTo>
                <a:lnTo>
                  <a:pt x="676239" y="0"/>
                </a:lnTo>
                <a:lnTo>
                  <a:pt x="676239" y="676239"/>
                </a:lnTo>
                <a:lnTo>
                  <a:pt x="0" y="676239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4" id="94"/>
          <p:cNvSpPr txBox="true"/>
          <p:nvPr/>
        </p:nvSpPr>
        <p:spPr>
          <a:xfrm rot="0">
            <a:off x="12807633" y="4934777"/>
            <a:ext cx="3629025" cy="1011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759"/>
              </a:lnSpc>
              <a:spcBef>
                <a:spcPct val="0"/>
              </a:spcBef>
            </a:pPr>
            <a:r>
              <a:rPr lang="en-US" sz="1999" spc="-73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Độ pho</a:t>
            </a:r>
            <a:r>
              <a:rPr lang="en-US" sz="1999" spc="-73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ng phú thông tin chi tiết (Entropy càng ca</a:t>
            </a:r>
            <a:r>
              <a:rPr lang="en-US" sz="1999" spc="-73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</a:t>
            </a:r>
            <a:r>
              <a:rPr lang="en-US" sz="1999" spc="-73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càng tốt</a:t>
            </a:r>
            <a:r>
              <a:rPr lang="en-US" sz="1999" spc="-73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)</a:t>
            </a:r>
            <a:r>
              <a:rPr lang="en-US" sz="1999" spc="-73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</p:txBody>
      </p:sp>
      <p:sp>
        <p:nvSpPr>
          <p:cNvPr name="TextBox 95" id="95"/>
          <p:cNvSpPr txBox="true"/>
          <p:nvPr/>
        </p:nvSpPr>
        <p:spPr>
          <a:xfrm rot="0">
            <a:off x="12769376" y="4338026"/>
            <a:ext cx="2924489" cy="319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95"/>
              </a:lnSpc>
              <a:spcBef>
                <a:spcPct val="0"/>
              </a:spcBef>
            </a:pPr>
            <a:r>
              <a:rPr lang="en-US" b="true" sz="2199" spc="-15">
                <a:solidFill>
                  <a:srgbClr val="42414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Entropy</a:t>
            </a:r>
          </a:p>
        </p:txBody>
      </p:sp>
    </p:spTree>
  </p:cSld>
  <p:clrMapOvr>
    <a:masterClrMapping/>
  </p:clrMapOvr>
  <p:transition spd="slow">
    <p:fade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2388C">
                <a:alpha val="100000"/>
              </a:srgbClr>
            </a:gs>
            <a:gs pos="100000">
              <a:srgbClr val="3893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09814" y="167020"/>
            <a:ext cx="2323166" cy="9952960"/>
            <a:chOff x="0" y="0"/>
            <a:chExt cx="611863" cy="262135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11863" cy="2621356"/>
            </a:xfrm>
            <a:custGeom>
              <a:avLst/>
              <a:gdLst/>
              <a:ahLst/>
              <a:cxnLst/>
              <a:rect r="r" b="b" t="t" l="l"/>
              <a:pathLst>
                <a:path h="2621356" w="611863">
                  <a:moveTo>
                    <a:pt x="166624" y="0"/>
                  </a:moveTo>
                  <a:lnTo>
                    <a:pt x="445238" y="0"/>
                  </a:lnTo>
                  <a:cubicBezTo>
                    <a:pt x="537262" y="0"/>
                    <a:pt x="611863" y="74600"/>
                    <a:pt x="611863" y="166624"/>
                  </a:cubicBezTo>
                  <a:lnTo>
                    <a:pt x="611863" y="2454731"/>
                  </a:lnTo>
                  <a:cubicBezTo>
                    <a:pt x="611863" y="2546755"/>
                    <a:pt x="537262" y="2621356"/>
                    <a:pt x="445238" y="2621356"/>
                  </a:cubicBezTo>
                  <a:lnTo>
                    <a:pt x="166624" y="2621356"/>
                  </a:lnTo>
                  <a:cubicBezTo>
                    <a:pt x="74600" y="2621356"/>
                    <a:pt x="0" y="2546755"/>
                    <a:pt x="0" y="2454731"/>
                  </a:cubicBezTo>
                  <a:lnTo>
                    <a:pt x="0" y="166624"/>
                  </a:lnTo>
                  <a:cubicBezTo>
                    <a:pt x="0" y="74600"/>
                    <a:pt x="74600" y="0"/>
                    <a:pt x="166624" y="0"/>
                  </a:cubicBezTo>
                  <a:close/>
                </a:path>
              </a:pathLst>
            </a:custGeom>
            <a:solidFill>
              <a:srgbClr val="2063C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611863" cy="26594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597652" y="167020"/>
            <a:ext cx="16414232" cy="9952960"/>
            <a:chOff x="0" y="0"/>
            <a:chExt cx="4323090" cy="262135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323090" cy="2621356"/>
            </a:xfrm>
            <a:custGeom>
              <a:avLst/>
              <a:gdLst/>
              <a:ahLst/>
              <a:cxnLst/>
              <a:rect r="r" b="b" t="t" l="l"/>
              <a:pathLst>
                <a:path h="2621356" w="4323090">
                  <a:moveTo>
                    <a:pt x="23583" y="0"/>
                  </a:moveTo>
                  <a:lnTo>
                    <a:pt x="4299507" y="0"/>
                  </a:lnTo>
                  <a:cubicBezTo>
                    <a:pt x="4312532" y="0"/>
                    <a:pt x="4323090" y="10558"/>
                    <a:pt x="4323090" y="23583"/>
                  </a:cubicBezTo>
                  <a:lnTo>
                    <a:pt x="4323090" y="2597773"/>
                  </a:lnTo>
                  <a:cubicBezTo>
                    <a:pt x="4323090" y="2610797"/>
                    <a:pt x="4312532" y="2621356"/>
                    <a:pt x="4299507" y="2621356"/>
                  </a:cubicBezTo>
                  <a:lnTo>
                    <a:pt x="23583" y="2621356"/>
                  </a:lnTo>
                  <a:cubicBezTo>
                    <a:pt x="10558" y="2621356"/>
                    <a:pt x="0" y="2610797"/>
                    <a:pt x="0" y="2597773"/>
                  </a:cubicBezTo>
                  <a:lnTo>
                    <a:pt x="0" y="23583"/>
                  </a:lnTo>
                  <a:cubicBezTo>
                    <a:pt x="0" y="10558"/>
                    <a:pt x="10558" y="0"/>
                    <a:pt x="2358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323090" cy="26594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680211" y="4944284"/>
            <a:ext cx="550013" cy="456288"/>
          </a:xfrm>
          <a:custGeom>
            <a:avLst/>
            <a:gdLst/>
            <a:ahLst/>
            <a:cxnLst/>
            <a:rect r="r" b="b" t="t" l="l"/>
            <a:pathLst>
              <a:path h="456288" w="550013">
                <a:moveTo>
                  <a:pt x="0" y="0"/>
                </a:moveTo>
                <a:lnTo>
                  <a:pt x="550013" y="0"/>
                </a:lnTo>
                <a:lnTo>
                  <a:pt x="550013" y="456288"/>
                </a:lnTo>
                <a:lnTo>
                  <a:pt x="0" y="4562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-20013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771557" y="798212"/>
            <a:ext cx="14912910" cy="2305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138"/>
              </a:lnSpc>
            </a:pPr>
            <a:r>
              <a:rPr lang="en-US" b="true" sz="7490" spc="-464">
                <a:solidFill>
                  <a:srgbClr val="42414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ĐÁNH GIÁ TRỰC QUAN: </a:t>
            </a:r>
          </a:p>
          <a:p>
            <a:pPr algn="l" marL="0" indent="0" lvl="0">
              <a:lnSpc>
                <a:spcPts val="9138"/>
              </a:lnSpc>
            </a:pPr>
            <a:r>
              <a:rPr lang="en-US" b="true" sz="7490" spc="-464">
                <a:solidFill>
                  <a:srgbClr val="42414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GỐC VS GLOBAL HE VS CLAHE</a:t>
            </a:r>
          </a:p>
        </p:txBody>
      </p:sp>
      <p:sp>
        <p:nvSpPr>
          <p:cNvPr name="AutoShape 10" id="10"/>
          <p:cNvSpPr/>
          <p:nvPr/>
        </p:nvSpPr>
        <p:spPr>
          <a:xfrm>
            <a:off x="628726" y="1279706"/>
            <a:ext cx="550013" cy="0"/>
          </a:xfrm>
          <a:prstGeom prst="line">
            <a:avLst/>
          </a:prstGeom>
          <a:ln cap="flat" w="476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>
            <a:off x="628726" y="1427234"/>
            <a:ext cx="550013" cy="0"/>
          </a:xfrm>
          <a:prstGeom prst="line">
            <a:avLst/>
          </a:prstGeom>
          <a:ln cap="flat" w="476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>
            <a:off x="628726" y="1570109"/>
            <a:ext cx="550013" cy="0"/>
          </a:xfrm>
          <a:prstGeom prst="line">
            <a:avLst/>
          </a:prstGeom>
          <a:ln cap="flat" w="476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3" id="13"/>
          <p:cNvSpPr/>
          <p:nvPr/>
        </p:nvSpPr>
        <p:spPr>
          <a:xfrm flipH="false" flipV="false" rot="0">
            <a:off x="628726" y="8621062"/>
            <a:ext cx="652982" cy="652982"/>
          </a:xfrm>
          <a:custGeom>
            <a:avLst/>
            <a:gdLst/>
            <a:ahLst/>
            <a:cxnLst/>
            <a:rect r="r" b="b" t="t" l="l"/>
            <a:pathLst>
              <a:path h="652982" w="652982">
                <a:moveTo>
                  <a:pt x="0" y="0"/>
                </a:moveTo>
                <a:lnTo>
                  <a:pt x="652983" y="0"/>
                </a:lnTo>
                <a:lnTo>
                  <a:pt x="652983" y="652982"/>
                </a:lnTo>
                <a:lnTo>
                  <a:pt x="0" y="6529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16666716" y="8605127"/>
            <a:ext cx="419749" cy="419749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424141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39013" lIns="39013" bIns="39013" rIns="39013"/>
            <a:lstStyle/>
            <a:p>
              <a:pPr algn="ctr" marL="0" indent="0" lvl="0">
                <a:lnSpc>
                  <a:spcPts val="1297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6246925" y="8605127"/>
            <a:ext cx="419749" cy="419749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424141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39013" lIns="39013" bIns="39013" rIns="39013"/>
            <a:lstStyle/>
            <a:p>
              <a:pPr algn="ctr" marL="0" indent="0" lvl="0">
                <a:lnSpc>
                  <a:spcPts val="1297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5827134" y="8605127"/>
            <a:ext cx="419749" cy="419749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B574C"/>
            </a:solidFill>
            <a:ln w="19050" cap="sq">
              <a:solidFill>
                <a:srgbClr val="424141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39013" lIns="39013" bIns="39013" rIns="39013"/>
            <a:lstStyle/>
            <a:p>
              <a:pPr algn="ctr" marL="0" indent="0" lvl="0">
                <a:lnSpc>
                  <a:spcPts val="1297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628726" y="7339018"/>
            <a:ext cx="652982" cy="625231"/>
          </a:xfrm>
          <a:custGeom>
            <a:avLst/>
            <a:gdLst/>
            <a:ahLst/>
            <a:cxnLst/>
            <a:rect r="r" b="b" t="t" l="l"/>
            <a:pathLst>
              <a:path h="625231" w="652982">
                <a:moveTo>
                  <a:pt x="0" y="0"/>
                </a:moveTo>
                <a:lnTo>
                  <a:pt x="652983" y="0"/>
                </a:lnTo>
                <a:lnTo>
                  <a:pt x="652983" y="625231"/>
                </a:lnTo>
                <a:lnTo>
                  <a:pt x="0" y="62523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695867" y="3769890"/>
            <a:ext cx="545744" cy="545744"/>
          </a:xfrm>
          <a:custGeom>
            <a:avLst/>
            <a:gdLst/>
            <a:ahLst/>
            <a:cxnLst/>
            <a:rect r="r" b="b" t="t" l="l"/>
            <a:pathLst>
              <a:path h="545744" w="545744">
                <a:moveTo>
                  <a:pt x="0" y="0"/>
                </a:moveTo>
                <a:lnTo>
                  <a:pt x="545743" y="0"/>
                </a:lnTo>
                <a:lnTo>
                  <a:pt x="545743" y="545744"/>
                </a:lnTo>
                <a:lnTo>
                  <a:pt x="0" y="54574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628726" y="2424196"/>
            <a:ext cx="680025" cy="680025"/>
          </a:xfrm>
          <a:custGeom>
            <a:avLst/>
            <a:gdLst/>
            <a:ahLst/>
            <a:cxnLst/>
            <a:rect r="r" b="b" t="t" l="l"/>
            <a:pathLst>
              <a:path h="680025" w="680025">
                <a:moveTo>
                  <a:pt x="0" y="0"/>
                </a:moveTo>
                <a:lnTo>
                  <a:pt x="680025" y="0"/>
                </a:lnTo>
                <a:lnTo>
                  <a:pt x="680025" y="680024"/>
                </a:lnTo>
                <a:lnTo>
                  <a:pt x="0" y="68002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6666674" y="2040635"/>
            <a:ext cx="1128979" cy="1062651"/>
          </a:xfrm>
          <a:custGeom>
            <a:avLst/>
            <a:gdLst/>
            <a:ahLst/>
            <a:cxnLst/>
            <a:rect r="r" b="b" t="t" l="l"/>
            <a:pathLst>
              <a:path h="1062651" w="1128979">
                <a:moveTo>
                  <a:pt x="0" y="0"/>
                </a:moveTo>
                <a:lnTo>
                  <a:pt x="1128979" y="0"/>
                </a:lnTo>
                <a:lnTo>
                  <a:pt x="1128979" y="1062651"/>
                </a:lnTo>
                <a:lnTo>
                  <a:pt x="0" y="106265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grpSp>
        <p:nvGrpSpPr>
          <p:cNvPr name="Group 27" id="27"/>
          <p:cNvGrpSpPr/>
          <p:nvPr/>
        </p:nvGrpSpPr>
        <p:grpSpPr>
          <a:xfrm rot="0">
            <a:off x="460665" y="5889292"/>
            <a:ext cx="1539118" cy="961005"/>
            <a:chOff x="0" y="0"/>
            <a:chExt cx="405364" cy="253104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05364" cy="253104"/>
            </a:xfrm>
            <a:custGeom>
              <a:avLst/>
              <a:gdLst/>
              <a:ahLst/>
              <a:cxnLst/>
              <a:rect r="r" b="b" t="t" l="l"/>
              <a:pathLst>
                <a:path h="253104" w="405364">
                  <a:moveTo>
                    <a:pt x="126552" y="0"/>
                  </a:moveTo>
                  <a:lnTo>
                    <a:pt x="278812" y="0"/>
                  </a:lnTo>
                  <a:cubicBezTo>
                    <a:pt x="312376" y="0"/>
                    <a:pt x="344565" y="13333"/>
                    <a:pt x="368298" y="37066"/>
                  </a:cubicBezTo>
                  <a:cubicBezTo>
                    <a:pt x="392031" y="60799"/>
                    <a:pt x="405364" y="92988"/>
                    <a:pt x="405364" y="126552"/>
                  </a:cubicBezTo>
                  <a:lnTo>
                    <a:pt x="405364" y="126552"/>
                  </a:lnTo>
                  <a:cubicBezTo>
                    <a:pt x="405364" y="196445"/>
                    <a:pt x="348705" y="253104"/>
                    <a:pt x="278812" y="253104"/>
                  </a:cubicBezTo>
                  <a:lnTo>
                    <a:pt x="126552" y="253104"/>
                  </a:lnTo>
                  <a:cubicBezTo>
                    <a:pt x="56659" y="253104"/>
                    <a:pt x="0" y="196445"/>
                    <a:pt x="0" y="126552"/>
                  </a:cubicBezTo>
                  <a:lnTo>
                    <a:pt x="0" y="126552"/>
                  </a:lnTo>
                  <a:cubicBezTo>
                    <a:pt x="0" y="56659"/>
                    <a:pt x="56659" y="0"/>
                    <a:pt x="12655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405364" cy="2912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30" id="30"/>
          <p:cNvSpPr/>
          <p:nvPr/>
        </p:nvSpPr>
        <p:spPr>
          <a:xfrm flipH="false" flipV="false" rot="0">
            <a:off x="628726" y="6029222"/>
            <a:ext cx="652982" cy="652982"/>
          </a:xfrm>
          <a:custGeom>
            <a:avLst/>
            <a:gdLst/>
            <a:ahLst/>
            <a:cxnLst/>
            <a:rect r="r" b="b" t="t" l="l"/>
            <a:pathLst>
              <a:path h="652982" w="652982">
                <a:moveTo>
                  <a:pt x="0" y="0"/>
                </a:moveTo>
                <a:lnTo>
                  <a:pt x="652983" y="0"/>
                </a:lnTo>
                <a:lnTo>
                  <a:pt x="652983" y="652983"/>
                </a:lnTo>
                <a:lnTo>
                  <a:pt x="0" y="652983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893496">
            <a:off x="4089454" y="8143875"/>
            <a:ext cx="6556339" cy="4881741"/>
          </a:xfrm>
          <a:custGeom>
            <a:avLst/>
            <a:gdLst/>
            <a:ahLst/>
            <a:cxnLst/>
            <a:rect r="r" b="b" t="t" l="l"/>
            <a:pathLst>
              <a:path h="4881741" w="6556339">
                <a:moveTo>
                  <a:pt x="0" y="0"/>
                </a:moveTo>
                <a:lnTo>
                  <a:pt x="6556339" y="0"/>
                </a:lnTo>
                <a:lnTo>
                  <a:pt x="6556339" y="4881741"/>
                </a:lnTo>
                <a:lnTo>
                  <a:pt x="0" y="4881741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alphaModFix amt="16000"/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2" id="32"/>
          <p:cNvGrpSpPr/>
          <p:nvPr/>
        </p:nvGrpSpPr>
        <p:grpSpPr>
          <a:xfrm rot="0">
            <a:off x="14394969" y="1208043"/>
            <a:ext cx="2864331" cy="662597"/>
            <a:chOff x="0" y="0"/>
            <a:chExt cx="890574" cy="206014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90574" cy="206014"/>
            </a:xfrm>
            <a:custGeom>
              <a:avLst/>
              <a:gdLst/>
              <a:ahLst/>
              <a:cxnLst/>
              <a:rect r="r" b="b" t="t" l="l"/>
              <a:pathLst>
                <a:path h="206014" w="890574">
                  <a:moveTo>
                    <a:pt x="54057" y="0"/>
                  </a:moveTo>
                  <a:lnTo>
                    <a:pt x="836516" y="0"/>
                  </a:lnTo>
                  <a:cubicBezTo>
                    <a:pt x="850853" y="0"/>
                    <a:pt x="864603" y="5695"/>
                    <a:pt x="874741" y="15833"/>
                  </a:cubicBezTo>
                  <a:cubicBezTo>
                    <a:pt x="884878" y="25971"/>
                    <a:pt x="890574" y="39721"/>
                    <a:pt x="890574" y="54057"/>
                  </a:cubicBezTo>
                  <a:lnTo>
                    <a:pt x="890574" y="151956"/>
                  </a:lnTo>
                  <a:cubicBezTo>
                    <a:pt x="890574" y="181811"/>
                    <a:pt x="866371" y="206014"/>
                    <a:pt x="836516" y="206014"/>
                  </a:cubicBezTo>
                  <a:lnTo>
                    <a:pt x="54057" y="206014"/>
                  </a:lnTo>
                  <a:cubicBezTo>
                    <a:pt x="39721" y="206014"/>
                    <a:pt x="25971" y="200318"/>
                    <a:pt x="15833" y="190181"/>
                  </a:cubicBezTo>
                  <a:cubicBezTo>
                    <a:pt x="5695" y="180043"/>
                    <a:pt x="0" y="166293"/>
                    <a:pt x="0" y="151956"/>
                  </a:cubicBezTo>
                  <a:lnTo>
                    <a:pt x="0" y="54057"/>
                  </a:lnTo>
                  <a:cubicBezTo>
                    <a:pt x="0" y="24202"/>
                    <a:pt x="24202" y="0"/>
                    <a:pt x="54057" y="0"/>
                  </a:cubicBezTo>
                  <a:close/>
                </a:path>
              </a:pathLst>
            </a:custGeom>
            <a:ln w="28575" cap="sq">
              <a:solidFill>
                <a:srgbClr val="424141"/>
              </a:solidFill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9525"/>
              <a:ext cx="890574" cy="2155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560"/>
                </a:lnSpc>
              </a:pPr>
            </a:p>
          </p:txBody>
        </p:sp>
      </p:grpSp>
      <p:sp>
        <p:nvSpPr>
          <p:cNvPr name="Freeform 35" id="35"/>
          <p:cNvSpPr/>
          <p:nvPr/>
        </p:nvSpPr>
        <p:spPr>
          <a:xfrm flipH="false" flipV="false" rot="0">
            <a:off x="3002176" y="3435345"/>
            <a:ext cx="13605183" cy="2814572"/>
          </a:xfrm>
          <a:custGeom>
            <a:avLst/>
            <a:gdLst/>
            <a:ahLst/>
            <a:cxnLst/>
            <a:rect r="r" b="b" t="t" l="l"/>
            <a:pathLst>
              <a:path h="2814572" w="13605183">
                <a:moveTo>
                  <a:pt x="0" y="0"/>
                </a:moveTo>
                <a:lnTo>
                  <a:pt x="13605183" y="0"/>
                </a:lnTo>
                <a:lnTo>
                  <a:pt x="13605183" y="2814572"/>
                </a:lnTo>
                <a:lnTo>
                  <a:pt x="0" y="2814572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TextBox 36" id="36"/>
          <p:cNvSpPr txBox="true"/>
          <p:nvPr/>
        </p:nvSpPr>
        <p:spPr>
          <a:xfrm rot="0">
            <a:off x="14394969" y="1409623"/>
            <a:ext cx="2864331" cy="280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87"/>
              </a:lnSpc>
            </a:pPr>
            <a:r>
              <a:rPr lang="en-US" sz="1705" spc="-37">
                <a:solidFill>
                  <a:srgbClr val="424141"/>
                </a:solidFill>
                <a:latin typeface="Montserrat"/>
                <a:ea typeface="Montserrat"/>
                <a:cs typeface="Montserrat"/>
                <a:sym typeface="Montserrat"/>
              </a:rPr>
              <a:t>XỬ LÝ ẢNH SỐ</a:t>
            </a:r>
          </a:p>
        </p:txBody>
      </p:sp>
    </p:spTree>
  </p:cSld>
  <p:clrMapOvr>
    <a:masterClrMapping/>
  </p:clrMapOvr>
  <p:transition spd="slow">
    <p:fade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2388C">
                <a:alpha val="100000"/>
              </a:srgbClr>
            </a:gs>
            <a:gs pos="100000">
              <a:srgbClr val="3893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09814" y="167020"/>
            <a:ext cx="2323166" cy="9952960"/>
            <a:chOff x="0" y="0"/>
            <a:chExt cx="611863" cy="262135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11863" cy="2621356"/>
            </a:xfrm>
            <a:custGeom>
              <a:avLst/>
              <a:gdLst/>
              <a:ahLst/>
              <a:cxnLst/>
              <a:rect r="r" b="b" t="t" l="l"/>
              <a:pathLst>
                <a:path h="2621356" w="611863">
                  <a:moveTo>
                    <a:pt x="166624" y="0"/>
                  </a:moveTo>
                  <a:lnTo>
                    <a:pt x="445238" y="0"/>
                  </a:lnTo>
                  <a:cubicBezTo>
                    <a:pt x="537262" y="0"/>
                    <a:pt x="611863" y="74600"/>
                    <a:pt x="611863" y="166624"/>
                  </a:cubicBezTo>
                  <a:lnTo>
                    <a:pt x="611863" y="2454731"/>
                  </a:lnTo>
                  <a:cubicBezTo>
                    <a:pt x="611863" y="2546755"/>
                    <a:pt x="537262" y="2621356"/>
                    <a:pt x="445238" y="2621356"/>
                  </a:cubicBezTo>
                  <a:lnTo>
                    <a:pt x="166624" y="2621356"/>
                  </a:lnTo>
                  <a:cubicBezTo>
                    <a:pt x="74600" y="2621356"/>
                    <a:pt x="0" y="2546755"/>
                    <a:pt x="0" y="2454731"/>
                  </a:cubicBezTo>
                  <a:lnTo>
                    <a:pt x="0" y="166624"/>
                  </a:lnTo>
                  <a:cubicBezTo>
                    <a:pt x="0" y="74600"/>
                    <a:pt x="74600" y="0"/>
                    <a:pt x="166624" y="0"/>
                  </a:cubicBezTo>
                  <a:close/>
                </a:path>
              </a:pathLst>
            </a:custGeom>
            <a:solidFill>
              <a:srgbClr val="2063C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611863" cy="26594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60665" y="5889292"/>
            <a:ext cx="1539118" cy="961005"/>
            <a:chOff x="0" y="0"/>
            <a:chExt cx="405364" cy="25310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5364" cy="253104"/>
            </a:xfrm>
            <a:custGeom>
              <a:avLst/>
              <a:gdLst/>
              <a:ahLst/>
              <a:cxnLst/>
              <a:rect r="r" b="b" t="t" l="l"/>
              <a:pathLst>
                <a:path h="253104" w="405364">
                  <a:moveTo>
                    <a:pt x="126552" y="0"/>
                  </a:moveTo>
                  <a:lnTo>
                    <a:pt x="278812" y="0"/>
                  </a:lnTo>
                  <a:cubicBezTo>
                    <a:pt x="312376" y="0"/>
                    <a:pt x="344565" y="13333"/>
                    <a:pt x="368298" y="37066"/>
                  </a:cubicBezTo>
                  <a:cubicBezTo>
                    <a:pt x="392031" y="60799"/>
                    <a:pt x="405364" y="92988"/>
                    <a:pt x="405364" y="126552"/>
                  </a:cubicBezTo>
                  <a:lnTo>
                    <a:pt x="405364" y="126552"/>
                  </a:lnTo>
                  <a:cubicBezTo>
                    <a:pt x="405364" y="196445"/>
                    <a:pt x="348705" y="253104"/>
                    <a:pt x="278812" y="253104"/>
                  </a:cubicBezTo>
                  <a:lnTo>
                    <a:pt x="126552" y="253104"/>
                  </a:lnTo>
                  <a:cubicBezTo>
                    <a:pt x="56659" y="253104"/>
                    <a:pt x="0" y="196445"/>
                    <a:pt x="0" y="126552"/>
                  </a:cubicBezTo>
                  <a:lnTo>
                    <a:pt x="0" y="126552"/>
                  </a:lnTo>
                  <a:cubicBezTo>
                    <a:pt x="0" y="56659"/>
                    <a:pt x="56659" y="0"/>
                    <a:pt x="12655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05364" cy="2912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597652" y="167020"/>
            <a:ext cx="16414232" cy="9952960"/>
            <a:chOff x="0" y="0"/>
            <a:chExt cx="4323090" cy="262135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323090" cy="2621356"/>
            </a:xfrm>
            <a:custGeom>
              <a:avLst/>
              <a:gdLst/>
              <a:ahLst/>
              <a:cxnLst/>
              <a:rect r="r" b="b" t="t" l="l"/>
              <a:pathLst>
                <a:path h="2621356" w="4323090">
                  <a:moveTo>
                    <a:pt x="23583" y="0"/>
                  </a:moveTo>
                  <a:lnTo>
                    <a:pt x="4299507" y="0"/>
                  </a:lnTo>
                  <a:cubicBezTo>
                    <a:pt x="4312532" y="0"/>
                    <a:pt x="4323090" y="10558"/>
                    <a:pt x="4323090" y="23583"/>
                  </a:cubicBezTo>
                  <a:lnTo>
                    <a:pt x="4323090" y="2597773"/>
                  </a:lnTo>
                  <a:cubicBezTo>
                    <a:pt x="4323090" y="2610797"/>
                    <a:pt x="4312532" y="2621356"/>
                    <a:pt x="4299507" y="2621356"/>
                  </a:cubicBezTo>
                  <a:lnTo>
                    <a:pt x="23583" y="2621356"/>
                  </a:lnTo>
                  <a:cubicBezTo>
                    <a:pt x="10558" y="2621356"/>
                    <a:pt x="0" y="2610797"/>
                    <a:pt x="0" y="2597773"/>
                  </a:cubicBezTo>
                  <a:lnTo>
                    <a:pt x="0" y="23583"/>
                  </a:lnTo>
                  <a:cubicBezTo>
                    <a:pt x="0" y="10558"/>
                    <a:pt x="10558" y="0"/>
                    <a:pt x="2358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323090" cy="26594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680211" y="4944284"/>
            <a:ext cx="550013" cy="456288"/>
          </a:xfrm>
          <a:custGeom>
            <a:avLst/>
            <a:gdLst/>
            <a:ahLst/>
            <a:cxnLst/>
            <a:rect r="r" b="b" t="t" l="l"/>
            <a:pathLst>
              <a:path h="456288" w="550013">
                <a:moveTo>
                  <a:pt x="0" y="0"/>
                </a:moveTo>
                <a:lnTo>
                  <a:pt x="550013" y="0"/>
                </a:lnTo>
                <a:lnTo>
                  <a:pt x="550013" y="456288"/>
                </a:lnTo>
                <a:lnTo>
                  <a:pt x="0" y="4562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-20013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653114" y="840785"/>
            <a:ext cx="15775848" cy="20406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40"/>
              </a:lnSpc>
            </a:pPr>
            <a:r>
              <a:rPr lang="en-US" b="true" sz="6590" spc="-408">
                <a:solidFill>
                  <a:srgbClr val="42414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</a:t>
            </a:r>
            <a:r>
              <a:rPr lang="en-US" b="true" sz="6590" spc="-408">
                <a:solidFill>
                  <a:srgbClr val="42414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HẢO SÁT ĐA THAM SỐ </a:t>
            </a:r>
          </a:p>
          <a:p>
            <a:pPr algn="l" marL="0" indent="0" lvl="0">
              <a:lnSpc>
                <a:spcPts val="8040"/>
              </a:lnSpc>
            </a:pPr>
            <a:r>
              <a:rPr lang="en-US" b="true" sz="6590" spc="-408">
                <a:solidFill>
                  <a:srgbClr val="42414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CLAHE (CLIPLIMIT &amp; TILEGRIDSIZE)</a:t>
            </a:r>
          </a:p>
        </p:txBody>
      </p:sp>
      <p:sp>
        <p:nvSpPr>
          <p:cNvPr name="AutoShape 13" id="13"/>
          <p:cNvSpPr/>
          <p:nvPr/>
        </p:nvSpPr>
        <p:spPr>
          <a:xfrm>
            <a:off x="628726" y="1279706"/>
            <a:ext cx="550013" cy="0"/>
          </a:xfrm>
          <a:prstGeom prst="line">
            <a:avLst/>
          </a:prstGeom>
          <a:ln cap="flat" w="476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>
            <a:off x="628726" y="1427234"/>
            <a:ext cx="550013" cy="0"/>
          </a:xfrm>
          <a:prstGeom prst="line">
            <a:avLst/>
          </a:prstGeom>
          <a:ln cap="flat" w="476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>
            <a:off x="628726" y="1570109"/>
            <a:ext cx="550013" cy="0"/>
          </a:xfrm>
          <a:prstGeom prst="line">
            <a:avLst/>
          </a:prstGeom>
          <a:ln cap="flat" w="476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6" id="16"/>
          <p:cNvSpPr/>
          <p:nvPr/>
        </p:nvSpPr>
        <p:spPr>
          <a:xfrm flipH="false" flipV="false" rot="0">
            <a:off x="628726" y="8621062"/>
            <a:ext cx="652982" cy="652982"/>
          </a:xfrm>
          <a:custGeom>
            <a:avLst/>
            <a:gdLst/>
            <a:ahLst/>
            <a:cxnLst/>
            <a:rect r="r" b="b" t="t" l="l"/>
            <a:pathLst>
              <a:path h="652982" w="652982">
                <a:moveTo>
                  <a:pt x="0" y="0"/>
                </a:moveTo>
                <a:lnTo>
                  <a:pt x="652983" y="0"/>
                </a:lnTo>
                <a:lnTo>
                  <a:pt x="652983" y="652982"/>
                </a:lnTo>
                <a:lnTo>
                  <a:pt x="0" y="6529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16666716" y="8605127"/>
            <a:ext cx="419749" cy="419749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424141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39013" lIns="39013" bIns="39013" rIns="39013"/>
            <a:lstStyle/>
            <a:p>
              <a:pPr algn="ctr" marL="0" indent="0" lvl="0">
                <a:lnSpc>
                  <a:spcPts val="1297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6246925" y="8605127"/>
            <a:ext cx="419749" cy="419749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424141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39013" lIns="39013" bIns="39013" rIns="39013"/>
            <a:lstStyle/>
            <a:p>
              <a:pPr algn="ctr" marL="0" indent="0" lvl="0">
                <a:lnSpc>
                  <a:spcPts val="1297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5827134" y="8605127"/>
            <a:ext cx="419749" cy="419749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B574C"/>
            </a:solidFill>
            <a:ln w="19050" cap="sq">
              <a:solidFill>
                <a:srgbClr val="424141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39013" lIns="39013" bIns="39013" rIns="39013"/>
            <a:lstStyle/>
            <a:p>
              <a:pPr algn="ctr" marL="0" indent="0" lvl="0">
                <a:lnSpc>
                  <a:spcPts val="1297"/>
                </a:lnSpc>
              </a:pP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0">
            <a:off x="628726" y="7339018"/>
            <a:ext cx="652982" cy="625231"/>
          </a:xfrm>
          <a:custGeom>
            <a:avLst/>
            <a:gdLst/>
            <a:ahLst/>
            <a:cxnLst/>
            <a:rect r="r" b="b" t="t" l="l"/>
            <a:pathLst>
              <a:path h="625231" w="652982">
                <a:moveTo>
                  <a:pt x="0" y="0"/>
                </a:moveTo>
                <a:lnTo>
                  <a:pt x="652983" y="0"/>
                </a:lnTo>
                <a:lnTo>
                  <a:pt x="652983" y="625231"/>
                </a:lnTo>
                <a:lnTo>
                  <a:pt x="0" y="62523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695867" y="3769890"/>
            <a:ext cx="545744" cy="545744"/>
          </a:xfrm>
          <a:custGeom>
            <a:avLst/>
            <a:gdLst/>
            <a:ahLst/>
            <a:cxnLst/>
            <a:rect r="r" b="b" t="t" l="l"/>
            <a:pathLst>
              <a:path h="545744" w="545744">
                <a:moveTo>
                  <a:pt x="0" y="0"/>
                </a:moveTo>
                <a:lnTo>
                  <a:pt x="545743" y="0"/>
                </a:lnTo>
                <a:lnTo>
                  <a:pt x="545743" y="545744"/>
                </a:lnTo>
                <a:lnTo>
                  <a:pt x="0" y="54574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628726" y="2424196"/>
            <a:ext cx="680025" cy="680025"/>
          </a:xfrm>
          <a:custGeom>
            <a:avLst/>
            <a:gdLst/>
            <a:ahLst/>
            <a:cxnLst/>
            <a:rect r="r" b="b" t="t" l="l"/>
            <a:pathLst>
              <a:path h="680025" w="680025">
                <a:moveTo>
                  <a:pt x="0" y="0"/>
                </a:moveTo>
                <a:lnTo>
                  <a:pt x="680025" y="0"/>
                </a:lnTo>
                <a:lnTo>
                  <a:pt x="680025" y="680024"/>
                </a:lnTo>
                <a:lnTo>
                  <a:pt x="0" y="68002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2403104" y="859835"/>
            <a:ext cx="1128979" cy="1062651"/>
          </a:xfrm>
          <a:custGeom>
            <a:avLst/>
            <a:gdLst/>
            <a:ahLst/>
            <a:cxnLst/>
            <a:rect r="r" b="b" t="t" l="l"/>
            <a:pathLst>
              <a:path h="1062651" w="1128979">
                <a:moveTo>
                  <a:pt x="0" y="0"/>
                </a:moveTo>
                <a:lnTo>
                  <a:pt x="1128979" y="0"/>
                </a:lnTo>
                <a:lnTo>
                  <a:pt x="1128979" y="1062651"/>
                </a:lnTo>
                <a:lnTo>
                  <a:pt x="0" y="106265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628726" y="6029222"/>
            <a:ext cx="652982" cy="652982"/>
          </a:xfrm>
          <a:custGeom>
            <a:avLst/>
            <a:gdLst/>
            <a:ahLst/>
            <a:cxnLst/>
            <a:rect r="r" b="b" t="t" l="l"/>
            <a:pathLst>
              <a:path h="652982" w="652982">
                <a:moveTo>
                  <a:pt x="0" y="0"/>
                </a:moveTo>
                <a:lnTo>
                  <a:pt x="652983" y="0"/>
                </a:lnTo>
                <a:lnTo>
                  <a:pt x="652983" y="652983"/>
                </a:lnTo>
                <a:lnTo>
                  <a:pt x="0" y="652983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893496">
            <a:off x="4089454" y="8143875"/>
            <a:ext cx="6556339" cy="4881741"/>
          </a:xfrm>
          <a:custGeom>
            <a:avLst/>
            <a:gdLst/>
            <a:ahLst/>
            <a:cxnLst/>
            <a:rect r="r" b="b" t="t" l="l"/>
            <a:pathLst>
              <a:path h="4881741" w="6556339">
                <a:moveTo>
                  <a:pt x="0" y="0"/>
                </a:moveTo>
                <a:lnTo>
                  <a:pt x="6556339" y="0"/>
                </a:lnTo>
                <a:lnTo>
                  <a:pt x="6556339" y="4881741"/>
                </a:lnTo>
                <a:lnTo>
                  <a:pt x="0" y="4881741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alphaModFix amt="16000"/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2" id="32"/>
          <p:cNvGrpSpPr/>
          <p:nvPr/>
        </p:nvGrpSpPr>
        <p:grpSpPr>
          <a:xfrm rot="0">
            <a:off x="14394969" y="1208043"/>
            <a:ext cx="2864331" cy="662597"/>
            <a:chOff x="0" y="0"/>
            <a:chExt cx="890574" cy="206014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90574" cy="206014"/>
            </a:xfrm>
            <a:custGeom>
              <a:avLst/>
              <a:gdLst/>
              <a:ahLst/>
              <a:cxnLst/>
              <a:rect r="r" b="b" t="t" l="l"/>
              <a:pathLst>
                <a:path h="206014" w="890574">
                  <a:moveTo>
                    <a:pt x="54057" y="0"/>
                  </a:moveTo>
                  <a:lnTo>
                    <a:pt x="836516" y="0"/>
                  </a:lnTo>
                  <a:cubicBezTo>
                    <a:pt x="850853" y="0"/>
                    <a:pt x="864603" y="5695"/>
                    <a:pt x="874741" y="15833"/>
                  </a:cubicBezTo>
                  <a:cubicBezTo>
                    <a:pt x="884878" y="25971"/>
                    <a:pt x="890574" y="39721"/>
                    <a:pt x="890574" y="54057"/>
                  </a:cubicBezTo>
                  <a:lnTo>
                    <a:pt x="890574" y="151956"/>
                  </a:lnTo>
                  <a:cubicBezTo>
                    <a:pt x="890574" y="181811"/>
                    <a:pt x="866371" y="206014"/>
                    <a:pt x="836516" y="206014"/>
                  </a:cubicBezTo>
                  <a:lnTo>
                    <a:pt x="54057" y="206014"/>
                  </a:lnTo>
                  <a:cubicBezTo>
                    <a:pt x="39721" y="206014"/>
                    <a:pt x="25971" y="200318"/>
                    <a:pt x="15833" y="190181"/>
                  </a:cubicBezTo>
                  <a:cubicBezTo>
                    <a:pt x="5695" y="180043"/>
                    <a:pt x="0" y="166293"/>
                    <a:pt x="0" y="151956"/>
                  </a:cubicBezTo>
                  <a:lnTo>
                    <a:pt x="0" y="54057"/>
                  </a:lnTo>
                  <a:cubicBezTo>
                    <a:pt x="0" y="24202"/>
                    <a:pt x="24202" y="0"/>
                    <a:pt x="54057" y="0"/>
                  </a:cubicBezTo>
                  <a:close/>
                </a:path>
              </a:pathLst>
            </a:custGeom>
            <a:ln w="28575" cap="sq">
              <a:solidFill>
                <a:srgbClr val="424141"/>
              </a:solidFill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9525"/>
              <a:ext cx="890574" cy="2155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560"/>
                </a:lnSpc>
              </a:pPr>
            </a:p>
          </p:txBody>
        </p:sp>
      </p:grpSp>
      <p:sp>
        <p:nvSpPr>
          <p:cNvPr name="Freeform 35" id="35"/>
          <p:cNvSpPr/>
          <p:nvPr/>
        </p:nvSpPr>
        <p:spPr>
          <a:xfrm flipH="false" flipV="false" rot="0">
            <a:off x="2653114" y="2881446"/>
            <a:ext cx="12623046" cy="5130264"/>
          </a:xfrm>
          <a:custGeom>
            <a:avLst/>
            <a:gdLst/>
            <a:ahLst/>
            <a:cxnLst/>
            <a:rect r="r" b="b" t="t" l="l"/>
            <a:pathLst>
              <a:path h="5130264" w="12623046">
                <a:moveTo>
                  <a:pt x="0" y="0"/>
                </a:moveTo>
                <a:lnTo>
                  <a:pt x="12623047" y="0"/>
                </a:lnTo>
                <a:lnTo>
                  <a:pt x="12623047" y="5130264"/>
                </a:lnTo>
                <a:lnTo>
                  <a:pt x="0" y="5130264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-13852" r="0" b="-68532"/>
            </a:stretch>
          </a:blipFill>
        </p:spPr>
      </p:sp>
      <p:sp>
        <p:nvSpPr>
          <p:cNvPr name="TextBox 36" id="36"/>
          <p:cNvSpPr txBox="true"/>
          <p:nvPr/>
        </p:nvSpPr>
        <p:spPr>
          <a:xfrm rot="0">
            <a:off x="14394969" y="1409623"/>
            <a:ext cx="2864331" cy="280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87"/>
              </a:lnSpc>
            </a:pPr>
            <a:r>
              <a:rPr lang="en-US" sz="1705" spc="-37">
                <a:solidFill>
                  <a:srgbClr val="424141"/>
                </a:solidFill>
                <a:latin typeface="Montserrat"/>
                <a:ea typeface="Montserrat"/>
                <a:cs typeface="Montserrat"/>
                <a:sym typeface="Montserrat"/>
              </a:rPr>
              <a:t>XỬ LÝ ẢNH SỐ</a:t>
            </a:r>
          </a:p>
        </p:txBody>
      </p:sp>
      <p:sp>
        <p:nvSpPr>
          <p:cNvPr name="Freeform 37" id="37"/>
          <p:cNvSpPr/>
          <p:nvPr/>
        </p:nvSpPr>
        <p:spPr>
          <a:xfrm flipH="false" flipV="false" rot="0">
            <a:off x="2653114" y="7774153"/>
            <a:ext cx="6646835" cy="2119798"/>
          </a:xfrm>
          <a:custGeom>
            <a:avLst/>
            <a:gdLst/>
            <a:ahLst/>
            <a:cxnLst/>
            <a:rect r="r" b="b" t="t" l="l"/>
            <a:pathLst>
              <a:path h="2119798" w="6646835">
                <a:moveTo>
                  <a:pt x="0" y="0"/>
                </a:moveTo>
                <a:lnTo>
                  <a:pt x="6646835" y="0"/>
                </a:lnTo>
                <a:lnTo>
                  <a:pt x="6646835" y="2119798"/>
                </a:lnTo>
                <a:lnTo>
                  <a:pt x="0" y="2119798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-306395" r="-89910" b="-35006"/>
            </a:stretch>
          </a:blipFill>
        </p:spPr>
      </p:sp>
    </p:spTree>
  </p:cSld>
  <p:clrMapOvr>
    <a:masterClrMapping/>
  </p:clrMapOvr>
  <p:transition spd="slow">
    <p:fade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2388C">
                <a:alpha val="100000"/>
              </a:srgbClr>
            </a:gs>
            <a:gs pos="100000">
              <a:srgbClr val="3893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09814" y="167020"/>
            <a:ext cx="2323166" cy="9952960"/>
            <a:chOff x="0" y="0"/>
            <a:chExt cx="611863" cy="262135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11863" cy="2621356"/>
            </a:xfrm>
            <a:custGeom>
              <a:avLst/>
              <a:gdLst/>
              <a:ahLst/>
              <a:cxnLst/>
              <a:rect r="r" b="b" t="t" l="l"/>
              <a:pathLst>
                <a:path h="2621356" w="611863">
                  <a:moveTo>
                    <a:pt x="166624" y="0"/>
                  </a:moveTo>
                  <a:lnTo>
                    <a:pt x="445238" y="0"/>
                  </a:lnTo>
                  <a:cubicBezTo>
                    <a:pt x="537262" y="0"/>
                    <a:pt x="611863" y="74600"/>
                    <a:pt x="611863" y="166624"/>
                  </a:cubicBezTo>
                  <a:lnTo>
                    <a:pt x="611863" y="2454731"/>
                  </a:lnTo>
                  <a:cubicBezTo>
                    <a:pt x="611863" y="2546755"/>
                    <a:pt x="537262" y="2621356"/>
                    <a:pt x="445238" y="2621356"/>
                  </a:cubicBezTo>
                  <a:lnTo>
                    <a:pt x="166624" y="2621356"/>
                  </a:lnTo>
                  <a:cubicBezTo>
                    <a:pt x="74600" y="2621356"/>
                    <a:pt x="0" y="2546755"/>
                    <a:pt x="0" y="2454731"/>
                  </a:cubicBezTo>
                  <a:lnTo>
                    <a:pt x="0" y="166624"/>
                  </a:lnTo>
                  <a:cubicBezTo>
                    <a:pt x="0" y="74600"/>
                    <a:pt x="74600" y="0"/>
                    <a:pt x="166624" y="0"/>
                  </a:cubicBezTo>
                  <a:close/>
                </a:path>
              </a:pathLst>
            </a:custGeom>
            <a:solidFill>
              <a:srgbClr val="2063C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611863" cy="26594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60665" y="7171131"/>
            <a:ext cx="1539118" cy="961005"/>
            <a:chOff x="0" y="0"/>
            <a:chExt cx="405364" cy="25310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5364" cy="253104"/>
            </a:xfrm>
            <a:custGeom>
              <a:avLst/>
              <a:gdLst/>
              <a:ahLst/>
              <a:cxnLst/>
              <a:rect r="r" b="b" t="t" l="l"/>
              <a:pathLst>
                <a:path h="253104" w="405364">
                  <a:moveTo>
                    <a:pt x="126552" y="0"/>
                  </a:moveTo>
                  <a:lnTo>
                    <a:pt x="278812" y="0"/>
                  </a:lnTo>
                  <a:cubicBezTo>
                    <a:pt x="312376" y="0"/>
                    <a:pt x="344565" y="13333"/>
                    <a:pt x="368298" y="37066"/>
                  </a:cubicBezTo>
                  <a:cubicBezTo>
                    <a:pt x="392031" y="60799"/>
                    <a:pt x="405364" y="92988"/>
                    <a:pt x="405364" y="126552"/>
                  </a:cubicBezTo>
                  <a:lnTo>
                    <a:pt x="405364" y="126552"/>
                  </a:lnTo>
                  <a:cubicBezTo>
                    <a:pt x="405364" y="196445"/>
                    <a:pt x="348705" y="253104"/>
                    <a:pt x="278812" y="253104"/>
                  </a:cubicBezTo>
                  <a:lnTo>
                    <a:pt x="126552" y="253104"/>
                  </a:lnTo>
                  <a:cubicBezTo>
                    <a:pt x="56659" y="253104"/>
                    <a:pt x="0" y="196445"/>
                    <a:pt x="0" y="126552"/>
                  </a:cubicBezTo>
                  <a:lnTo>
                    <a:pt x="0" y="126552"/>
                  </a:lnTo>
                  <a:cubicBezTo>
                    <a:pt x="0" y="56659"/>
                    <a:pt x="56659" y="0"/>
                    <a:pt x="12655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05364" cy="2912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597652" y="167020"/>
            <a:ext cx="16414232" cy="9952960"/>
            <a:chOff x="0" y="0"/>
            <a:chExt cx="4323090" cy="262135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323090" cy="2621356"/>
            </a:xfrm>
            <a:custGeom>
              <a:avLst/>
              <a:gdLst/>
              <a:ahLst/>
              <a:cxnLst/>
              <a:rect r="r" b="b" t="t" l="l"/>
              <a:pathLst>
                <a:path h="2621356" w="4323090">
                  <a:moveTo>
                    <a:pt x="23583" y="0"/>
                  </a:moveTo>
                  <a:lnTo>
                    <a:pt x="4299507" y="0"/>
                  </a:lnTo>
                  <a:cubicBezTo>
                    <a:pt x="4312532" y="0"/>
                    <a:pt x="4323090" y="10558"/>
                    <a:pt x="4323090" y="23583"/>
                  </a:cubicBezTo>
                  <a:lnTo>
                    <a:pt x="4323090" y="2597773"/>
                  </a:lnTo>
                  <a:cubicBezTo>
                    <a:pt x="4323090" y="2610797"/>
                    <a:pt x="4312532" y="2621356"/>
                    <a:pt x="4299507" y="2621356"/>
                  </a:cubicBezTo>
                  <a:lnTo>
                    <a:pt x="23583" y="2621356"/>
                  </a:lnTo>
                  <a:cubicBezTo>
                    <a:pt x="10558" y="2621356"/>
                    <a:pt x="0" y="2610797"/>
                    <a:pt x="0" y="2597773"/>
                  </a:cubicBezTo>
                  <a:lnTo>
                    <a:pt x="0" y="23583"/>
                  </a:lnTo>
                  <a:cubicBezTo>
                    <a:pt x="0" y="10558"/>
                    <a:pt x="10558" y="0"/>
                    <a:pt x="2358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323090" cy="26594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680211" y="4944284"/>
            <a:ext cx="550013" cy="456288"/>
          </a:xfrm>
          <a:custGeom>
            <a:avLst/>
            <a:gdLst/>
            <a:ahLst/>
            <a:cxnLst/>
            <a:rect r="r" b="b" t="t" l="l"/>
            <a:pathLst>
              <a:path h="456288" w="550013">
                <a:moveTo>
                  <a:pt x="0" y="0"/>
                </a:moveTo>
                <a:lnTo>
                  <a:pt x="550013" y="0"/>
                </a:lnTo>
                <a:lnTo>
                  <a:pt x="550013" y="456288"/>
                </a:lnTo>
                <a:lnTo>
                  <a:pt x="0" y="4562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-20013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false" rot="0">
            <a:off x="9869262" y="1063635"/>
            <a:ext cx="941613" cy="818027"/>
          </a:xfrm>
          <a:custGeom>
            <a:avLst/>
            <a:gdLst/>
            <a:ahLst/>
            <a:cxnLst/>
            <a:rect r="r" b="b" t="t" l="l"/>
            <a:pathLst>
              <a:path h="818027" w="941613">
                <a:moveTo>
                  <a:pt x="941613" y="0"/>
                </a:moveTo>
                <a:lnTo>
                  <a:pt x="0" y="0"/>
                </a:lnTo>
                <a:lnTo>
                  <a:pt x="0" y="818027"/>
                </a:lnTo>
                <a:lnTo>
                  <a:pt x="941613" y="818027"/>
                </a:lnTo>
                <a:lnTo>
                  <a:pt x="941613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3" id="13"/>
          <p:cNvSpPr/>
          <p:nvPr/>
        </p:nvSpPr>
        <p:spPr>
          <a:xfrm>
            <a:off x="628726" y="1279706"/>
            <a:ext cx="550013" cy="0"/>
          </a:xfrm>
          <a:prstGeom prst="line">
            <a:avLst/>
          </a:prstGeom>
          <a:ln cap="flat" w="476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>
            <a:off x="628726" y="1427234"/>
            <a:ext cx="550013" cy="0"/>
          </a:xfrm>
          <a:prstGeom prst="line">
            <a:avLst/>
          </a:prstGeom>
          <a:ln cap="flat" w="476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>
            <a:off x="628726" y="1570109"/>
            <a:ext cx="550013" cy="0"/>
          </a:xfrm>
          <a:prstGeom prst="line">
            <a:avLst/>
          </a:prstGeom>
          <a:ln cap="flat" w="476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6" id="16"/>
          <p:cNvSpPr/>
          <p:nvPr/>
        </p:nvSpPr>
        <p:spPr>
          <a:xfrm flipH="false" flipV="false" rot="0">
            <a:off x="628726" y="8621062"/>
            <a:ext cx="652982" cy="652982"/>
          </a:xfrm>
          <a:custGeom>
            <a:avLst/>
            <a:gdLst/>
            <a:ahLst/>
            <a:cxnLst/>
            <a:rect r="r" b="b" t="t" l="l"/>
            <a:pathLst>
              <a:path h="652982" w="652982">
                <a:moveTo>
                  <a:pt x="0" y="0"/>
                </a:moveTo>
                <a:lnTo>
                  <a:pt x="652983" y="0"/>
                </a:lnTo>
                <a:lnTo>
                  <a:pt x="652983" y="652982"/>
                </a:lnTo>
                <a:lnTo>
                  <a:pt x="0" y="65298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16839551" y="2247599"/>
            <a:ext cx="419749" cy="419749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424141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39013" lIns="39013" bIns="39013" rIns="39013"/>
            <a:lstStyle/>
            <a:p>
              <a:pPr algn="ctr" marL="0" indent="0" lvl="0">
                <a:lnSpc>
                  <a:spcPts val="1297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6419760" y="2247599"/>
            <a:ext cx="419749" cy="419749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424141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39013" lIns="39013" bIns="39013" rIns="39013"/>
            <a:lstStyle/>
            <a:p>
              <a:pPr algn="ctr" marL="0" indent="0" lvl="0">
                <a:lnSpc>
                  <a:spcPts val="1297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5999969" y="2247599"/>
            <a:ext cx="419749" cy="419749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E59"/>
            </a:solidFill>
            <a:ln w="19050" cap="sq">
              <a:solidFill>
                <a:srgbClr val="424141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39013" lIns="39013" bIns="39013" rIns="39013"/>
            <a:lstStyle/>
            <a:p>
              <a:pPr algn="ctr" marL="0" indent="0" lvl="0">
                <a:lnSpc>
                  <a:spcPts val="1297"/>
                </a:lnSpc>
              </a:pP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0">
            <a:off x="628726" y="7339018"/>
            <a:ext cx="652982" cy="625231"/>
          </a:xfrm>
          <a:custGeom>
            <a:avLst/>
            <a:gdLst/>
            <a:ahLst/>
            <a:cxnLst/>
            <a:rect r="r" b="b" t="t" l="l"/>
            <a:pathLst>
              <a:path h="625231" w="652982">
                <a:moveTo>
                  <a:pt x="0" y="0"/>
                </a:moveTo>
                <a:lnTo>
                  <a:pt x="652983" y="0"/>
                </a:lnTo>
                <a:lnTo>
                  <a:pt x="652983" y="625231"/>
                </a:lnTo>
                <a:lnTo>
                  <a:pt x="0" y="62523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7" id="27"/>
          <p:cNvGrpSpPr/>
          <p:nvPr/>
        </p:nvGrpSpPr>
        <p:grpSpPr>
          <a:xfrm rot="0">
            <a:off x="2952598" y="3273640"/>
            <a:ext cx="6387987" cy="6167999"/>
            <a:chOff x="0" y="0"/>
            <a:chExt cx="3825496" cy="3693755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825496" cy="3693755"/>
            </a:xfrm>
            <a:custGeom>
              <a:avLst/>
              <a:gdLst/>
              <a:ahLst/>
              <a:cxnLst/>
              <a:rect r="r" b="b" t="t" l="l"/>
              <a:pathLst>
                <a:path h="3693755" w="3825496">
                  <a:moveTo>
                    <a:pt x="38782" y="0"/>
                  </a:moveTo>
                  <a:lnTo>
                    <a:pt x="3786714" y="0"/>
                  </a:lnTo>
                  <a:cubicBezTo>
                    <a:pt x="3797000" y="0"/>
                    <a:pt x="3806864" y="4086"/>
                    <a:pt x="3814137" y="11359"/>
                  </a:cubicBezTo>
                  <a:cubicBezTo>
                    <a:pt x="3821411" y="18632"/>
                    <a:pt x="3825496" y="28497"/>
                    <a:pt x="3825496" y="38782"/>
                  </a:cubicBezTo>
                  <a:lnTo>
                    <a:pt x="3825496" y="3654972"/>
                  </a:lnTo>
                  <a:cubicBezTo>
                    <a:pt x="3825496" y="3676391"/>
                    <a:pt x="3808133" y="3693755"/>
                    <a:pt x="3786714" y="3693755"/>
                  </a:cubicBezTo>
                  <a:lnTo>
                    <a:pt x="38782" y="3693755"/>
                  </a:lnTo>
                  <a:cubicBezTo>
                    <a:pt x="17363" y="3693755"/>
                    <a:pt x="0" y="3676391"/>
                    <a:pt x="0" y="3654972"/>
                  </a:cubicBezTo>
                  <a:lnTo>
                    <a:pt x="0" y="38782"/>
                  </a:lnTo>
                  <a:cubicBezTo>
                    <a:pt x="0" y="17363"/>
                    <a:pt x="17363" y="0"/>
                    <a:pt x="38782" y="0"/>
                  </a:cubicBezTo>
                  <a:close/>
                </a:path>
              </a:pathLst>
            </a:custGeom>
            <a:solidFill>
              <a:srgbClr val="EB574C"/>
            </a:solidFill>
            <a:ln w="9525" cap="rnd">
              <a:solidFill>
                <a:srgbClr val="424141"/>
              </a:solidFill>
              <a:prstDash val="solid"/>
              <a:round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3825496" cy="37318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540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0457154" y="3273640"/>
            <a:ext cx="6382355" cy="6167999"/>
            <a:chOff x="0" y="0"/>
            <a:chExt cx="3822124" cy="3693755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822124" cy="3693755"/>
            </a:xfrm>
            <a:custGeom>
              <a:avLst/>
              <a:gdLst/>
              <a:ahLst/>
              <a:cxnLst/>
              <a:rect r="r" b="b" t="t" l="l"/>
              <a:pathLst>
                <a:path h="3693755" w="3822124">
                  <a:moveTo>
                    <a:pt x="38817" y="0"/>
                  </a:moveTo>
                  <a:lnTo>
                    <a:pt x="3783307" y="0"/>
                  </a:lnTo>
                  <a:cubicBezTo>
                    <a:pt x="3793602" y="0"/>
                    <a:pt x="3803475" y="4090"/>
                    <a:pt x="3810755" y="11369"/>
                  </a:cubicBezTo>
                  <a:cubicBezTo>
                    <a:pt x="3818034" y="18649"/>
                    <a:pt x="3822124" y="28522"/>
                    <a:pt x="3822124" y="38817"/>
                  </a:cubicBezTo>
                  <a:lnTo>
                    <a:pt x="3822124" y="3654938"/>
                  </a:lnTo>
                  <a:cubicBezTo>
                    <a:pt x="3822124" y="3665233"/>
                    <a:pt x="3818034" y="3675106"/>
                    <a:pt x="3810755" y="3682386"/>
                  </a:cubicBezTo>
                  <a:cubicBezTo>
                    <a:pt x="3803475" y="3689665"/>
                    <a:pt x="3793602" y="3693755"/>
                    <a:pt x="3783307" y="3693755"/>
                  </a:cubicBezTo>
                  <a:lnTo>
                    <a:pt x="38817" y="3693755"/>
                  </a:lnTo>
                  <a:cubicBezTo>
                    <a:pt x="28522" y="3693755"/>
                    <a:pt x="18649" y="3689665"/>
                    <a:pt x="11369" y="3682386"/>
                  </a:cubicBezTo>
                  <a:cubicBezTo>
                    <a:pt x="4090" y="3675106"/>
                    <a:pt x="0" y="3665233"/>
                    <a:pt x="0" y="3654938"/>
                  </a:cubicBezTo>
                  <a:lnTo>
                    <a:pt x="0" y="38817"/>
                  </a:lnTo>
                  <a:cubicBezTo>
                    <a:pt x="0" y="28522"/>
                    <a:pt x="4090" y="18649"/>
                    <a:pt x="11369" y="11369"/>
                  </a:cubicBezTo>
                  <a:cubicBezTo>
                    <a:pt x="18649" y="4090"/>
                    <a:pt x="28522" y="0"/>
                    <a:pt x="38817" y="0"/>
                  </a:cubicBezTo>
                  <a:close/>
                </a:path>
              </a:pathLst>
            </a:custGeom>
            <a:solidFill>
              <a:srgbClr val="FFDE59"/>
            </a:solidFill>
            <a:ln w="9525" cap="rnd">
              <a:solidFill>
                <a:srgbClr val="424141"/>
              </a:solidFill>
              <a:prstDash val="solid"/>
              <a:round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3822124" cy="37318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540"/>
                </a:lnSpc>
              </a:pP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2952598" y="997432"/>
            <a:ext cx="11039803" cy="21886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9"/>
              </a:lnSpc>
            </a:pPr>
            <a:r>
              <a:rPr lang="en-US" b="true" sz="8493" spc="-526">
                <a:solidFill>
                  <a:srgbClr val="42414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SO SÁNH  VÀ </a:t>
            </a:r>
          </a:p>
          <a:p>
            <a:pPr algn="l" marL="0" indent="0" lvl="0">
              <a:lnSpc>
                <a:spcPts val="8409"/>
              </a:lnSpc>
            </a:pPr>
            <a:r>
              <a:rPr lang="en-US" b="true" sz="8493" spc="-526">
                <a:solidFill>
                  <a:srgbClr val="42414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ƯU / NHƯỢC ĐIỂM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1234328" y="3409351"/>
            <a:ext cx="4828007" cy="4231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99"/>
              </a:lnSpc>
            </a:pPr>
            <a:r>
              <a:rPr lang="en-US" b="true" sz="2399" spc="-88">
                <a:solidFill>
                  <a:srgbClr val="42414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CLAHE (LOCAL ADAPTIVE)</a:t>
            </a:r>
          </a:p>
          <a:p>
            <a:pPr algn="l" marL="0" indent="0" lvl="0">
              <a:lnSpc>
                <a:spcPts val="3000"/>
              </a:lnSpc>
              <a:spcBef>
                <a:spcPct val="0"/>
              </a:spcBef>
            </a:pPr>
            <a:r>
              <a:rPr lang="en-US" sz="2000" spc="-74">
                <a:solidFill>
                  <a:srgbClr val="424141"/>
                </a:solidFill>
                <a:latin typeface="Montserrat"/>
                <a:ea typeface="Montserrat"/>
                <a:cs typeface="Montserrat"/>
                <a:sym typeface="Montserrat"/>
              </a:rPr>
              <a:t>• Ưu đi</a:t>
            </a:r>
            <a:r>
              <a:rPr lang="en-US" sz="2000" spc="-74" strike="noStrike" u="none">
                <a:solidFill>
                  <a:srgbClr val="424141"/>
                </a:solidFill>
                <a:latin typeface="Montserrat"/>
                <a:ea typeface="Montserrat"/>
                <a:cs typeface="Montserrat"/>
                <a:sym typeface="Montserrat"/>
              </a:rPr>
              <a:t>ểm: Cải thiện chi tiết cục bộ xuất sắc, chặn nhiễu với Clip Limit, chống block artifacts.</a:t>
            </a:r>
          </a:p>
          <a:p>
            <a:pPr algn="l" marL="0" indent="0" lvl="0">
              <a:lnSpc>
                <a:spcPts val="3000"/>
              </a:lnSpc>
              <a:spcBef>
                <a:spcPct val="0"/>
              </a:spcBef>
            </a:pPr>
            <a:r>
              <a:rPr lang="en-US" sz="2000" spc="-74" strike="noStrike" u="none">
                <a:solidFill>
                  <a:srgbClr val="424141"/>
                </a:solidFill>
                <a:latin typeface="Montserrat"/>
                <a:ea typeface="Montserrat"/>
                <a:cs typeface="Montserrat"/>
                <a:sym typeface="Montserrat"/>
              </a:rPr>
              <a:t>• Hạn chế: Tốc độ chậm hơn, cần lựa chọn bộ tham số phù hợp.</a:t>
            </a:r>
          </a:p>
          <a:p>
            <a:pPr algn="l" marL="0" indent="0" lvl="0">
              <a:lnSpc>
                <a:spcPts val="3000"/>
              </a:lnSpc>
              <a:spcBef>
                <a:spcPct val="0"/>
              </a:spcBef>
            </a:pPr>
            <a:r>
              <a:rPr lang="en-US" sz="2000" spc="-74" strike="noStrike" u="none">
                <a:solidFill>
                  <a:srgbClr val="424141"/>
                </a:solidFill>
                <a:latin typeface="Montserrat"/>
                <a:ea typeface="Montserrat"/>
                <a:cs typeface="Montserrat"/>
                <a:sym typeface="Montserrat"/>
              </a:rPr>
              <a:t>• Entropy vượt trội (7.</a:t>
            </a:r>
            <a:r>
              <a:rPr lang="en-US" sz="2000" spc="-74" strike="noStrike" u="none">
                <a:solidFill>
                  <a:srgbClr val="424141"/>
                </a:solidFill>
                <a:latin typeface="Montserrat"/>
                <a:ea typeface="Montserrat"/>
                <a:cs typeface="Montserrat"/>
                <a:sym typeface="Montserrat"/>
              </a:rPr>
              <a:t>92</a:t>
            </a:r>
            <a:r>
              <a:rPr lang="en-US" sz="2000" spc="-74" strike="noStrike" u="none">
                <a:solidFill>
                  <a:srgbClr val="424141"/>
                </a:solidFill>
                <a:latin typeface="Montserrat"/>
                <a:ea typeface="Montserrat"/>
                <a:cs typeface="Montserrat"/>
                <a:sym typeface="Montserrat"/>
              </a:rPr>
              <a:t> vs 7.</a:t>
            </a:r>
            <a:r>
              <a:rPr lang="en-US" sz="2000" spc="-74" strike="noStrike" u="none">
                <a:solidFill>
                  <a:srgbClr val="424141"/>
                </a:solidFill>
                <a:latin typeface="Montserrat"/>
                <a:ea typeface="Montserrat"/>
                <a:cs typeface="Montserrat"/>
                <a:sym typeface="Montserrat"/>
              </a:rPr>
              <a:t>75</a:t>
            </a:r>
            <a:r>
              <a:rPr lang="en-US" sz="2000" spc="-74" strike="noStrike" u="none">
                <a:solidFill>
                  <a:srgbClr val="424141"/>
                </a:solidFill>
                <a:latin typeface="Montserrat"/>
                <a:ea typeface="Montserrat"/>
                <a:cs typeface="Montserrat"/>
                <a:sym typeface="Montserrat"/>
              </a:rPr>
              <a:t>) -&gt; Làm nổi bật và phong phú thông tin chi tiết nh</a:t>
            </a:r>
            <a:r>
              <a:rPr lang="en-US" sz="2000" spc="-74" strike="noStrike" u="none">
                <a:solidFill>
                  <a:srgbClr val="424141"/>
                </a:solidFill>
                <a:latin typeface="Montserrat"/>
                <a:ea typeface="Montserrat"/>
                <a:cs typeface="Montserrat"/>
                <a:sym typeface="Montserrat"/>
              </a:rPr>
              <a:t>ất</a:t>
            </a:r>
            <a:r>
              <a:rPr lang="en-US" sz="2000" spc="-74" strike="noStrike" u="none">
                <a:solidFill>
                  <a:srgbClr val="424141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algn="l" marL="0" indent="0" lvl="0">
              <a:lnSpc>
                <a:spcPts val="3000"/>
              </a:lnSpc>
              <a:spcBef>
                <a:spcPct val="0"/>
              </a:spcBef>
            </a:pPr>
          </a:p>
          <a:p>
            <a:pPr algn="just" marL="0" indent="0" lvl="0">
              <a:lnSpc>
                <a:spcPts val="3000"/>
              </a:lnSpc>
              <a:spcBef>
                <a:spcPct val="0"/>
              </a:spcBef>
            </a:pPr>
          </a:p>
        </p:txBody>
      </p:sp>
      <p:sp>
        <p:nvSpPr>
          <p:cNvPr name="Freeform 35" id="35"/>
          <p:cNvSpPr/>
          <p:nvPr/>
        </p:nvSpPr>
        <p:spPr>
          <a:xfrm flipH="false" flipV="false" rot="0">
            <a:off x="695867" y="3769890"/>
            <a:ext cx="545744" cy="545744"/>
          </a:xfrm>
          <a:custGeom>
            <a:avLst/>
            <a:gdLst/>
            <a:ahLst/>
            <a:cxnLst/>
            <a:rect r="r" b="b" t="t" l="l"/>
            <a:pathLst>
              <a:path h="545744" w="545744">
                <a:moveTo>
                  <a:pt x="0" y="0"/>
                </a:moveTo>
                <a:lnTo>
                  <a:pt x="545743" y="0"/>
                </a:lnTo>
                <a:lnTo>
                  <a:pt x="545743" y="545744"/>
                </a:lnTo>
                <a:lnTo>
                  <a:pt x="0" y="54574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628726" y="2424196"/>
            <a:ext cx="680025" cy="680025"/>
          </a:xfrm>
          <a:custGeom>
            <a:avLst/>
            <a:gdLst/>
            <a:ahLst/>
            <a:cxnLst/>
            <a:rect r="r" b="b" t="t" l="l"/>
            <a:pathLst>
              <a:path h="680025" w="680025">
                <a:moveTo>
                  <a:pt x="0" y="0"/>
                </a:moveTo>
                <a:lnTo>
                  <a:pt x="680025" y="0"/>
                </a:lnTo>
                <a:lnTo>
                  <a:pt x="680025" y="680024"/>
                </a:lnTo>
                <a:lnTo>
                  <a:pt x="0" y="68002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628726" y="6029222"/>
            <a:ext cx="652982" cy="652982"/>
          </a:xfrm>
          <a:custGeom>
            <a:avLst/>
            <a:gdLst/>
            <a:ahLst/>
            <a:cxnLst/>
            <a:rect r="r" b="b" t="t" l="l"/>
            <a:pathLst>
              <a:path h="652982" w="652982">
                <a:moveTo>
                  <a:pt x="0" y="0"/>
                </a:moveTo>
                <a:lnTo>
                  <a:pt x="652983" y="0"/>
                </a:lnTo>
                <a:lnTo>
                  <a:pt x="652983" y="652983"/>
                </a:lnTo>
                <a:lnTo>
                  <a:pt x="0" y="652983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8" id="38"/>
          <p:cNvGrpSpPr/>
          <p:nvPr/>
        </p:nvGrpSpPr>
        <p:grpSpPr>
          <a:xfrm rot="0">
            <a:off x="14394969" y="1208043"/>
            <a:ext cx="2864331" cy="662597"/>
            <a:chOff x="0" y="0"/>
            <a:chExt cx="890574" cy="206014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90574" cy="206014"/>
            </a:xfrm>
            <a:custGeom>
              <a:avLst/>
              <a:gdLst/>
              <a:ahLst/>
              <a:cxnLst/>
              <a:rect r="r" b="b" t="t" l="l"/>
              <a:pathLst>
                <a:path h="206014" w="890574">
                  <a:moveTo>
                    <a:pt x="54057" y="0"/>
                  </a:moveTo>
                  <a:lnTo>
                    <a:pt x="836516" y="0"/>
                  </a:lnTo>
                  <a:cubicBezTo>
                    <a:pt x="850853" y="0"/>
                    <a:pt x="864603" y="5695"/>
                    <a:pt x="874741" y="15833"/>
                  </a:cubicBezTo>
                  <a:cubicBezTo>
                    <a:pt x="884878" y="25971"/>
                    <a:pt x="890574" y="39721"/>
                    <a:pt x="890574" y="54057"/>
                  </a:cubicBezTo>
                  <a:lnTo>
                    <a:pt x="890574" y="151956"/>
                  </a:lnTo>
                  <a:cubicBezTo>
                    <a:pt x="890574" y="181811"/>
                    <a:pt x="866371" y="206014"/>
                    <a:pt x="836516" y="206014"/>
                  </a:cubicBezTo>
                  <a:lnTo>
                    <a:pt x="54057" y="206014"/>
                  </a:lnTo>
                  <a:cubicBezTo>
                    <a:pt x="39721" y="206014"/>
                    <a:pt x="25971" y="200318"/>
                    <a:pt x="15833" y="190181"/>
                  </a:cubicBezTo>
                  <a:cubicBezTo>
                    <a:pt x="5695" y="180043"/>
                    <a:pt x="0" y="166293"/>
                    <a:pt x="0" y="151956"/>
                  </a:cubicBezTo>
                  <a:lnTo>
                    <a:pt x="0" y="54057"/>
                  </a:lnTo>
                  <a:cubicBezTo>
                    <a:pt x="0" y="24202"/>
                    <a:pt x="24202" y="0"/>
                    <a:pt x="54057" y="0"/>
                  </a:cubicBezTo>
                  <a:close/>
                </a:path>
              </a:pathLst>
            </a:custGeom>
            <a:ln w="28575" cap="sq">
              <a:solidFill>
                <a:srgbClr val="424141"/>
              </a:solidFill>
              <a:prstDash val="solid"/>
              <a:miter/>
            </a:ln>
          </p:spPr>
        </p:sp>
        <p:sp>
          <p:nvSpPr>
            <p:cNvPr name="TextBox 40" id="40"/>
            <p:cNvSpPr txBox="true"/>
            <p:nvPr/>
          </p:nvSpPr>
          <p:spPr>
            <a:xfrm>
              <a:off x="0" y="-9525"/>
              <a:ext cx="890574" cy="2155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560"/>
                </a:lnSpc>
              </a:pPr>
            </a:p>
          </p:txBody>
        </p:sp>
      </p:grpSp>
      <p:sp>
        <p:nvSpPr>
          <p:cNvPr name="TextBox 41" id="41"/>
          <p:cNvSpPr txBox="true"/>
          <p:nvPr/>
        </p:nvSpPr>
        <p:spPr>
          <a:xfrm rot="0">
            <a:off x="14394969" y="1409623"/>
            <a:ext cx="2864331" cy="280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87"/>
              </a:lnSpc>
            </a:pPr>
            <a:r>
              <a:rPr lang="en-US" sz="1705" spc="-37">
                <a:solidFill>
                  <a:srgbClr val="424141"/>
                </a:solidFill>
                <a:latin typeface="Montserrat"/>
                <a:ea typeface="Montserrat"/>
                <a:cs typeface="Montserrat"/>
                <a:sym typeface="Montserrat"/>
              </a:rPr>
              <a:t>XỬ LÝ ẢNH SỐ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3732588" y="3353953"/>
            <a:ext cx="4828007" cy="4297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99"/>
              </a:lnSpc>
            </a:pPr>
            <a:r>
              <a:rPr lang="en-US" b="true" sz="2399" spc="-88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GLOBAL HISTOGRAM EQUALIZATION</a:t>
            </a:r>
          </a:p>
          <a:p>
            <a:pPr algn="just" marL="0" indent="0" lvl="0">
              <a:lnSpc>
                <a:spcPts val="3000"/>
              </a:lnSpc>
              <a:spcBef>
                <a:spcPct val="0"/>
              </a:spcBef>
            </a:pPr>
            <a:r>
              <a:rPr lang="en-US" sz="2000" spc="-7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•</a:t>
            </a:r>
            <a:r>
              <a:rPr lang="en-US" sz="2000" spc="-74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Ưu điểm: Tốc độ rất nhanh, cực kỳ đơn giản, không cần chỉnh tham số.</a:t>
            </a:r>
          </a:p>
          <a:p>
            <a:pPr algn="just" marL="0" indent="0" lvl="0">
              <a:lnSpc>
                <a:spcPts val="3000"/>
              </a:lnSpc>
              <a:spcBef>
                <a:spcPct val="0"/>
              </a:spcBef>
            </a:pPr>
            <a:r>
              <a:rPr lang="en-US" sz="2000" spc="-74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• Hạn chế: Thất bại trên ảnh độ sáng không đều, dễ cháy sáng vùng sáng &amp; khuếch đại nhiễu.</a:t>
            </a:r>
          </a:p>
          <a:p>
            <a:pPr algn="just" marL="0" indent="0" lvl="0">
              <a:lnSpc>
                <a:spcPts val="3000"/>
              </a:lnSpc>
              <a:spcBef>
                <a:spcPct val="0"/>
              </a:spcBef>
            </a:pPr>
            <a:r>
              <a:rPr lang="en-US" sz="2000" spc="-74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• PSNR: 22.</a:t>
            </a:r>
            <a:r>
              <a:rPr lang="en-US" sz="2000" spc="-74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12</a:t>
            </a:r>
            <a:r>
              <a:rPr lang="en-US" sz="2000" spc="-74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dB | SSIM: 0.</a:t>
            </a:r>
            <a:r>
              <a:rPr lang="en-US" sz="2000" spc="-74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94</a:t>
            </a:r>
            <a:r>
              <a:rPr lang="en-US" sz="2000" spc="-74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33 | Entropy: 7.75 | Std Dev: 71.5</a:t>
            </a:r>
          </a:p>
          <a:p>
            <a:pPr algn="just" marL="0" indent="0" lvl="0">
              <a:lnSpc>
                <a:spcPts val="3000"/>
              </a:lnSpc>
              <a:spcBef>
                <a:spcPct val="0"/>
              </a:spcBef>
            </a:pPr>
          </a:p>
          <a:p>
            <a:pPr algn="just" marL="0" indent="0" lvl="0">
              <a:lnSpc>
                <a:spcPts val="3000"/>
              </a:lnSpc>
              <a:spcBef>
                <a:spcPct val="0"/>
              </a:spcBef>
            </a:pPr>
          </a:p>
        </p:txBody>
      </p:sp>
    </p:spTree>
  </p:cSld>
  <p:clrMapOvr>
    <a:masterClrMapping/>
  </p:clrMapOvr>
  <p:transition spd="slow">
    <p:fade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2388C">
                <a:alpha val="100000"/>
              </a:srgbClr>
            </a:gs>
            <a:gs pos="100000">
              <a:srgbClr val="3893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09814" y="167020"/>
            <a:ext cx="2323166" cy="9952960"/>
            <a:chOff x="0" y="0"/>
            <a:chExt cx="611863" cy="262135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11863" cy="2621356"/>
            </a:xfrm>
            <a:custGeom>
              <a:avLst/>
              <a:gdLst/>
              <a:ahLst/>
              <a:cxnLst/>
              <a:rect r="r" b="b" t="t" l="l"/>
              <a:pathLst>
                <a:path h="2621356" w="611863">
                  <a:moveTo>
                    <a:pt x="166624" y="0"/>
                  </a:moveTo>
                  <a:lnTo>
                    <a:pt x="445238" y="0"/>
                  </a:lnTo>
                  <a:cubicBezTo>
                    <a:pt x="537262" y="0"/>
                    <a:pt x="611863" y="74600"/>
                    <a:pt x="611863" y="166624"/>
                  </a:cubicBezTo>
                  <a:lnTo>
                    <a:pt x="611863" y="2454731"/>
                  </a:lnTo>
                  <a:cubicBezTo>
                    <a:pt x="611863" y="2546755"/>
                    <a:pt x="537262" y="2621356"/>
                    <a:pt x="445238" y="2621356"/>
                  </a:cubicBezTo>
                  <a:lnTo>
                    <a:pt x="166624" y="2621356"/>
                  </a:lnTo>
                  <a:cubicBezTo>
                    <a:pt x="74600" y="2621356"/>
                    <a:pt x="0" y="2546755"/>
                    <a:pt x="0" y="2454731"/>
                  </a:cubicBezTo>
                  <a:lnTo>
                    <a:pt x="0" y="166624"/>
                  </a:lnTo>
                  <a:cubicBezTo>
                    <a:pt x="0" y="74600"/>
                    <a:pt x="74600" y="0"/>
                    <a:pt x="166624" y="0"/>
                  </a:cubicBezTo>
                  <a:close/>
                </a:path>
              </a:pathLst>
            </a:custGeom>
            <a:solidFill>
              <a:srgbClr val="2063C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611863" cy="26594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597652" y="167020"/>
            <a:ext cx="16414232" cy="9952960"/>
            <a:chOff x="0" y="0"/>
            <a:chExt cx="4323090" cy="262135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323090" cy="2621356"/>
            </a:xfrm>
            <a:custGeom>
              <a:avLst/>
              <a:gdLst/>
              <a:ahLst/>
              <a:cxnLst/>
              <a:rect r="r" b="b" t="t" l="l"/>
              <a:pathLst>
                <a:path h="2621356" w="4323090">
                  <a:moveTo>
                    <a:pt x="23583" y="0"/>
                  </a:moveTo>
                  <a:lnTo>
                    <a:pt x="4299507" y="0"/>
                  </a:lnTo>
                  <a:cubicBezTo>
                    <a:pt x="4312532" y="0"/>
                    <a:pt x="4323090" y="10558"/>
                    <a:pt x="4323090" y="23583"/>
                  </a:cubicBezTo>
                  <a:lnTo>
                    <a:pt x="4323090" y="2597773"/>
                  </a:lnTo>
                  <a:cubicBezTo>
                    <a:pt x="4323090" y="2610797"/>
                    <a:pt x="4312532" y="2621356"/>
                    <a:pt x="4299507" y="2621356"/>
                  </a:cubicBezTo>
                  <a:lnTo>
                    <a:pt x="23583" y="2621356"/>
                  </a:lnTo>
                  <a:cubicBezTo>
                    <a:pt x="10558" y="2621356"/>
                    <a:pt x="0" y="2610797"/>
                    <a:pt x="0" y="2597773"/>
                  </a:cubicBezTo>
                  <a:lnTo>
                    <a:pt x="0" y="23583"/>
                  </a:lnTo>
                  <a:cubicBezTo>
                    <a:pt x="0" y="10558"/>
                    <a:pt x="10558" y="0"/>
                    <a:pt x="2358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323090" cy="26594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680211" y="4944284"/>
            <a:ext cx="550013" cy="456288"/>
          </a:xfrm>
          <a:custGeom>
            <a:avLst/>
            <a:gdLst/>
            <a:ahLst/>
            <a:cxnLst/>
            <a:rect r="r" b="b" t="t" l="l"/>
            <a:pathLst>
              <a:path h="456288" w="550013">
                <a:moveTo>
                  <a:pt x="0" y="0"/>
                </a:moveTo>
                <a:lnTo>
                  <a:pt x="550013" y="0"/>
                </a:lnTo>
                <a:lnTo>
                  <a:pt x="550013" y="456288"/>
                </a:lnTo>
                <a:lnTo>
                  <a:pt x="0" y="4562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-20013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0">
            <a:off x="11980533" y="2024551"/>
            <a:ext cx="920045" cy="799289"/>
          </a:xfrm>
          <a:custGeom>
            <a:avLst/>
            <a:gdLst/>
            <a:ahLst/>
            <a:cxnLst/>
            <a:rect r="r" b="b" t="t" l="l"/>
            <a:pathLst>
              <a:path h="799289" w="920045">
                <a:moveTo>
                  <a:pt x="920045" y="0"/>
                </a:moveTo>
                <a:lnTo>
                  <a:pt x="0" y="0"/>
                </a:lnTo>
                <a:lnTo>
                  <a:pt x="0" y="799289"/>
                </a:lnTo>
                <a:lnTo>
                  <a:pt x="920045" y="799289"/>
                </a:lnTo>
                <a:lnTo>
                  <a:pt x="920045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0" id="10"/>
          <p:cNvSpPr/>
          <p:nvPr/>
        </p:nvSpPr>
        <p:spPr>
          <a:xfrm>
            <a:off x="628726" y="1279706"/>
            <a:ext cx="550013" cy="0"/>
          </a:xfrm>
          <a:prstGeom prst="line">
            <a:avLst/>
          </a:prstGeom>
          <a:ln cap="flat" w="476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>
            <a:off x="628726" y="1427234"/>
            <a:ext cx="550013" cy="0"/>
          </a:xfrm>
          <a:prstGeom prst="line">
            <a:avLst/>
          </a:prstGeom>
          <a:ln cap="flat" w="476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>
            <a:off x="628726" y="1570109"/>
            <a:ext cx="550013" cy="0"/>
          </a:xfrm>
          <a:prstGeom prst="line">
            <a:avLst/>
          </a:prstGeom>
          <a:ln cap="flat" w="476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3" id="13"/>
          <p:cNvSpPr/>
          <p:nvPr/>
        </p:nvSpPr>
        <p:spPr>
          <a:xfrm flipH="false" flipV="false" rot="0">
            <a:off x="628726" y="6029222"/>
            <a:ext cx="652982" cy="652982"/>
          </a:xfrm>
          <a:custGeom>
            <a:avLst/>
            <a:gdLst/>
            <a:ahLst/>
            <a:cxnLst/>
            <a:rect r="r" b="b" t="t" l="l"/>
            <a:pathLst>
              <a:path h="652982" w="652982">
                <a:moveTo>
                  <a:pt x="0" y="0"/>
                </a:moveTo>
                <a:lnTo>
                  <a:pt x="652983" y="0"/>
                </a:lnTo>
                <a:lnTo>
                  <a:pt x="652983" y="652983"/>
                </a:lnTo>
                <a:lnTo>
                  <a:pt x="0" y="65298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628726" y="8621062"/>
            <a:ext cx="652982" cy="652982"/>
          </a:xfrm>
          <a:custGeom>
            <a:avLst/>
            <a:gdLst/>
            <a:ahLst/>
            <a:cxnLst/>
            <a:rect r="r" b="b" t="t" l="l"/>
            <a:pathLst>
              <a:path h="652982" w="652982">
                <a:moveTo>
                  <a:pt x="0" y="0"/>
                </a:moveTo>
                <a:lnTo>
                  <a:pt x="652983" y="0"/>
                </a:lnTo>
                <a:lnTo>
                  <a:pt x="652983" y="652982"/>
                </a:lnTo>
                <a:lnTo>
                  <a:pt x="0" y="65298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95867" y="3769890"/>
            <a:ext cx="545744" cy="545744"/>
          </a:xfrm>
          <a:custGeom>
            <a:avLst/>
            <a:gdLst/>
            <a:ahLst/>
            <a:cxnLst/>
            <a:rect r="r" b="b" t="t" l="l"/>
            <a:pathLst>
              <a:path h="545744" w="545744">
                <a:moveTo>
                  <a:pt x="0" y="0"/>
                </a:moveTo>
                <a:lnTo>
                  <a:pt x="545743" y="0"/>
                </a:lnTo>
                <a:lnTo>
                  <a:pt x="545743" y="545744"/>
                </a:lnTo>
                <a:lnTo>
                  <a:pt x="0" y="54574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484820" y="7171131"/>
            <a:ext cx="1387838" cy="961005"/>
            <a:chOff x="0" y="0"/>
            <a:chExt cx="365521" cy="25310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65521" cy="253104"/>
            </a:xfrm>
            <a:custGeom>
              <a:avLst/>
              <a:gdLst/>
              <a:ahLst/>
              <a:cxnLst/>
              <a:rect r="r" b="b" t="t" l="l"/>
              <a:pathLst>
                <a:path h="253104" w="365521">
                  <a:moveTo>
                    <a:pt x="126552" y="0"/>
                  </a:moveTo>
                  <a:lnTo>
                    <a:pt x="238969" y="0"/>
                  </a:lnTo>
                  <a:cubicBezTo>
                    <a:pt x="308862" y="0"/>
                    <a:pt x="365521" y="56659"/>
                    <a:pt x="365521" y="126552"/>
                  </a:cubicBezTo>
                  <a:lnTo>
                    <a:pt x="365521" y="126552"/>
                  </a:lnTo>
                  <a:cubicBezTo>
                    <a:pt x="365521" y="196445"/>
                    <a:pt x="308862" y="253104"/>
                    <a:pt x="238969" y="253104"/>
                  </a:cubicBezTo>
                  <a:lnTo>
                    <a:pt x="126552" y="253104"/>
                  </a:lnTo>
                  <a:cubicBezTo>
                    <a:pt x="56659" y="253104"/>
                    <a:pt x="0" y="196445"/>
                    <a:pt x="0" y="126552"/>
                  </a:cubicBezTo>
                  <a:lnTo>
                    <a:pt x="0" y="126552"/>
                  </a:lnTo>
                  <a:cubicBezTo>
                    <a:pt x="0" y="56659"/>
                    <a:pt x="56659" y="0"/>
                    <a:pt x="12655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365521" cy="2912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628726" y="7339018"/>
            <a:ext cx="652982" cy="625231"/>
          </a:xfrm>
          <a:custGeom>
            <a:avLst/>
            <a:gdLst/>
            <a:ahLst/>
            <a:cxnLst/>
            <a:rect r="r" b="b" t="t" l="l"/>
            <a:pathLst>
              <a:path h="625231" w="652982">
                <a:moveTo>
                  <a:pt x="0" y="0"/>
                </a:moveTo>
                <a:lnTo>
                  <a:pt x="652983" y="0"/>
                </a:lnTo>
                <a:lnTo>
                  <a:pt x="652983" y="625231"/>
                </a:lnTo>
                <a:lnTo>
                  <a:pt x="0" y="62523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628726" y="2424196"/>
            <a:ext cx="680025" cy="680025"/>
          </a:xfrm>
          <a:custGeom>
            <a:avLst/>
            <a:gdLst/>
            <a:ahLst/>
            <a:cxnLst/>
            <a:rect r="r" b="b" t="t" l="l"/>
            <a:pathLst>
              <a:path h="680025" w="680025">
                <a:moveTo>
                  <a:pt x="0" y="0"/>
                </a:moveTo>
                <a:lnTo>
                  <a:pt x="680025" y="0"/>
                </a:lnTo>
                <a:lnTo>
                  <a:pt x="680025" y="680024"/>
                </a:lnTo>
                <a:lnTo>
                  <a:pt x="0" y="680024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14394969" y="1208043"/>
            <a:ext cx="2864331" cy="662597"/>
            <a:chOff x="0" y="0"/>
            <a:chExt cx="890574" cy="20601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90574" cy="206014"/>
            </a:xfrm>
            <a:custGeom>
              <a:avLst/>
              <a:gdLst/>
              <a:ahLst/>
              <a:cxnLst/>
              <a:rect r="r" b="b" t="t" l="l"/>
              <a:pathLst>
                <a:path h="206014" w="890574">
                  <a:moveTo>
                    <a:pt x="54057" y="0"/>
                  </a:moveTo>
                  <a:lnTo>
                    <a:pt x="836516" y="0"/>
                  </a:lnTo>
                  <a:cubicBezTo>
                    <a:pt x="850853" y="0"/>
                    <a:pt x="864603" y="5695"/>
                    <a:pt x="874741" y="15833"/>
                  </a:cubicBezTo>
                  <a:cubicBezTo>
                    <a:pt x="884878" y="25971"/>
                    <a:pt x="890574" y="39721"/>
                    <a:pt x="890574" y="54057"/>
                  </a:cubicBezTo>
                  <a:lnTo>
                    <a:pt x="890574" y="151956"/>
                  </a:lnTo>
                  <a:cubicBezTo>
                    <a:pt x="890574" y="181811"/>
                    <a:pt x="866371" y="206014"/>
                    <a:pt x="836516" y="206014"/>
                  </a:cubicBezTo>
                  <a:lnTo>
                    <a:pt x="54057" y="206014"/>
                  </a:lnTo>
                  <a:cubicBezTo>
                    <a:pt x="39721" y="206014"/>
                    <a:pt x="25971" y="200318"/>
                    <a:pt x="15833" y="190181"/>
                  </a:cubicBezTo>
                  <a:cubicBezTo>
                    <a:pt x="5695" y="180043"/>
                    <a:pt x="0" y="166293"/>
                    <a:pt x="0" y="151956"/>
                  </a:cubicBezTo>
                  <a:lnTo>
                    <a:pt x="0" y="54057"/>
                  </a:lnTo>
                  <a:cubicBezTo>
                    <a:pt x="0" y="24202"/>
                    <a:pt x="24202" y="0"/>
                    <a:pt x="54057" y="0"/>
                  </a:cubicBezTo>
                  <a:close/>
                </a:path>
              </a:pathLst>
            </a:custGeom>
            <a:ln w="28575" cap="sq">
              <a:solidFill>
                <a:srgbClr val="424141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9525"/>
              <a:ext cx="890574" cy="2155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560"/>
                </a:lnSpc>
              </a:pP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0">
            <a:off x="7063059" y="3769354"/>
            <a:ext cx="10254602" cy="4851708"/>
          </a:xfrm>
          <a:custGeom>
            <a:avLst/>
            <a:gdLst/>
            <a:ahLst/>
            <a:cxnLst/>
            <a:rect r="r" b="b" t="t" l="l"/>
            <a:pathLst>
              <a:path h="4851708" w="10254602">
                <a:moveTo>
                  <a:pt x="0" y="0"/>
                </a:moveTo>
                <a:lnTo>
                  <a:pt x="10254602" y="0"/>
                </a:lnTo>
                <a:lnTo>
                  <a:pt x="10254602" y="4851708"/>
                </a:lnTo>
                <a:lnTo>
                  <a:pt x="0" y="4851708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2952598" y="982031"/>
            <a:ext cx="10486238" cy="21886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09"/>
              </a:lnSpc>
            </a:pPr>
            <a:r>
              <a:rPr lang="en-US" b="true" sz="8493" spc="-526">
                <a:solidFill>
                  <a:srgbClr val="42414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KẾT LUẬN &amp; GIAO DIỆN STREAMLIT 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4394969" y="1409623"/>
            <a:ext cx="2864331" cy="280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87"/>
              </a:lnSpc>
            </a:pPr>
            <a:r>
              <a:rPr lang="en-US" sz="1705" spc="-37">
                <a:solidFill>
                  <a:srgbClr val="424141"/>
                </a:solidFill>
                <a:latin typeface="Montserrat"/>
                <a:ea typeface="Montserrat"/>
                <a:cs typeface="Montserrat"/>
                <a:sym typeface="Montserrat"/>
              </a:rPr>
              <a:t>XỬ LÝ ẢNH SỐ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656094" y="3936897"/>
            <a:ext cx="4283140" cy="4559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424141"/>
                </a:solidFill>
                <a:latin typeface="Montserrat"/>
                <a:ea typeface="Montserrat"/>
                <a:cs typeface="Montserrat"/>
                <a:sym typeface="Montserrat"/>
              </a:rPr>
              <a:t>• Ứng dụng Web Streamlit: Đã phát triển ứng dụng web hiện đại (streamlit run app.py), hỗ trợ Upload ảnh, chỉnh Slider clipLimit/tileGridSize và Download kết quả.</a:t>
            </a:r>
          </a:p>
          <a:p>
            <a:pPr algn="l">
              <a:lnSpc>
                <a:spcPts val="2799"/>
              </a:lnSpc>
              <a:spcBef>
                <a:spcPct val="0"/>
              </a:spcBef>
            </a:pPr>
          </a:p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424141"/>
                </a:solidFill>
                <a:latin typeface="Montserrat"/>
                <a:ea typeface="Montserrat"/>
                <a:cs typeface="Montserrat"/>
                <a:sym typeface="Montserrat"/>
              </a:rPr>
              <a:t>• Kết luận thuật toán: CLAHE là sự lựa chọn tối ưu vượt trội cho các bài toán xử lý ảnh thực tế có độ sáng không đồng đều (tài liệu scan, y tế X-quang, ảnh ngược sáng).</a:t>
            </a:r>
          </a:p>
        </p:txBody>
      </p:sp>
    </p:spTree>
  </p:cSld>
  <p:clrMapOvr>
    <a:masterClrMapping/>
  </p:clrMapOvr>
  <p:transition spd="slow">
    <p:fade/>
  </p:transition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2388C">
                <a:alpha val="100000"/>
              </a:srgbClr>
            </a:gs>
            <a:gs pos="100000">
              <a:srgbClr val="3893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09814" y="167020"/>
            <a:ext cx="2323166" cy="9952960"/>
            <a:chOff x="0" y="0"/>
            <a:chExt cx="611863" cy="262135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11863" cy="2621356"/>
            </a:xfrm>
            <a:custGeom>
              <a:avLst/>
              <a:gdLst/>
              <a:ahLst/>
              <a:cxnLst/>
              <a:rect r="r" b="b" t="t" l="l"/>
              <a:pathLst>
                <a:path h="2621356" w="611863">
                  <a:moveTo>
                    <a:pt x="166624" y="0"/>
                  </a:moveTo>
                  <a:lnTo>
                    <a:pt x="445238" y="0"/>
                  </a:lnTo>
                  <a:cubicBezTo>
                    <a:pt x="537262" y="0"/>
                    <a:pt x="611863" y="74600"/>
                    <a:pt x="611863" y="166624"/>
                  </a:cubicBezTo>
                  <a:lnTo>
                    <a:pt x="611863" y="2454731"/>
                  </a:lnTo>
                  <a:cubicBezTo>
                    <a:pt x="611863" y="2546755"/>
                    <a:pt x="537262" y="2621356"/>
                    <a:pt x="445238" y="2621356"/>
                  </a:cubicBezTo>
                  <a:lnTo>
                    <a:pt x="166624" y="2621356"/>
                  </a:lnTo>
                  <a:cubicBezTo>
                    <a:pt x="74600" y="2621356"/>
                    <a:pt x="0" y="2546755"/>
                    <a:pt x="0" y="2454731"/>
                  </a:cubicBezTo>
                  <a:lnTo>
                    <a:pt x="0" y="166624"/>
                  </a:lnTo>
                  <a:cubicBezTo>
                    <a:pt x="0" y="74600"/>
                    <a:pt x="74600" y="0"/>
                    <a:pt x="166624" y="0"/>
                  </a:cubicBezTo>
                  <a:close/>
                </a:path>
              </a:pathLst>
            </a:custGeom>
            <a:solidFill>
              <a:srgbClr val="2063C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611863" cy="26594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597652" y="167020"/>
            <a:ext cx="16414232" cy="9952960"/>
            <a:chOff x="0" y="0"/>
            <a:chExt cx="4323090" cy="262135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323090" cy="2621356"/>
            </a:xfrm>
            <a:custGeom>
              <a:avLst/>
              <a:gdLst/>
              <a:ahLst/>
              <a:cxnLst/>
              <a:rect r="r" b="b" t="t" l="l"/>
              <a:pathLst>
                <a:path h="2621356" w="4323090">
                  <a:moveTo>
                    <a:pt x="23583" y="0"/>
                  </a:moveTo>
                  <a:lnTo>
                    <a:pt x="4299507" y="0"/>
                  </a:lnTo>
                  <a:cubicBezTo>
                    <a:pt x="4312532" y="0"/>
                    <a:pt x="4323090" y="10558"/>
                    <a:pt x="4323090" y="23583"/>
                  </a:cubicBezTo>
                  <a:lnTo>
                    <a:pt x="4323090" y="2597773"/>
                  </a:lnTo>
                  <a:cubicBezTo>
                    <a:pt x="4323090" y="2610797"/>
                    <a:pt x="4312532" y="2621356"/>
                    <a:pt x="4299507" y="2621356"/>
                  </a:cubicBezTo>
                  <a:lnTo>
                    <a:pt x="23583" y="2621356"/>
                  </a:lnTo>
                  <a:cubicBezTo>
                    <a:pt x="10558" y="2621356"/>
                    <a:pt x="0" y="2610797"/>
                    <a:pt x="0" y="2597773"/>
                  </a:cubicBezTo>
                  <a:lnTo>
                    <a:pt x="0" y="23583"/>
                  </a:lnTo>
                  <a:cubicBezTo>
                    <a:pt x="0" y="10558"/>
                    <a:pt x="10558" y="0"/>
                    <a:pt x="2358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323090" cy="26594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887198" y="1028700"/>
            <a:ext cx="6754060" cy="7590621"/>
            <a:chOff x="0" y="0"/>
            <a:chExt cx="4044722" cy="454570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044722" cy="4545703"/>
            </a:xfrm>
            <a:custGeom>
              <a:avLst/>
              <a:gdLst/>
              <a:ahLst/>
              <a:cxnLst/>
              <a:rect r="r" b="b" t="t" l="l"/>
              <a:pathLst>
                <a:path h="4545703" w="4044722">
                  <a:moveTo>
                    <a:pt x="36680" y="0"/>
                  </a:moveTo>
                  <a:lnTo>
                    <a:pt x="4008042" y="0"/>
                  </a:lnTo>
                  <a:cubicBezTo>
                    <a:pt x="4028300" y="0"/>
                    <a:pt x="4044722" y="16422"/>
                    <a:pt x="4044722" y="36680"/>
                  </a:cubicBezTo>
                  <a:lnTo>
                    <a:pt x="4044722" y="4509022"/>
                  </a:lnTo>
                  <a:cubicBezTo>
                    <a:pt x="4044722" y="4518751"/>
                    <a:pt x="4040858" y="4528081"/>
                    <a:pt x="4033979" y="4534959"/>
                  </a:cubicBezTo>
                  <a:cubicBezTo>
                    <a:pt x="4027100" y="4541838"/>
                    <a:pt x="4017770" y="4545703"/>
                    <a:pt x="4008042" y="4545703"/>
                  </a:cubicBezTo>
                  <a:lnTo>
                    <a:pt x="36680" y="4545703"/>
                  </a:lnTo>
                  <a:cubicBezTo>
                    <a:pt x="16422" y="4545703"/>
                    <a:pt x="0" y="4529281"/>
                    <a:pt x="0" y="4509022"/>
                  </a:cubicBezTo>
                  <a:lnTo>
                    <a:pt x="0" y="36680"/>
                  </a:lnTo>
                  <a:cubicBezTo>
                    <a:pt x="0" y="26952"/>
                    <a:pt x="3865" y="17622"/>
                    <a:pt x="10743" y="10743"/>
                  </a:cubicBezTo>
                  <a:cubicBezTo>
                    <a:pt x="17622" y="3865"/>
                    <a:pt x="26952" y="0"/>
                    <a:pt x="36680" y="0"/>
                  </a:cubicBezTo>
                  <a:close/>
                </a:path>
              </a:pathLst>
            </a:custGeom>
            <a:solidFill>
              <a:srgbClr val="2063CD"/>
            </a:solidFill>
            <a:ln w="9525" cap="rnd">
              <a:solidFill>
                <a:srgbClr val="424141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044722" cy="45838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540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628726" y="2424196"/>
            <a:ext cx="680025" cy="680025"/>
          </a:xfrm>
          <a:custGeom>
            <a:avLst/>
            <a:gdLst/>
            <a:ahLst/>
            <a:cxnLst/>
            <a:rect r="r" b="b" t="t" l="l"/>
            <a:pathLst>
              <a:path h="680025" w="680025">
                <a:moveTo>
                  <a:pt x="0" y="0"/>
                </a:moveTo>
                <a:lnTo>
                  <a:pt x="680025" y="0"/>
                </a:lnTo>
                <a:lnTo>
                  <a:pt x="680025" y="680024"/>
                </a:lnTo>
                <a:lnTo>
                  <a:pt x="0" y="6800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680211" y="4944284"/>
            <a:ext cx="550013" cy="456288"/>
          </a:xfrm>
          <a:custGeom>
            <a:avLst/>
            <a:gdLst/>
            <a:ahLst/>
            <a:cxnLst/>
            <a:rect r="r" b="b" t="t" l="l"/>
            <a:pathLst>
              <a:path h="456288" w="550013">
                <a:moveTo>
                  <a:pt x="0" y="0"/>
                </a:moveTo>
                <a:lnTo>
                  <a:pt x="550013" y="0"/>
                </a:lnTo>
                <a:lnTo>
                  <a:pt x="550013" y="456288"/>
                </a:lnTo>
                <a:lnTo>
                  <a:pt x="0" y="4562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-20013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1332430" y="1446837"/>
            <a:ext cx="5863597" cy="7041920"/>
            <a:chOff x="0" y="0"/>
            <a:chExt cx="1644736" cy="197525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644735" cy="1975255"/>
            </a:xfrm>
            <a:custGeom>
              <a:avLst/>
              <a:gdLst/>
              <a:ahLst/>
              <a:cxnLst/>
              <a:rect r="r" b="b" t="t" l="l"/>
              <a:pathLst>
                <a:path h="1975255" w="1644735">
                  <a:moveTo>
                    <a:pt x="473267" y="77131"/>
                  </a:moveTo>
                  <a:lnTo>
                    <a:pt x="404467" y="249131"/>
                  </a:lnTo>
                  <a:cubicBezTo>
                    <a:pt x="385834" y="295713"/>
                    <a:pt x="340719" y="326259"/>
                    <a:pt x="290548" y="326262"/>
                  </a:cubicBezTo>
                  <a:lnTo>
                    <a:pt x="122702" y="326262"/>
                  </a:lnTo>
                  <a:cubicBezTo>
                    <a:pt x="54936" y="326262"/>
                    <a:pt x="1" y="381197"/>
                    <a:pt x="0" y="448963"/>
                  </a:cubicBezTo>
                  <a:lnTo>
                    <a:pt x="0" y="1852554"/>
                  </a:lnTo>
                  <a:cubicBezTo>
                    <a:pt x="1" y="1920320"/>
                    <a:pt x="54936" y="1975255"/>
                    <a:pt x="122702" y="1975255"/>
                  </a:cubicBezTo>
                  <a:lnTo>
                    <a:pt x="1522033" y="1975255"/>
                  </a:lnTo>
                  <a:cubicBezTo>
                    <a:pt x="1589799" y="1975255"/>
                    <a:pt x="1644734" y="1920320"/>
                    <a:pt x="1644735" y="1852554"/>
                  </a:cubicBezTo>
                  <a:lnTo>
                    <a:pt x="1644735" y="122701"/>
                  </a:lnTo>
                  <a:cubicBezTo>
                    <a:pt x="1644734" y="54935"/>
                    <a:pt x="1589799" y="1"/>
                    <a:pt x="1522034" y="0"/>
                  </a:cubicBezTo>
                  <a:lnTo>
                    <a:pt x="587191" y="0"/>
                  </a:lnTo>
                  <a:cubicBezTo>
                    <a:pt x="537018" y="0"/>
                    <a:pt x="491900" y="30547"/>
                    <a:pt x="473267" y="77131"/>
                  </a:cubicBezTo>
                  <a:close/>
                </a:path>
              </a:pathLst>
            </a:custGeom>
            <a:blipFill>
              <a:blip r:embed="rId6"/>
              <a:stretch>
                <a:fillRect l="0" t="-11851" r="0" b="-11851"/>
              </a:stretch>
            </a:blipFill>
            <a:ln w="38100" cap="sq">
              <a:solidFill>
                <a:srgbClr val="424141"/>
              </a:solidFill>
              <a:prstDash val="solid"/>
              <a:miter/>
            </a:ln>
          </p:spPr>
        </p:sp>
      </p:grpSp>
      <p:sp>
        <p:nvSpPr>
          <p:cNvPr name="AutoShape 15" id="15"/>
          <p:cNvSpPr/>
          <p:nvPr/>
        </p:nvSpPr>
        <p:spPr>
          <a:xfrm>
            <a:off x="628726" y="1279706"/>
            <a:ext cx="550013" cy="0"/>
          </a:xfrm>
          <a:prstGeom prst="line">
            <a:avLst/>
          </a:prstGeom>
          <a:ln cap="flat" w="476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>
            <a:off x="628726" y="1427234"/>
            <a:ext cx="550013" cy="0"/>
          </a:xfrm>
          <a:prstGeom prst="line">
            <a:avLst/>
          </a:prstGeom>
          <a:ln cap="flat" w="476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>
            <a:off x="628726" y="1570109"/>
            <a:ext cx="550013" cy="0"/>
          </a:xfrm>
          <a:prstGeom prst="line">
            <a:avLst/>
          </a:prstGeom>
          <a:ln cap="flat" w="476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8" id="18"/>
          <p:cNvSpPr/>
          <p:nvPr/>
        </p:nvSpPr>
        <p:spPr>
          <a:xfrm flipH="false" flipV="false" rot="0">
            <a:off x="628726" y="6029222"/>
            <a:ext cx="652982" cy="652982"/>
          </a:xfrm>
          <a:custGeom>
            <a:avLst/>
            <a:gdLst/>
            <a:ahLst/>
            <a:cxnLst/>
            <a:rect r="r" b="b" t="t" l="l"/>
            <a:pathLst>
              <a:path h="652982" w="652982">
                <a:moveTo>
                  <a:pt x="0" y="0"/>
                </a:moveTo>
                <a:lnTo>
                  <a:pt x="652983" y="0"/>
                </a:lnTo>
                <a:lnTo>
                  <a:pt x="652983" y="652983"/>
                </a:lnTo>
                <a:lnTo>
                  <a:pt x="0" y="65298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446720" y="8468781"/>
            <a:ext cx="1387838" cy="961005"/>
            <a:chOff x="0" y="0"/>
            <a:chExt cx="365521" cy="25310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65521" cy="253104"/>
            </a:xfrm>
            <a:custGeom>
              <a:avLst/>
              <a:gdLst/>
              <a:ahLst/>
              <a:cxnLst/>
              <a:rect r="r" b="b" t="t" l="l"/>
              <a:pathLst>
                <a:path h="253104" w="365521">
                  <a:moveTo>
                    <a:pt x="126552" y="0"/>
                  </a:moveTo>
                  <a:lnTo>
                    <a:pt x="238969" y="0"/>
                  </a:lnTo>
                  <a:cubicBezTo>
                    <a:pt x="308862" y="0"/>
                    <a:pt x="365521" y="56659"/>
                    <a:pt x="365521" y="126552"/>
                  </a:cubicBezTo>
                  <a:lnTo>
                    <a:pt x="365521" y="126552"/>
                  </a:lnTo>
                  <a:cubicBezTo>
                    <a:pt x="365521" y="196445"/>
                    <a:pt x="308862" y="253104"/>
                    <a:pt x="238969" y="253104"/>
                  </a:cubicBezTo>
                  <a:lnTo>
                    <a:pt x="126552" y="253104"/>
                  </a:lnTo>
                  <a:cubicBezTo>
                    <a:pt x="56659" y="253104"/>
                    <a:pt x="0" y="196445"/>
                    <a:pt x="0" y="126552"/>
                  </a:cubicBezTo>
                  <a:lnTo>
                    <a:pt x="0" y="126552"/>
                  </a:lnTo>
                  <a:cubicBezTo>
                    <a:pt x="0" y="56659"/>
                    <a:pt x="56659" y="0"/>
                    <a:pt x="12655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365521" cy="2912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628726" y="8621062"/>
            <a:ext cx="652982" cy="652982"/>
          </a:xfrm>
          <a:custGeom>
            <a:avLst/>
            <a:gdLst/>
            <a:ahLst/>
            <a:cxnLst/>
            <a:rect r="r" b="b" t="t" l="l"/>
            <a:pathLst>
              <a:path h="652982" w="652982">
                <a:moveTo>
                  <a:pt x="0" y="0"/>
                </a:moveTo>
                <a:lnTo>
                  <a:pt x="652983" y="0"/>
                </a:lnTo>
                <a:lnTo>
                  <a:pt x="652983" y="652982"/>
                </a:lnTo>
                <a:lnTo>
                  <a:pt x="0" y="65298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0423149" y="1538841"/>
            <a:ext cx="909280" cy="909280"/>
          </a:xfrm>
          <a:custGeom>
            <a:avLst/>
            <a:gdLst/>
            <a:ahLst/>
            <a:cxnLst/>
            <a:rect r="r" b="b" t="t" l="l"/>
            <a:pathLst>
              <a:path h="909280" w="909280">
                <a:moveTo>
                  <a:pt x="0" y="0"/>
                </a:moveTo>
                <a:lnTo>
                  <a:pt x="909281" y="0"/>
                </a:lnTo>
                <a:lnTo>
                  <a:pt x="909281" y="909280"/>
                </a:lnTo>
                <a:lnTo>
                  <a:pt x="0" y="90928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628726" y="7339018"/>
            <a:ext cx="652982" cy="625231"/>
          </a:xfrm>
          <a:custGeom>
            <a:avLst/>
            <a:gdLst/>
            <a:ahLst/>
            <a:cxnLst/>
            <a:rect r="r" b="b" t="t" l="l"/>
            <a:pathLst>
              <a:path h="625231" w="652982">
                <a:moveTo>
                  <a:pt x="0" y="0"/>
                </a:moveTo>
                <a:lnTo>
                  <a:pt x="652983" y="0"/>
                </a:lnTo>
                <a:lnTo>
                  <a:pt x="652983" y="625231"/>
                </a:lnTo>
                <a:lnTo>
                  <a:pt x="0" y="625231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695867" y="3769890"/>
            <a:ext cx="545744" cy="545744"/>
          </a:xfrm>
          <a:custGeom>
            <a:avLst/>
            <a:gdLst/>
            <a:ahLst/>
            <a:cxnLst/>
            <a:rect r="r" b="b" t="t" l="l"/>
            <a:pathLst>
              <a:path h="545744" w="545744">
                <a:moveTo>
                  <a:pt x="0" y="0"/>
                </a:moveTo>
                <a:lnTo>
                  <a:pt x="545743" y="0"/>
                </a:lnTo>
                <a:lnTo>
                  <a:pt x="545743" y="545744"/>
                </a:lnTo>
                <a:lnTo>
                  <a:pt x="0" y="545744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6" id="26"/>
          <p:cNvGrpSpPr/>
          <p:nvPr/>
        </p:nvGrpSpPr>
        <p:grpSpPr>
          <a:xfrm rot="0">
            <a:off x="2316165" y="5049300"/>
            <a:ext cx="7686940" cy="1038867"/>
            <a:chOff x="0" y="0"/>
            <a:chExt cx="1571476" cy="21238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571476" cy="212380"/>
            </a:xfrm>
            <a:custGeom>
              <a:avLst/>
              <a:gdLst/>
              <a:ahLst/>
              <a:cxnLst/>
              <a:rect r="r" b="b" t="t" l="l"/>
              <a:pathLst>
                <a:path h="212380" w="1571476">
                  <a:moveTo>
                    <a:pt x="63451" y="0"/>
                  </a:moveTo>
                  <a:lnTo>
                    <a:pt x="1508025" y="0"/>
                  </a:lnTo>
                  <a:cubicBezTo>
                    <a:pt x="1543068" y="0"/>
                    <a:pt x="1571476" y="28408"/>
                    <a:pt x="1571476" y="63451"/>
                  </a:cubicBezTo>
                  <a:lnTo>
                    <a:pt x="1571476" y="148930"/>
                  </a:lnTo>
                  <a:cubicBezTo>
                    <a:pt x="1571476" y="165758"/>
                    <a:pt x="1564791" y="181897"/>
                    <a:pt x="1552892" y="193796"/>
                  </a:cubicBezTo>
                  <a:cubicBezTo>
                    <a:pt x="1540992" y="205695"/>
                    <a:pt x="1524853" y="212380"/>
                    <a:pt x="1508025" y="212380"/>
                  </a:cubicBezTo>
                  <a:lnTo>
                    <a:pt x="63451" y="212380"/>
                  </a:lnTo>
                  <a:cubicBezTo>
                    <a:pt x="28408" y="212380"/>
                    <a:pt x="0" y="183973"/>
                    <a:pt x="0" y="148930"/>
                  </a:cubicBezTo>
                  <a:lnTo>
                    <a:pt x="0" y="63451"/>
                  </a:lnTo>
                  <a:cubicBezTo>
                    <a:pt x="0" y="46622"/>
                    <a:pt x="6685" y="30484"/>
                    <a:pt x="18584" y="18584"/>
                  </a:cubicBezTo>
                  <a:cubicBezTo>
                    <a:pt x="30484" y="6685"/>
                    <a:pt x="46622" y="0"/>
                    <a:pt x="63451" y="0"/>
                  </a:cubicBezTo>
                  <a:close/>
                </a:path>
              </a:pathLst>
            </a:custGeom>
            <a:solidFill>
              <a:srgbClr val="EB574C"/>
            </a:solidFill>
            <a:ln w="19050" cap="rnd">
              <a:solidFill>
                <a:srgbClr val="424141"/>
              </a:solidFill>
              <a:prstDash val="solid"/>
              <a:round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1571476" cy="2504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1533678" y="8167075"/>
            <a:ext cx="2697188" cy="782208"/>
            <a:chOff x="0" y="0"/>
            <a:chExt cx="1873410" cy="543305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873410" cy="543305"/>
            </a:xfrm>
            <a:custGeom>
              <a:avLst/>
              <a:gdLst/>
              <a:ahLst/>
              <a:cxnLst/>
              <a:rect r="r" b="b" t="t" l="l"/>
              <a:pathLst>
                <a:path h="543305" w="1873410">
                  <a:moveTo>
                    <a:pt x="37315" y="0"/>
                  </a:moveTo>
                  <a:lnTo>
                    <a:pt x="1836095" y="0"/>
                  </a:lnTo>
                  <a:cubicBezTo>
                    <a:pt x="1845992" y="0"/>
                    <a:pt x="1855483" y="3931"/>
                    <a:pt x="1862481" y="10929"/>
                  </a:cubicBezTo>
                  <a:cubicBezTo>
                    <a:pt x="1869479" y="17927"/>
                    <a:pt x="1873410" y="27418"/>
                    <a:pt x="1873410" y="37315"/>
                  </a:cubicBezTo>
                  <a:lnTo>
                    <a:pt x="1873410" y="505990"/>
                  </a:lnTo>
                  <a:cubicBezTo>
                    <a:pt x="1873410" y="515887"/>
                    <a:pt x="1869479" y="525378"/>
                    <a:pt x="1862481" y="532376"/>
                  </a:cubicBezTo>
                  <a:cubicBezTo>
                    <a:pt x="1855483" y="539374"/>
                    <a:pt x="1845992" y="543305"/>
                    <a:pt x="1836095" y="543305"/>
                  </a:cubicBezTo>
                  <a:lnTo>
                    <a:pt x="37315" y="543305"/>
                  </a:lnTo>
                  <a:cubicBezTo>
                    <a:pt x="27418" y="543305"/>
                    <a:pt x="17927" y="539374"/>
                    <a:pt x="10929" y="532376"/>
                  </a:cubicBezTo>
                  <a:cubicBezTo>
                    <a:pt x="3931" y="525378"/>
                    <a:pt x="0" y="515887"/>
                    <a:pt x="0" y="505990"/>
                  </a:cubicBezTo>
                  <a:lnTo>
                    <a:pt x="0" y="37315"/>
                  </a:lnTo>
                  <a:cubicBezTo>
                    <a:pt x="0" y="27418"/>
                    <a:pt x="3931" y="17927"/>
                    <a:pt x="10929" y="10929"/>
                  </a:cubicBezTo>
                  <a:cubicBezTo>
                    <a:pt x="17927" y="3931"/>
                    <a:pt x="27418" y="0"/>
                    <a:pt x="37315" y="0"/>
                  </a:cubicBezTo>
                  <a:close/>
                </a:path>
              </a:pathLst>
            </a:custGeom>
            <a:solidFill>
              <a:srgbClr val="EB574C"/>
            </a:solidFill>
            <a:ln w="9525" cap="sq">
              <a:solidFill>
                <a:srgbClr val="424141"/>
              </a:solidFill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28575"/>
              <a:ext cx="1873410" cy="514730"/>
            </a:xfrm>
            <a:prstGeom prst="rect">
              <a:avLst/>
            </a:prstGeom>
          </p:spPr>
          <p:txBody>
            <a:bodyPr anchor="ctr" rtlCol="false" tIns="39013" lIns="39013" bIns="39013" rIns="39013"/>
            <a:lstStyle/>
            <a:p>
              <a:pPr algn="ctr" marL="0" indent="0" lvl="0">
                <a:lnSpc>
                  <a:spcPts val="1297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4060826" y="8167075"/>
            <a:ext cx="2933952" cy="782208"/>
            <a:chOff x="0" y="0"/>
            <a:chExt cx="2037862" cy="543305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037862" cy="543305"/>
            </a:xfrm>
            <a:custGeom>
              <a:avLst/>
              <a:gdLst/>
              <a:ahLst/>
              <a:cxnLst/>
              <a:rect r="r" b="b" t="t" l="l"/>
              <a:pathLst>
                <a:path h="543305" w="2037862">
                  <a:moveTo>
                    <a:pt x="34304" y="0"/>
                  </a:moveTo>
                  <a:lnTo>
                    <a:pt x="2003558" y="0"/>
                  </a:lnTo>
                  <a:cubicBezTo>
                    <a:pt x="2022503" y="0"/>
                    <a:pt x="2037862" y="15358"/>
                    <a:pt x="2037862" y="34304"/>
                  </a:cubicBezTo>
                  <a:lnTo>
                    <a:pt x="2037862" y="509002"/>
                  </a:lnTo>
                  <a:cubicBezTo>
                    <a:pt x="2037862" y="518100"/>
                    <a:pt x="2034248" y="526825"/>
                    <a:pt x="2027814" y="533258"/>
                  </a:cubicBezTo>
                  <a:cubicBezTo>
                    <a:pt x="2021381" y="539691"/>
                    <a:pt x="2012656" y="543305"/>
                    <a:pt x="2003558" y="543305"/>
                  </a:cubicBezTo>
                  <a:lnTo>
                    <a:pt x="34304" y="543305"/>
                  </a:lnTo>
                  <a:cubicBezTo>
                    <a:pt x="15358" y="543305"/>
                    <a:pt x="0" y="527947"/>
                    <a:pt x="0" y="509002"/>
                  </a:cubicBezTo>
                  <a:lnTo>
                    <a:pt x="0" y="34304"/>
                  </a:lnTo>
                  <a:cubicBezTo>
                    <a:pt x="0" y="25206"/>
                    <a:pt x="3614" y="16480"/>
                    <a:pt x="10047" y="10047"/>
                  </a:cubicBezTo>
                  <a:cubicBezTo>
                    <a:pt x="16480" y="3614"/>
                    <a:pt x="25206" y="0"/>
                    <a:pt x="34304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424141"/>
              </a:solidFill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28575"/>
              <a:ext cx="2037862" cy="514730"/>
            </a:xfrm>
            <a:prstGeom prst="rect">
              <a:avLst/>
            </a:prstGeom>
          </p:spPr>
          <p:txBody>
            <a:bodyPr anchor="ctr" rtlCol="false" tIns="39013" lIns="39013" bIns="39013" rIns="39013"/>
            <a:lstStyle/>
            <a:p>
              <a:pPr algn="ctr" marL="0" indent="0" lvl="0">
                <a:lnSpc>
                  <a:spcPts val="1297"/>
                </a:lnSpc>
              </a:pPr>
            </a:p>
          </p:txBody>
        </p:sp>
      </p:grpSp>
      <p:sp>
        <p:nvSpPr>
          <p:cNvPr name="Freeform 35" id="35"/>
          <p:cNvSpPr/>
          <p:nvPr/>
        </p:nvSpPr>
        <p:spPr>
          <a:xfrm flipH="false" flipV="false" rot="0">
            <a:off x="4876217" y="1446837"/>
            <a:ext cx="1053508" cy="1335667"/>
          </a:xfrm>
          <a:custGeom>
            <a:avLst/>
            <a:gdLst/>
            <a:ahLst/>
            <a:cxnLst/>
            <a:rect r="r" b="b" t="t" l="l"/>
            <a:pathLst>
              <a:path h="1335667" w="1053508">
                <a:moveTo>
                  <a:pt x="0" y="0"/>
                </a:moveTo>
                <a:lnTo>
                  <a:pt x="1053507" y="0"/>
                </a:lnTo>
                <a:lnTo>
                  <a:pt x="1053507" y="1335667"/>
                </a:lnTo>
                <a:lnTo>
                  <a:pt x="0" y="1335667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TextBox 36" id="36"/>
          <p:cNvSpPr txBox="true"/>
          <p:nvPr/>
        </p:nvSpPr>
        <p:spPr>
          <a:xfrm rot="0">
            <a:off x="11533678" y="8394079"/>
            <a:ext cx="2527147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38"/>
              </a:lnSpc>
            </a:pPr>
            <a:r>
              <a:rPr lang="en-US" sz="219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SVTH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2362815" y="1324931"/>
            <a:ext cx="7739626" cy="34576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679"/>
              </a:lnSpc>
            </a:pPr>
            <a:r>
              <a:rPr lang="en-US" b="true" sz="11212" spc="-695">
                <a:solidFill>
                  <a:srgbClr val="42414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XIN</a:t>
            </a:r>
          </a:p>
          <a:p>
            <a:pPr algn="l" marL="0" indent="0" lvl="0">
              <a:lnSpc>
                <a:spcPts val="13679"/>
              </a:lnSpc>
            </a:pPr>
            <a:r>
              <a:rPr lang="en-US" b="true" sz="11212" spc="-695">
                <a:solidFill>
                  <a:srgbClr val="42414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CẢM ƠN!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2295525" y="5370344"/>
            <a:ext cx="7715250" cy="460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97"/>
              </a:lnSpc>
              <a:spcBef>
                <a:spcPct val="0"/>
              </a:spcBef>
            </a:pPr>
            <a:r>
              <a:rPr lang="en-US" sz="349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THẦY VÀ BẠN ĐÃ LẮNG NGHE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4008564" y="8275016"/>
            <a:ext cx="3038475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6"/>
              </a:lnSpc>
            </a:pPr>
            <a:r>
              <a:rPr lang="en-US" sz="1880" b="true">
                <a:solidFill>
                  <a:srgbClr val="42414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Nguyễn Đình Huy</a:t>
            </a:r>
          </a:p>
          <a:p>
            <a:pPr algn="ctr" marL="0" indent="0" lvl="0">
              <a:lnSpc>
                <a:spcPts val="2256"/>
              </a:lnSpc>
              <a:spcBef>
                <a:spcPct val="0"/>
              </a:spcBef>
            </a:pPr>
            <a:r>
              <a:rPr lang="en-US" b="true" sz="1880">
                <a:solidFill>
                  <a:srgbClr val="42414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Lê Quyết Tiến</a:t>
            </a:r>
          </a:p>
        </p:txBody>
      </p:sp>
      <p:sp>
        <p:nvSpPr>
          <p:cNvPr name="Freeform 40" id="40"/>
          <p:cNvSpPr/>
          <p:nvPr/>
        </p:nvSpPr>
        <p:spPr>
          <a:xfrm flipH="false" flipV="false" rot="0">
            <a:off x="2362815" y="7424381"/>
            <a:ext cx="541182" cy="541182"/>
          </a:xfrm>
          <a:custGeom>
            <a:avLst/>
            <a:gdLst/>
            <a:ahLst/>
            <a:cxnLst/>
            <a:rect r="r" b="b" t="t" l="l"/>
            <a:pathLst>
              <a:path h="541182" w="541182">
                <a:moveTo>
                  <a:pt x="0" y="0"/>
                </a:moveTo>
                <a:lnTo>
                  <a:pt x="541183" y="0"/>
                </a:lnTo>
                <a:lnTo>
                  <a:pt x="541183" y="541182"/>
                </a:lnTo>
                <a:lnTo>
                  <a:pt x="0" y="541182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1" id="41"/>
          <p:cNvSpPr/>
          <p:nvPr/>
        </p:nvSpPr>
        <p:spPr>
          <a:xfrm flipH="false" flipV="false" rot="0">
            <a:off x="6110581" y="7420626"/>
            <a:ext cx="541182" cy="541182"/>
          </a:xfrm>
          <a:custGeom>
            <a:avLst/>
            <a:gdLst/>
            <a:ahLst/>
            <a:cxnLst/>
            <a:rect r="r" b="b" t="t" l="l"/>
            <a:pathLst>
              <a:path h="541182" w="541182">
                <a:moveTo>
                  <a:pt x="0" y="0"/>
                </a:moveTo>
                <a:lnTo>
                  <a:pt x="541182" y="0"/>
                </a:lnTo>
                <a:lnTo>
                  <a:pt x="541182" y="541182"/>
                </a:lnTo>
                <a:lnTo>
                  <a:pt x="0" y="541182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2" id="42"/>
          <p:cNvSpPr txBox="true"/>
          <p:nvPr/>
        </p:nvSpPr>
        <p:spPr>
          <a:xfrm rot="0">
            <a:off x="3111508" y="7647582"/>
            <a:ext cx="3126022" cy="306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18"/>
              </a:lnSpc>
            </a:pPr>
            <a:r>
              <a:rPr lang="en-US" sz="1798" spc="314">
                <a:solidFill>
                  <a:srgbClr val="424141"/>
                </a:solidFill>
                <a:latin typeface="Montserrat"/>
                <a:ea typeface="Montserrat"/>
                <a:cs typeface="Montserrat"/>
                <a:sym typeface="Montserrat"/>
              </a:rPr>
              <a:t>TS. Vũ Thanh Hiền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3111508" y="7382526"/>
            <a:ext cx="1020237" cy="306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18"/>
              </a:lnSpc>
            </a:pPr>
            <a:r>
              <a:rPr lang="en-US" b="true" sz="1798" spc="-39">
                <a:solidFill>
                  <a:srgbClr val="42414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GVHD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6861437" y="7648575"/>
            <a:ext cx="350520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pc="-39">
                <a:solidFill>
                  <a:srgbClr val="424141"/>
                </a:solidFill>
                <a:latin typeface="Montserrat"/>
                <a:ea typeface="Montserrat"/>
                <a:cs typeface="Montserrat"/>
                <a:sym typeface="Montserrat"/>
              </a:rPr>
              <a:t>253_71ITAI40803_01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6861313" y="7386281"/>
            <a:ext cx="3498598" cy="306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18"/>
              </a:lnSpc>
            </a:pPr>
            <a:r>
              <a:rPr lang="en-US" b="true" sz="1798" spc="-39">
                <a:solidFill>
                  <a:srgbClr val="42414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LHP</a:t>
            </a:r>
          </a:p>
        </p:txBody>
      </p:sp>
      <p:sp>
        <p:nvSpPr>
          <p:cNvPr name="Freeform 46" id="46"/>
          <p:cNvSpPr/>
          <p:nvPr/>
        </p:nvSpPr>
        <p:spPr>
          <a:xfrm flipH="false" flipV="false" rot="0">
            <a:off x="2362815" y="8408101"/>
            <a:ext cx="541182" cy="541182"/>
          </a:xfrm>
          <a:custGeom>
            <a:avLst/>
            <a:gdLst/>
            <a:ahLst/>
            <a:cxnLst/>
            <a:rect r="r" b="b" t="t" l="l"/>
            <a:pathLst>
              <a:path h="541182" w="541182">
                <a:moveTo>
                  <a:pt x="0" y="0"/>
                </a:moveTo>
                <a:lnTo>
                  <a:pt x="541183" y="0"/>
                </a:lnTo>
                <a:lnTo>
                  <a:pt x="541183" y="541182"/>
                </a:lnTo>
                <a:lnTo>
                  <a:pt x="0" y="541182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7" id="47"/>
          <p:cNvSpPr txBox="true"/>
          <p:nvPr/>
        </p:nvSpPr>
        <p:spPr>
          <a:xfrm rot="0">
            <a:off x="3111508" y="8631303"/>
            <a:ext cx="5279049" cy="306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18"/>
              </a:lnSpc>
            </a:pPr>
            <a:r>
              <a:rPr lang="en-US" sz="1798" spc="314">
                <a:solidFill>
                  <a:srgbClr val="424141"/>
                </a:solidFill>
                <a:latin typeface="Montserrat"/>
                <a:ea typeface="Montserrat"/>
                <a:cs typeface="Montserrat"/>
                <a:sym typeface="Montserrat"/>
              </a:rPr>
              <a:t>KHOA CÔNG NGHỆ THÔNG TIN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3111508" y="8366246"/>
            <a:ext cx="3917769" cy="306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18"/>
              </a:lnSpc>
            </a:pPr>
            <a:r>
              <a:rPr lang="en-US" b="true" sz="1798" spc="-39">
                <a:solidFill>
                  <a:srgbClr val="42414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TRƯỜNG ĐẠI HỌC VĂN LANG</a:t>
            </a:r>
          </a:p>
        </p:txBody>
      </p:sp>
      <p:sp>
        <p:nvSpPr>
          <p:cNvPr name="Freeform 49" id="49"/>
          <p:cNvSpPr/>
          <p:nvPr/>
        </p:nvSpPr>
        <p:spPr>
          <a:xfrm flipH="false" flipV="false" rot="0">
            <a:off x="1964480" y="533345"/>
            <a:ext cx="2817070" cy="707789"/>
          </a:xfrm>
          <a:custGeom>
            <a:avLst/>
            <a:gdLst/>
            <a:ahLst/>
            <a:cxnLst/>
            <a:rect r="r" b="b" t="t" l="l"/>
            <a:pathLst>
              <a:path h="707789" w="2817070">
                <a:moveTo>
                  <a:pt x="0" y="0"/>
                </a:moveTo>
                <a:lnTo>
                  <a:pt x="2817070" y="0"/>
                </a:lnTo>
                <a:lnTo>
                  <a:pt x="2817070" y="707789"/>
                </a:lnTo>
                <a:lnTo>
                  <a:pt x="0" y="707789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DAHQGBkb-Ks</dc:identifier>
  <dcterms:modified xsi:type="dcterms:W3CDTF">2011-08-01T06:04:30Z</dcterms:modified>
  <cp:revision>1</cp:revision>
  <dc:title>Xử Lý Ảnh Số</dc:title>
</cp:coreProperties>
</file>